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078" r:id="rId5"/>
    <p:sldId id="2079" r:id="rId6"/>
    <p:sldId id="208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65A"/>
    <a:srgbClr val="FFFFFF"/>
    <a:srgbClr val="B31B1B"/>
    <a:srgbClr val="787C82"/>
    <a:srgbClr val="D3D3D3"/>
    <a:srgbClr val="222222"/>
    <a:srgbClr val="494949"/>
    <a:srgbClr val="A86ED4"/>
    <a:srgbClr val="8C39E7"/>
    <a:srgbClr val="9357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6283" autoAdjust="0"/>
  </p:normalViewPr>
  <p:slideViewPr>
    <p:cSldViewPr snapToGrid="0">
      <p:cViewPr varScale="1">
        <p:scale>
          <a:sx n="155" d="100"/>
          <a:sy n="155" d="100"/>
        </p:scale>
        <p:origin x="1866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00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21603A-1C57-C07A-5CE0-0976809439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180F1-0B65-28FF-1CBA-5C26F64C0F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CFC0A-3DD4-48AC-A98D-4C62DB4E7DC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A3763-4362-AB42-2DE4-BFE6D33890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F9D7F-9162-48FF-F70D-90A55D717B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AA924-ECC1-482D-9FCB-519018CBD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287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ACE2B-FAEE-403B-8992-75B3D56099C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DF53E-A59F-4438-8524-BC5B849E1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56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A67E99-2912-4009-A07E-1507646F14F2}"/>
              </a:ext>
            </a:extLst>
          </p:cNvPr>
          <p:cNvSpPr/>
          <p:nvPr userDrawn="1"/>
        </p:nvSpPr>
        <p:spPr>
          <a:xfrm>
            <a:off x="108642" y="342900"/>
            <a:ext cx="8917662" cy="6515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82600" dist="508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A90F76-6B49-EAA4-817D-145E8E78AF19}"/>
              </a:ext>
            </a:extLst>
          </p:cNvPr>
          <p:cNvSpPr/>
          <p:nvPr userDrawn="1"/>
        </p:nvSpPr>
        <p:spPr>
          <a:xfrm>
            <a:off x="-9054" y="-12562"/>
            <a:ext cx="9153054" cy="916013"/>
          </a:xfrm>
          <a:prstGeom prst="rect">
            <a:avLst/>
          </a:prstGeom>
          <a:solidFill>
            <a:srgbClr val="535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C6F692-DA73-9CAA-1A8F-27FA6408E268}"/>
              </a:ext>
            </a:extLst>
          </p:cNvPr>
          <p:cNvCxnSpPr>
            <a:cxnSpLocks/>
          </p:cNvCxnSpPr>
          <p:nvPr userDrawn="1"/>
        </p:nvCxnSpPr>
        <p:spPr>
          <a:xfrm>
            <a:off x="-4527" y="903451"/>
            <a:ext cx="9148527" cy="0"/>
          </a:xfrm>
          <a:prstGeom prst="line">
            <a:avLst/>
          </a:prstGeom>
          <a:ln w="63500">
            <a:solidFill>
              <a:srgbClr val="B31B1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D728B7E3-A833-B18B-6A85-F20D98E82E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43" y="132651"/>
            <a:ext cx="625586" cy="6255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88D479-231D-5180-27C9-E995EB81E6C3}"/>
              </a:ext>
            </a:extLst>
          </p:cNvPr>
          <p:cNvSpPr/>
          <p:nvPr userDrawn="1"/>
        </p:nvSpPr>
        <p:spPr>
          <a:xfrm>
            <a:off x="-9054" y="6296473"/>
            <a:ext cx="9153054" cy="558143"/>
          </a:xfrm>
          <a:prstGeom prst="rect">
            <a:avLst/>
          </a:prstGeom>
          <a:solidFill>
            <a:srgbClr val="535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B34E14-D7BE-1103-B887-507224D8632B}"/>
              </a:ext>
            </a:extLst>
          </p:cNvPr>
          <p:cNvCxnSpPr>
            <a:cxnSpLocks/>
          </p:cNvCxnSpPr>
          <p:nvPr userDrawn="1"/>
        </p:nvCxnSpPr>
        <p:spPr>
          <a:xfrm>
            <a:off x="-2264" y="6272228"/>
            <a:ext cx="9148527" cy="0"/>
          </a:xfrm>
          <a:prstGeom prst="line">
            <a:avLst/>
          </a:prstGeom>
          <a:ln w="63500">
            <a:solidFill>
              <a:srgbClr val="B31B1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AF4B7F99-052C-FF60-83AA-7BFB0B801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697" y="4169717"/>
            <a:ext cx="625586" cy="625586"/>
          </a:xfrm>
          <a:prstGeom prst="rect">
            <a:avLst/>
          </a:prstGeom>
        </p:spPr>
      </p:pic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1DDED99-F34A-7E0E-F145-6798C2F41C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7441" y="1511006"/>
            <a:ext cx="8340063" cy="724156"/>
          </a:xfrm>
          <a:ln>
            <a:noFill/>
          </a:ln>
        </p:spPr>
        <p:txBody>
          <a:bodyPr/>
          <a:lstStyle>
            <a:lvl1pPr algn="ctr">
              <a:buNone/>
              <a:defRPr sz="3000"/>
            </a:lvl1pPr>
            <a:lvl2pPr>
              <a:defRPr sz="1200"/>
            </a:lvl2pPr>
            <a:lvl3pPr>
              <a:defRPr sz="1000"/>
            </a:lvl3pPr>
            <a:lvl4pPr>
              <a:defRPr sz="800"/>
            </a:lvl4pPr>
          </a:lstStyle>
          <a:p>
            <a:pPr lvl="0"/>
            <a:r>
              <a:rPr lang="en-US" dirty="0"/>
              <a:t>TALK TITLE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D315371-EB37-CC2C-6F50-2382AD62B9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5293" y="5005552"/>
            <a:ext cx="8340063" cy="975530"/>
          </a:xfrm>
          <a:ln>
            <a:noFill/>
          </a:ln>
        </p:spPr>
        <p:txBody>
          <a:bodyPr/>
          <a:lstStyle>
            <a:lvl1pPr algn="ctr">
              <a:spcBef>
                <a:spcPts val="300"/>
              </a:spcBef>
              <a:buNone/>
              <a:defRPr sz="1400" b="0"/>
            </a:lvl1pPr>
            <a:lvl2pPr>
              <a:defRPr sz="1200"/>
            </a:lvl2pPr>
            <a:lvl3pPr>
              <a:defRPr sz="1000"/>
            </a:lvl3pPr>
            <a:lvl4pPr>
              <a:defRPr sz="800"/>
            </a:lvl4pPr>
          </a:lstStyle>
          <a:p>
            <a:pPr lvl="0"/>
            <a:r>
              <a:rPr lang="en-US" dirty="0"/>
              <a:t>Name</a:t>
            </a:r>
            <a:r>
              <a:rPr lang="en-US" b="0" dirty="0"/>
              <a:t> (e.g. John Zimmerman), title (Assistant Professor)</a:t>
            </a:r>
          </a:p>
          <a:p>
            <a:pPr lvl="0"/>
            <a:r>
              <a:rPr lang="en-US" b="0" dirty="0"/>
              <a:t>Cornell University, Zimmerman Group</a:t>
            </a:r>
          </a:p>
          <a:p>
            <a:pPr lvl="0"/>
            <a:endParaRPr lang="en-US" b="0" dirty="0"/>
          </a:p>
          <a:p>
            <a:pPr lvl="0"/>
            <a:r>
              <a:rPr lang="en-US" b="0" dirty="0"/>
              <a:t>Talk Purpose/ Date (BME, 4/15/2026)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2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BA568D-79DF-2FC8-DF04-6FBE77A21B0C}"/>
              </a:ext>
            </a:extLst>
          </p:cNvPr>
          <p:cNvSpPr/>
          <p:nvPr userDrawn="1"/>
        </p:nvSpPr>
        <p:spPr>
          <a:xfrm>
            <a:off x="108643" y="342900"/>
            <a:ext cx="8917662" cy="6515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82600" dist="508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2FD19C-1D5C-4C30-E221-E2E49EDB70D0}"/>
              </a:ext>
            </a:extLst>
          </p:cNvPr>
          <p:cNvSpPr/>
          <p:nvPr userDrawn="1"/>
        </p:nvSpPr>
        <p:spPr>
          <a:xfrm>
            <a:off x="-9054" y="-12562"/>
            <a:ext cx="9153054" cy="916013"/>
          </a:xfrm>
          <a:prstGeom prst="rect">
            <a:avLst/>
          </a:prstGeom>
          <a:solidFill>
            <a:srgbClr val="535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76E3C-5452-8B8E-18C7-43D17BCDF162}"/>
              </a:ext>
            </a:extLst>
          </p:cNvPr>
          <p:cNvSpPr txBox="1"/>
          <p:nvPr userDrawn="1"/>
        </p:nvSpPr>
        <p:spPr>
          <a:xfrm>
            <a:off x="7684477" y="6515100"/>
            <a:ext cx="1301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BFAE5AB-BB1D-4CC8-87C5-BD78EC70D3D8}" type="slidenum">
              <a:rPr lang="en-US" sz="1200" b="1" smtClean="0">
                <a:solidFill>
                  <a:schemeClr val="bg2">
                    <a:lumMod val="50000"/>
                  </a:schemeClr>
                </a:solidFill>
              </a:rPr>
              <a:pPr algn="r"/>
              <a:t>‹#›</a:t>
            </a:fld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11674E-DFAB-100B-4AE7-A1D229698027}"/>
              </a:ext>
            </a:extLst>
          </p:cNvPr>
          <p:cNvCxnSpPr>
            <a:cxnSpLocks/>
          </p:cNvCxnSpPr>
          <p:nvPr userDrawn="1"/>
        </p:nvCxnSpPr>
        <p:spPr>
          <a:xfrm>
            <a:off x="-4527" y="903451"/>
            <a:ext cx="9148527" cy="0"/>
          </a:xfrm>
          <a:prstGeom prst="line">
            <a:avLst/>
          </a:prstGeom>
          <a:ln w="63500">
            <a:solidFill>
              <a:srgbClr val="B31B1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0BEF1DDA-26A1-5426-3A0E-1E6D136DBD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43" y="132651"/>
            <a:ext cx="625586" cy="62558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A84A5-4823-8A9A-1B9B-E547FDB533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643" y="65901"/>
            <a:ext cx="8926714" cy="771649"/>
          </a:xfrm>
        </p:spPr>
        <p:txBody>
          <a:bodyPr anchor="ctr"/>
          <a:lstStyle>
            <a:lvl1pPr algn="ctr"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Default 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8291A5-DE39-BB30-2E01-1B13C580DF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7443" y="1447800"/>
            <a:ext cx="8340063" cy="2173288"/>
          </a:xfrm>
          <a:ln>
            <a:noFill/>
          </a:ln>
        </p:spPr>
        <p:txBody>
          <a:bodyPr/>
          <a:lstStyle>
            <a:lvl1pPr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800"/>
            </a:lvl4pPr>
          </a:lstStyle>
          <a:p>
            <a:pPr lvl="0"/>
            <a:r>
              <a:rPr lang="en-US" dirty="0"/>
              <a:t>Main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Finest detail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AB55768-2A59-734E-30C9-B635D45B210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6074" y="5954549"/>
            <a:ext cx="8401432" cy="337892"/>
          </a:xfrm>
          <a:solidFill>
            <a:srgbClr val="787C82"/>
          </a:solidFill>
        </p:spPr>
        <p:txBody>
          <a:bodyPr anchor="ctr"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Main take away from slide</a:t>
            </a:r>
          </a:p>
        </p:txBody>
      </p:sp>
    </p:spTree>
    <p:extLst>
      <p:ext uri="{BB962C8B-B14F-4D97-AF65-F5344CB8AC3E}">
        <p14:creationId xmlns:p14="http://schemas.microsoft.com/office/powerpoint/2010/main" val="425568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BA568D-79DF-2FC8-DF04-6FBE77A21B0C}"/>
              </a:ext>
            </a:extLst>
          </p:cNvPr>
          <p:cNvSpPr/>
          <p:nvPr userDrawn="1"/>
        </p:nvSpPr>
        <p:spPr>
          <a:xfrm>
            <a:off x="108643" y="342900"/>
            <a:ext cx="8917662" cy="6515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82600" dist="508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2FD19C-1D5C-4C30-E221-E2E49EDB70D0}"/>
              </a:ext>
            </a:extLst>
          </p:cNvPr>
          <p:cNvSpPr/>
          <p:nvPr userDrawn="1"/>
        </p:nvSpPr>
        <p:spPr>
          <a:xfrm>
            <a:off x="-9054" y="-12562"/>
            <a:ext cx="9153054" cy="916013"/>
          </a:xfrm>
          <a:prstGeom prst="rect">
            <a:avLst/>
          </a:prstGeom>
          <a:solidFill>
            <a:srgbClr val="535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76E3C-5452-8B8E-18C7-43D17BCDF162}"/>
              </a:ext>
            </a:extLst>
          </p:cNvPr>
          <p:cNvSpPr txBox="1"/>
          <p:nvPr userDrawn="1"/>
        </p:nvSpPr>
        <p:spPr>
          <a:xfrm>
            <a:off x="7684477" y="6515100"/>
            <a:ext cx="1301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BFAE5AB-BB1D-4CC8-87C5-BD78EC70D3D8}" type="slidenum">
              <a:rPr lang="en-US" sz="1200" b="1" smtClean="0">
                <a:solidFill>
                  <a:schemeClr val="bg2">
                    <a:lumMod val="50000"/>
                  </a:schemeClr>
                </a:solidFill>
              </a:rPr>
              <a:pPr algn="r"/>
              <a:t>‹#›</a:t>
            </a:fld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11674E-DFAB-100B-4AE7-A1D229698027}"/>
              </a:ext>
            </a:extLst>
          </p:cNvPr>
          <p:cNvCxnSpPr>
            <a:cxnSpLocks/>
          </p:cNvCxnSpPr>
          <p:nvPr userDrawn="1"/>
        </p:nvCxnSpPr>
        <p:spPr>
          <a:xfrm>
            <a:off x="-4527" y="903451"/>
            <a:ext cx="9148527" cy="0"/>
          </a:xfrm>
          <a:prstGeom prst="line">
            <a:avLst/>
          </a:prstGeom>
          <a:ln w="63500">
            <a:solidFill>
              <a:srgbClr val="B31B1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0BEF1DDA-26A1-5426-3A0E-1E6D136DBD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43" y="132651"/>
            <a:ext cx="625586" cy="62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E1209FE6-13F6-DA65-03A2-1E0ECCDC25A9}"/>
              </a:ext>
            </a:extLst>
          </p:cNvPr>
          <p:cNvSpPr/>
          <p:nvPr userDrawn="1"/>
        </p:nvSpPr>
        <p:spPr>
          <a:xfrm>
            <a:off x="108643" y="342900"/>
            <a:ext cx="8917662" cy="6515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82600" dist="508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2FD19C-1D5C-4C30-E221-E2E49EDB70D0}"/>
              </a:ext>
            </a:extLst>
          </p:cNvPr>
          <p:cNvSpPr/>
          <p:nvPr userDrawn="1"/>
        </p:nvSpPr>
        <p:spPr>
          <a:xfrm>
            <a:off x="-9054" y="-12562"/>
            <a:ext cx="9153054" cy="916013"/>
          </a:xfrm>
          <a:prstGeom prst="rect">
            <a:avLst/>
          </a:prstGeom>
          <a:solidFill>
            <a:srgbClr val="535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76E3C-5452-8B8E-18C7-43D17BCDF162}"/>
              </a:ext>
            </a:extLst>
          </p:cNvPr>
          <p:cNvSpPr txBox="1"/>
          <p:nvPr userDrawn="1"/>
        </p:nvSpPr>
        <p:spPr>
          <a:xfrm>
            <a:off x="7684477" y="6515100"/>
            <a:ext cx="1301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BFAE5AB-BB1D-4CC8-87C5-BD78EC70D3D8}" type="slidenum">
              <a:rPr lang="en-US" sz="1200" b="1" smtClean="0">
                <a:solidFill>
                  <a:schemeClr val="bg2">
                    <a:lumMod val="50000"/>
                  </a:schemeClr>
                </a:solidFill>
              </a:rPr>
              <a:pPr algn="r"/>
              <a:t>‹#›</a:t>
            </a:fld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11674E-DFAB-100B-4AE7-A1D229698027}"/>
              </a:ext>
            </a:extLst>
          </p:cNvPr>
          <p:cNvCxnSpPr>
            <a:cxnSpLocks/>
          </p:cNvCxnSpPr>
          <p:nvPr userDrawn="1"/>
        </p:nvCxnSpPr>
        <p:spPr>
          <a:xfrm>
            <a:off x="-4527" y="903451"/>
            <a:ext cx="9148527" cy="0"/>
          </a:xfrm>
          <a:prstGeom prst="line">
            <a:avLst/>
          </a:prstGeom>
          <a:ln w="63500">
            <a:solidFill>
              <a:srgbClr val="B31B1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0BEF1DDA-26A1-5426-3A0E-1E6D136DBD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43" y="132651"/>
            <a:ext cx="625586" cy="62558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A84A5-4823-8A9A-1B9B-E547FDB533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643" y="65901"/>
            <a:ext cx="8926714" cy="771649"/>
          </a:xfrm>
        </p:spPr>
        <p:txBody>
          <a:bodyPr anchor="ctr"/>
          <a:lstStyle>
            <a:lvl1pPr algn="ctr"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Example </a:t>
            </a:r>
            <a:r>
              <a:rPr lang="en-US" dirty="0" err="1"/>
              <a:t>Pentachart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8291A5-DE39-BB30-2E01-1B13C580DF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21" y="4436563"/>
            <a:ext cx="2232138" cy="1599585"/>
          </a:xfrm>
          <a:ln>
            <a:noFill/>
          </a:ln>
        </p:spPr>
        <p:txBody>
          <a:bodyPr/>
          <a:lstStyle>
            <a:lvl1pPr>
              <a:defRPr sz="1600"/>
            </a:lvl1pPr>
            <a:lvl2pPr marL="0" indent="0" algn="ctr">
              <a:buNone/>
              <a:defRPr sz="1200"/>
            </a:lvl2pPr>
            <a:lvl3pPr>
              <a:defRPr sz="1000"/>
            </a:lvl3pPr>
            <a:lvl4pPr>
              <a:defRPr sz="800"/>
            </a:lvl4pPr>
          </a:lstStyle>
          <a:p>
            <a:pPr lvl="1"/>
            <a:r>
              <a:rPr lang="en-US" dirty="0"/>
              <a:t>Hypothesis- What are you trying to test?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A50E8D01-310C-E948-CA9C-FF6A44090B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14977" y="1066801"/>
            <a:ext cx="2248037" cy="3425708"/>
          </a:xfrm>
          <a:prstGeom prst="roundRect">
            <a:avLst>
              <a:gd name="adj" fmla="val 11111"/>
            </a:avLst>
          </a:prstGeom>
          <a:noFill/>
          <a:ln w="25400">
            <a:solidFill>
              <a:schemeClr val="bg2"/>
            </a:solidFill>
            <a:round/>
            <a:headEnd/>
            <a:tailEnd/>
          </a:ln>
        </p:spPr>
        <p:txBody>
          <a:bodyPr lIns="75438" tIns="54864" rIns="48006" bIns="61722" anchor="b"/>
          <a:lstStyle/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dirty="0">
              <a:latin typeface="Arial" charset="0"/>
            </a:endParaRP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AE892900-23BD-F201-06DC-1762312BE9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4905" y="1066800"/>
            <a:ext cx="3191965" cy="5014905"/>
          </a:xfrm>
          <a:prstGeom prst="roundRect">
            <a:avLst>
              <a:gd name="adj" fmla="val 7963"/>
            </a:avLst>
          </a:prstGeom>
          <a:noFill/>
          <a:ln w="38100">
            <a:solidFill>
              <a:srgbClr val="4D4D4D"/>
            </a:solidFill>
            <a:round/>
            <a:headEnd/>
            <a:tailEnd/>
          </a:ln>
        </p:spPr>
        <p:txBody>
          <a:bodyPr tIns="68580" bIns="68580"/>
          <a:lstStyle/>
          <a:p>
            <a:pPr marL="85725" indent="-85725"/>
            <a:endParaRPr lang="en-US" sz="1000" u="sng">
              <a:solidFill>
                <a:schemeClr val="bg2">
                  <a:lumMod val="60000"/>
                  <a:lumOff val="40000"/>
                </a:schemeClr>
              </a:solidFill>
              <a:latin typeface="Arial" pitchFamily="34" charset="0"/>
            </a:endParaRPr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7C5FBCCC-58D5-FD9D-BCFC-9546A4E77A5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28" y="4317742"/>
            <a:ext cx="2397732" cy="1778258"/>
          </a:xfrm>
          <a:prstGeom prst="roundRect">
            <a:avLst>
              <a:gd name="adj" fmla="val 11111"/>
            </a:avLst>
          </a:prstGeom>
          <a:noFill/>
          <a:ln w="25400">
            <a:solidFill>
              <a:schemeClr val="bg2"/>
            </a:solidFill>
            <a:round/>
            <a:headEnd/>
            <a:tailEnd/>
          </a:ln>
        </p:spPr>
        <p:txBody>
          <a:bodyPr lIns="75438" tIns="54864" rIns="48006" bIns="61722" anchor="b"/>
          <a:lstStyle/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700" dirty="0">
              <a:latin typeface="Arial" charset="0"/>
            </a:endParaRP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A6AA5C4A-9469-F98B-BBD2-6992ACF9EB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4740432" y="2698188"/>
            <a:ext cx="3449336" cy="1765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1400" dirty="0">
                <a:latin typeface="Arial Black" pitchFamily="34" charset="0"/>
              </a:rPr>
              <a:t>OUTCOME</a:t>
            </a:r>
            <a:endParaRPr lang="en-US" sz="1000" dirty="0">
              <a:latin typeface="Arial Black" pitchFamily="34" charset="0"/>
            </a:endParaRP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731ED813-6CA9-CAC9-AF5A-C4FD6F48C883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5793003" y="5259535"/>
            <a:ext cx="1376637" cy="1765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1400" dirty="0">
                <a:latin typeface="Arial Black" pitchFamily="34" charset="0"/>
              </a:rPr>
              <a:t>IMPACT</a:t>
            </a:r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D5795C83-EDD4-24F4-A4D4-E2D3FC8F9E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437998" y="3471186"/>
            <a:ext cx="5034184" cy="21544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dirty="0">
                <a:latin typeface="Arial Black" pitchFamily="34" charset="0"/>
              </a:rPr>
              <a:t>ACHIEVMENTS</a:t>
            </a:r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BB25E75C-555A-AE0A-E78E-EDC7CD2FE7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-1242383" y="2488054"/>
            <a:ext cx="3029067" cy="1765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1400" dirty="0">
                <a:latin typeface="Arial Black" pitchFamily="34" charset="0"/>
              </a:rPr>
              <a:t>PROBLEM</a:t>
            </a: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4228605E-C898-24BD-255D-9C7638B8C91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-588694" y="5111430"/>
            <a:ext cx="1763965" cy="1765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  <a:tabLst>
                <a:tab pos="1370410" algn="l"/>
              </a:tabLst>
            </a:pPr>
            <a:r>
              <a:rPr lang="en-US" sz="1400" dirty="0">
                <a:latin typeface="Arial Black" pitchFamily="34" charset="0"/>
              </a:rPr>
              <a:t>CONCEPT</a:t>
            </a:r>
            <a:endParaRPr lang="en-US" sz="1000" dirty="0">
              <a:latin typeface="Arial Black" pitchFamily="34" charset="0"/>
            </a:endParaRPr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478CEC29-B56C-B363-7915-D484F80F5BB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rot="16200000">
            <a:off x="6229819" y="1774157"/>
            <a:ext cx="447874" cy="261685"/>
          </a:xfrm>
          <a:prstGeom prst="downArrow">
            <a:avLst>
              <a:gd name="adj1" fmla="val 53611"/>
              <a:gd name="adj2" fmla="val 53773"/>
            </a:avLst>
          </a:prstGeom>
          <a:solidFill>
            <a:srgbClr val="53565A"/>
          </a:solidFill>
          <a:ln w="12700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1" hangingPunct="1">
              <a:spcBef>
                <a:spcPct val="0"/>
              </a:spcBef>
            </a:pPr>
            <a:endParaRPr lang="en-US" sz="600" b="1" dirty="0">
              <a:solidFill>
                <a:srgbClr val="952B1D"/>
              </a:solidFill>
              <a:latin typeface="Century Gothic" pitchFamily="34" charset="0"/>
            </a:endParaRPr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EC9D28B6-92FB-7F7B-33E4-6278788B43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4951" y="1066801"/>
            <a:ext cx="2414820" cy="3024080"/>
          </a:xfrm>
          <a:prstGeom prst="roundRect">
            <a:avLst>
              <a:gd name="adj" fmla="val 11111"/>
            </a:avLst>
          </a:prstGeom>
          <a:noFill/>
          <a:ln w="25400">
            <a:solidFill>
              <a:schemeClr val="bg2"/>
            </a:solidFill>
            <a:round/>
            <a:headEnd/>
            <a:tailEnd/>
          </a:ln>
        </p:spPr>
        <p:txBody>
          <a:bodyPr lIns="75438" tIns="54864" rIns="48006" bIns="61722" anchor="b"/>
          <a:lstStyle/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b="1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dirty="0">
              <a:latin typeface="Arial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defRPr/>
            </a:pPr>
            <a:endParaRPr lang="en-US" sz="800" dirty="0">
              <a:latin typeface="Arial" charset="0"/>
            </a:endParaRP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02567BE-E4F4-EAA4-3BEA-A448EEB864F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10826" y="2286512"/>
            <a:ext cx="3255647" cy="49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33">
            <a:extLst>
              <a:ext uri="{FF2B5EF4-FFF2-40B4-BE49-F238E27FC236}">
                <a16:creationId xmlns:a16="http://schemas.microsoft.com/office/drawing/2014/main" id="{885B926B-5E7E-8875-33C2-DA5079F40D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"/>
            <a:ext cx="418747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4C29C169-3156-9E46-117B-61220B546B2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32576" y="4095411"/>
            <a:ext cx="447874" cy="208850"/>
          </a:xfrm>
          <a:prstGeom prst="downArrow">
            <a:avLst>
              <a:gd name="adj1" fmla="val 53611"/>
              <a:gd name="adj2" fmla="val 53773"/>
            </a:avLst>
          </a:prstGeom>
          <a:solidFill>
            <a:srgbClr val="53565A"/>
          </a:solidFill>
          <a:ln w="12700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1" hangingPunct="1">
              <a:spcBef>
                <a:spcPct val="0"/>
              </a:spcBef>
            </a:pPr>
            <a:endParaRPr lang="en-US" sz="600" b="1" dirty="0">
              <a:solidFill>
                <a:srgbClr val="952B1D"/>
              </a:solidFill>
              <a:latin typeface="Century Gothic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3DDA07-7103-4919-DF30-EED567C5808B}"/>
              </a:ext>
            </a:extLst>
          </p:cNvPr>
          <p:cNvSpPr txBox="1"/>
          <p:nvPr userDrawn="1"/>
        </p:nvSpPr>
        <p:spPr>
          <a:xfrm>
            <a:off x="4754700" y="3276887"/>
            <a:ext cx="14558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n-lt"/>
              </a:rPr>
              <a:t>Helical Nanofiber Alignment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808F730-AF87-BA3E-8358-A54F2290F5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16479" y="6225821"/>
            <a:ext cx="8568202" cy="337892"/>
          </a:xfrm>
          <a:solidFill>
            <a:srgbClr val="787C82"/>
          </a:solidFill>
        </p:spPr>
        <p:txBody>
          <a:bodyPr anchor="ctr"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Main take away from slide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FE9D21FB-4680-ABEF-2EB5-60BE18E39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341" y="1209498"/>
            <a:ext cx="2232138" cy="1599585"/>
          </a:xfrm>
          <a:ln>
            <a:noFill/>
          </a:ln>
        </p:spPr>
        <p:txBody>
          <a:bodyPr/>
          <a:lstStyle>
            <a:lvl1pPr>
              <a:defRPr sz="1600"/>
            </a:lvl1pPr>
            <a:lvl2pPr marL="0" indent="0" algn="ctr">
              <a:buNone/>
              <a:defRPr sz="1200"/>
            </a:lvl2pPr>
            <a:lvl3pPr>
              <a:defRPr sz="1000"/>
            </a:lvl3pPr>
            <a:lvl4pPr>
              <a:defRPr sz="800"/>
            </a:lvl4pPr>
          </a:lstStyle>
          <a:p>
            <a:pPr lvl="1"/>
            <a:r>
              <a:rPr lang="en-US" dirty="0"/>
              <a:t>What is the problem you are trying to solve?</a:t>
            </a:r>
            <a:br>
              <a:rPr lang="en-US" dirty="0"/>
            </a:br>
            <a:r>
              <a:rPr lang="en-US" dirty="0"/>
              <a:t>Introduce players</a:t>
            </a:r>
          </a:p>
        </p:txBody>
      </p:sp>
      <p:sp>
        <p:nvSpPr>
          <p:cNvPr id="72" name="AutoShape 9">
            <a:extLst>
              <a:ext uri="{FF2B5EF4-FFF2-40B4-BE49-F238E27FC236}">
                <a16:creationId xmlns:a16="http://schemas.microsoft.com/office/drawing/2014/main" id="{8BB47F1B-2E1A-6449-F490-C087FC701D1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rot="16200000">
            <a:off x="2704215" y="5385449"/>
            <a:ext cx="447874" cy="208850"/>
          </a:xfrm>
          <a:prstGeom prst="downArrow">
            <a:avLst>
              <a:gd name="adj1" fmla="val 53611"/>
              <a:gd name="adj2" fmla="val 53773"/>
            </a:avLst>
          </a:prstGeom>
          <a:solidFill>
            <a:srgbClr val="53565A"/>
          </a:solidFill>
          <a:ln w="12700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1" hangingPunct="1">
              <a:spcBef>
                <a:spcPct val="0"/>
              </a:spcBef>
            </a:pPr>
            <a:endParaRPr lang="en-US" sz="600" b="1" dirty="0">
              <a:solidFill>
                <a:srgbClr val="952B1D"/>
              </a:solidFill>
              <a:latin typeface="Century Gothic" pitchFamily="34" charset="0"/>
            </a:endParaRPr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A59B939F-29AB-EDFE-8A09-2EAE818FB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7966" y="1115650"/>
            <a:ext cx="3137517" cy="1599585"/>
          </a:xfrm>
          <a:ln>
            <a:noFill/>
          </a:ln>
        </p:spPr>
        <p:txBody>
          <a:bodyPr/>
          <a:lstStyle>
            <a:lvl1pPr>
              <a:defRPr sz="1600"/>
            </a:lvl1pPr>
            <a:lvl2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0"/>
            </a:lvl2pPr>
            <a:lvl3pPr>
              <a:defRPr sz="1000"/>
            </a:lvl3pPr>
            <a:lvl4pPr>
              <a:defRPr sz="800"/>
            </a:lvl4pPr>
          </a:lstStyle>
          <a:p>
            <a:pPr lvl="1"/>
            <a:r>
              <a:rPr lang="en-US" dirty="0"/>
              <a:t>Main Achievements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What did you do?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How did you do it?</a:t>
            </a:r>
            <a:br>
              <a:rPr lang="en-US" dirty="0"/>
            </a:br>
            <a:endParaRPr lang="en-US" dirty="0"/>
          </a:p>
        </p:txBody>
      </p:sp>
      <p:sp>
        <p:nvSpPr>
          <p:cNvPr id="74" name="Text Placeholder 5">
            <a:extLst>
              <a:ext uri="{FF2B5EF4-FFF2-40B4-BE49-F238E27FC236}">
                <a16:creationId xmlns:a16="http://schemas.microsoft.com/office/drawing/2014/main" id="{DA50F5EB-3DAD-46E9-0DA2-48DD2AE95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94932" y="1209498"/>
            <a:ext cx="2123878" cy="1599585"/>
          </a:xfrm>
          <a:ln>
            <a:noFill/>
          </a:ln>
        </p:spPr>
        <p:txBody>
          <a:bodyPr/>
          <a:lstStyle>
            <a:lvl1pPr>
              <a:defRPr sz="1600"/>
            </a:lvl1pPr>
            <a:lvl2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0"/>
            </a:lvl2pPr>
            <a:lvl3pPr>
              <a:defRPr sz="1000"/>
            </a:lvl3pPr>
            <a:lvl4pPr>
              <a:defRPr sz="800"/>
            </a:lvl4pPr>
          </a:lstStyle>
          <a:p>
            <a:pPr lvl="1"/>
            <a:r>
              <a:rPr lang="en-US" dirty="0"/>
              <a:t>Keys Findings</a:t>
            </a:r>
          </a:p>
          <a:p>
            <a:pPr lvl="1"/>
            <a:r>
              <a:rPr lang="en-US" dirty="0"/>
              <a:t>Figure of Merit </a:t>
            </a:r>
            <a:br>
              <a:rPr lang="en-US" dirty="0"/>
            </a:br>
            <a:r>
              <a:rPr lang="en-US" dirty="0"/>
              <a:t>(main take away data)</a:t>
            </a:r>
            <a:br>
              <a:rPr lang="en-US" dirty="0"/>
            </a:br>
            <a:endParaRPr lang="en-US" dirty="0"/>
          </a:p>
        </p:txBody>
      </p:sp>
      <p:sp>
        <p:nvSpPr>
          <p:cNvPr id="75" name="Text Placeholder 5">
            <a:extLst>
              <a:ext uri="{FF2B5EF4-FFF2-40B4-BE49-F238E27FC236}">
                <a16:creationId xmlns:a16="http://schemas.microsoft.com/office/drawing/2014/main" id="{CDFF1E97-9B18-539F-1B65-ACCFBF2569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22537" y="4659511"/>
            <a:ext cx="2248037" cy="1376638"/>
          </a:xfrm>
          <a:ln>
            <a:noFill/>
          </a:ln>
        </p:spPr>
        <p:txBody>
          <a:bodyPr/>
          <a:lstStyle>
            <a:lvl1pPr>
              <a:defRPr sz="1600"/>
            </a:lvl1pPr>
            <a:lvl2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0"/>
            </a:lvl2pPr>
            <a:lvl3pPr>
              <a:defRPr sz="1000"/>
            </a:lvl3pPr>
            <a:lvl4pPr>
              <a:defRPr sz="800"/>
            </a:lvl4pPr>
          </a:lstStyle>
          <a:p>
            <a:pPr lvl="1"/>
            <a:r>
              <a:rPr lang="en-US" dirty="0"/>
              <a:t>How will this effect real people?</a:t>
            </a:r>
          </a:p>
          <a:p>
            <a:pPr lvl="1"/>
            <a:r>
              <a:rPr lang="en-US" dirty="0"/>
              <a:t>What do you expect the larger outcomes to be?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3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87171-975A-42F7-A90F-B064B8F8B2C8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AE5AB-BB1D-4CC8-87C5-BD78EC70D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7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73" r:id="rId3"/>
    <p:sldLayoutId id="214748367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4859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3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4634D7-3A36-A247-E729-23F096583F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C5B51-87C9-049F-C104-A97DF9871D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2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3DAC72-3E6E-CFA8-E767-7EFBE67CE9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CB189-9608-89DE-6C12-01E5277BD9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691E5-CCB7-EA33-2CC6-B2769068796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6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93E568-0460-E368-1229-489CC05645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5CC5D-383A-7E83-5CAD-9868F6DDB4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74D88-65FA-01EF-C793-30FAE13190C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A3940A-8BDF-D0E6-1A0F-4BCF9A048B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C94F15-8686-9F43-BEDA-D516A44AD5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2DDBE8-698A-4496-C151-BE1165CFE9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A88D80-9EE1-7E9B-BEDA-9F8958C298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8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8066a38-73ea-4d3d-a3a9-4027cc4938aa" xsi:nil="true"/>
    <lcf76f155ced4ddcb4097134ff3c332f xmlns="5ab5ef21-8787-485d-9480-0af83f74204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E9C76C1FA9E44A8873DD2DB8FCC519" ma:contentTypeVersion="12" ma:contentTypeDescription="Create a new document." ma:contentTypeScope="" ma:versionID="15770c4f2ae610bd619449ca14b3407a">
  <xsd:schema xmlns:xsd="http://www.w3.org/2001/XMLSchema" xmlns:xs="http://www.w3.org/2001/XMLSchema" xmlns:p="http://schemas.microsoft.com/office/2006/metadata/properties" xmlns:ns2="5ab5ef21-8787-485d-9480-0af83f742048" xmlns:ns3="b8066a38-73ea-4d3d-a3a9-4027cc4938aa" targetNamespace="http://schemas.microsoft.com/office/2006/metadata/properties" ma:root="true" ma:fieldsID="ea30bf41326ca71c5dc38a2c3cfc6927" ns2:_="" ns3:_="">
    <xsd:import namespace="5ab5ef21-8787-485d-9480-0af83f742048"/>
    <xsd:import namespace="b8066a38-73ea-4d3d-a3a9-4027cc4938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b5ef21-8787-485d-9480-0af83f7420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28e4bf1-390e-4d69-b605-753bdc4c27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066a38-73ea-4d3d-a3a9-4027cc4938a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e52be0f-2776-4c8b-9cb2-f13d6067146b}" ma:internalName="TaxCatchAll" ma:showField="CatchAllData" ma:web="b8066a38-73ea-4d3d-a3a9-4027cc4938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A47A86-8961-46D3-AB0D-A6784911237A}">
  <ds:schemaRefs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44e8a843-dd09-42d4-9e08-c920074822c8"/>
    <ds:schemaRef ds:uri="http://www.w3.org/XML/1998/namespace"/>
    <ds:schemaRef ds:uri="b8066a38-73ea-4d3d-a3a9-4027cc4938aa"/>
    <ds:schemaRef ds:uri="5ab5ef21-8787-485d-9480-0af83f742048"/>
  </ds:schemaRefs>
</ds:datastoreItem>
</file>

<file path=customXml/itemProps2.xml><?xml version="1.0" encoding="utf-8"?>
<ds:datastoreItem xmlns:ds="http://schemas.openxmlformats.org/officeDocument/2006/customXml" ds:itemID="{18F0FFC7-D220-4F8C-AFC8-BF61AF5C14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b5ef21-8787-485d-9480-0af83f742048"/>
    <ds:schemaRef ds:uri="b8066a38-73ea-4d3d-a3a9-4027cc4938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FD2C25-E1A6-4334-B63F-257928F013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39375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Zimmerman, John</dc:creator>
  <cp:lastModifiedBy>John Franklin Zimmerman</cp:lastModifiedBy>
  <cp:revision>261</cp:revision>
  <dcterms:created xsi:type="dcterms:W3CDTF">2022-12-10T03:26:31Z</dcterms:created>
  <dcterms:modified xsi:type="dcterms:W3CDTF">2026-04-29T01:42:49Z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0x010100C2E9C76C1FA9E44A8873DD2DB8FCC519</vt:lpwstr>
  </property>
  <property fmtid="{D5CDD505-2E9C-101B-9397-08002B2CF9AE}" pid="3" name="MediaServiceImageTags">
    <vt:lpwstr/>
  </property>
</Properties>
</file>