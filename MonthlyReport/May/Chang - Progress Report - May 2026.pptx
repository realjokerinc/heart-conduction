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media2.avi" ContentType="video/x-msvideo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68" r:id="rId7"/>
    <p:sldId id="258" r:id="rId8"/>
    <p:sldId id="270" r:id="rId9"/>
    <p:sldId id="271" r:id="rId10"/>
    <p:sldId id="272" r:id="rId11"/>
    <p:sldId id="267" r:id="rId12"/>
    <p:sldId id="273" r:id="rId13"/>
    <p:sldId id="260" r:id="rId14"/>
    <p:sldId id="261" r:id="rId15"/>
    <p:sldId id="274" r:id="rId16"/>
    <p:sldId id="275" r:id="rId25"/>
    <p:sldId id="276" r:id="rId26"/>
    <p:sldId id="266" r:id="rId17"/>
  </p:sldIdLst>
  <p:sldSz cx="9144000" cy="6858000" type="screen4x3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gJENA0zvn//B8SYwDXlPvNrmd0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65A930-327C-934A-AB15-06FA1464A2F2}" v="401" dt="2026-05-15T15:05:48.8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28"/>
    <p:restoredTop sz="94658"/>
  </p:normalViewPr>
  <p:slideViewPr>
    <p:cSldViewPr snapToGrid="0">
      <p:cViewPr>
        <p:scale>
          <a:sx n="107" d="100"/>
          <a:sy n="107" d="100"/>
        </p:scale>
        <p:origin x="744" y="44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notesMaster" Target="notesMasters/notesMaster1.xml"/><Relationship Id="rId19" Type="http://customschemas.google.com/relationships/presentationmetadata" Target="meta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5/10/relationships/revisionInfo" Target="revisionInfo.xml"/><Relationship Id="rId25" Type="http://schemas.openxmlformats.org/officeDocument/2006/relationships/slide" Target="slides/slide14.xml"/><Relationship Id="rId26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aafff6c63_1_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Wikipedia, 3b1b</a:t>
            </a:r>
            <a:endParaRPr/>
          </a:p>
        </p:txBody>
      </p:sp>
      <p:sp>
        <p:nvSpPr>
          <p:cNvPr id="63" name="Google Shape;63;g3daafff6c63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FDF187C6-82DF-558A-F654-A3555BF67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aafff6c63_1_7:notes">
            <a:extLst>
              <a:ext uri="{FF2B5EF4-FFF2-40B4-BE49-F238E27FC236}">
                <a16:creationId xmlns:a16="http://schemas.microsoft.com/office/drawing/2014/main" id="{B1E16F65-C7DD-8383-38A7-4B9DED970A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g3daafff6c63_1_7:notes">
            <a:extLst>
              <a:ext uri="{FF2B5EF4-FFF2-40B4-BE49-F238E27FC236}">
                <a16:creationId xmlns:a16="http://schemas.microsoft.com/office/drawing/2014/main" id="{2D6A2A86-E605-5636-C7F6-8314C650C2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860444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ad5127776_0_48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g3dad5127776_0_4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D5E77F31-0198-CD09-6524-D5F93B68C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ad5127776_0_483:notes">
            <a:extLst>
              <a:ext uri="{FF2B5EF4-FFF2-40B4-BE49-F238E27FC236}">
                <a16:creationId xmlns:a16="http://schemas.microsoft.com/office/drawing/2014/main" id="{E445BBBD-7DD0-6B60-1144-18A2C97290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g3dad5127776_0_483:notes">
            <a:extLst>
              <a:ext uri="{FF2B5EF4-FFF2-40B4-BE49-F238E27FC236}">
                <a16:creationId xmlns:a16="http://schemas.microsoft.com/office/drawing/2014/main" id="{498956A8-66C6-F4A3-1AF4-43F7B695B4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2216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C5F20648-1D4A-AE2F-5667-543170A0A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ad5127776_0_483:notes">
            <a:extLst>
              <a:ext uri="{FF2B5EF4-FFF2-40B4-BE49-F238E27FC236}">
                <a16:creationId xmlns:a16="http://schemas.microsoft.com/office/drawing/2014/main" id="{0923582F-59F1-571F-D0F7-58FCEFE54D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g3dad5127776_0_483:notes">
            <a:extLst>
              <a:ext uri="{FF2B5EF4-FFF2-40B4-BE49-F238E27FC236}">
                <a16:creationId xmlns:a16="http://schemas.microsoft.com/office/drawing/2014/main" id="{255DF295-0327-56FA-0106-A67F295513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85079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A6FF8100-ADEE-620C-AE87-63E619AF7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ad5127776_0_483:notes">
            <a:extLst>
              <a:ext uri="{FF2B5EF4-FFF2-40B4-BE49-F238E27FC236}">
                <a16:creationId xmlns:a16="http://schemas.microsoft.com/office/drawing/2014/main" id="{962EAB79-C8BB-00CB-6154-ACA90EA74B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g3dad5127776_0_483:notes">
            <a:extLst>
              <a:ext uri="{FF2B5EF4-FFF2-40B4-BE49-F238E27FC236}">
                <a16:creationId xmlns:a16="http://schemas.microsoft.com/office/drawing/2014/main" id="{0C29E9F6-A4AE-FECD-C01A-D7D829A973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87893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9CCF4B01-52BC-A3C8-FD70-32174F9B3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ad5127776_0_483:notes">
            <a:extLst>
              <a:ext uri="{FF2B5EF4-FFF2-40B4-BE49-F238E27FC236}">
                <a16:creationId xmlns:a16="http://schemas.microsoft.com/office/drawing/2014/main" id="{EAA1A7EB-7862-6F5D-56C5-18992A91F8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g3dad5127776_0_483:notes">
            <a:extLst>
              <a:ext uri="{FF2B5EF4-FFF2-40B4-BE49-F238E27FC236}">
                <a16:creationId xmlns:a16="http://schemas.microsoft.com/office/drawing/2014/main" id="{9343400A-63DE-A1FC-C93C-ED09C1AF7F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50265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A5B8834F-E815-E16B-5AC5-BA5415F7A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ad5127776_0_483:notes">
            <a:extLst>
              <a:ext uri="{FF2B5EF4-FFF2-40B4-BE49-F238E27FC236}">
                <a16:creationId xmlns:a16="http://schemas.microsoft.com/office/drawing/2014/main" id="{13CCE636-10AB-87A5-047F-5303BF7154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g3dad5127776_0_483:notes">
            <a:extLst>
              <a:ext uri="{FF2B5EF4-FFF2-40B4-BE49-F238E27FC236}">
                <a16:creationId xmlns:a16="http://schemas.microsoft.com/office/drawing/2014/main" id="{9981F259-F09C-4B0E-A9EF-2DD70E78BF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36859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ad5127776_0_49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3dad5127776_0_4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ad5127776_0_65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3dad5127776_0_6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E732EBC2-01B7-80C4-C5A8-FB8541B76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ad5127776_0_652:notes">
            <a:extLst>
              <a:ext uri="{FF2B5EF4-FFF2-40B4-BE49-F238E27FC236}">
                <a16:creationId xmlns:a16="http://schemas.microsoft.com/office/drawing/2014/main" id="{A645E000-7889-4C00-DF72-5FFEEA009F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3dad5127776_0_652:notes">
            <a:extLst>
              <a:ext uri="{FF2B5EF4-FFF2-40B4-BE49-F238E27FC236}">
                <a16:creationId xmlns:a16="http://schemas.microsoft.com/office/drawing/2014/main" id="{8B4D4CD1-99CB-0274-2BCA-810315BB5B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33126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dad5127776_0_72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g3dad5127776_0_7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sldNum" idx="12"/>
          </p:nvPr>
        </p:nvSpPr>
        <p:spPr>
          <a:xfrm>
            <a:off x="8780526" y="6571476"/>
            <a:ext cx="173990" cy="19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lvl="1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lvl="2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lvl="3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lvl="4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lvl="5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lvl="6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lvl="7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lvl="8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780526" y="6571476"/>
            <a:ext cx="173990" cy="19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lvl="1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lvl="2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lvl="3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lvl="4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lvl="5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lvl="6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lvl="7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lvl="8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780526" y="6571476"/>
            <a:ext cx="173990" cy="19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lvl="1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lvl="2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lvl="3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lvl="4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lvl="5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lvl="6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lvl="7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lvl="8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780526" y="6571476"/>
            <a:ext cx="173990" cy="19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lvl="1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lvl="2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lvl="3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lvl="4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lvl="5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lvl="6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lvl="7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lvl="8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780526" y="6571476"/>
            <a:ext cx="173990" cy="19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lvl="1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lvl="2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lvl="3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lvl="4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lvl="5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lvl="6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lvl="7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lvl="8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4"/>
          <p:cNvSpPr/>
          <p:nvPr/>
        </p:nvSpPr>
        <p:spPr>
          <a:xfrm>
            <a:off x="104775" y="904875"/>
            <a:ext cx="8924925" cy="5953125"/>
          </a:xfrm>
          <a:custGeom>
            <a:avLst/>
            <a:gdLst/>
            <a:ahLst/>
            <a:cxnLst/>
            <a:rect l="l" t="t" r="r" b="b"/>
            <a:pathLst>
              <a:path w="8924925" h="5953125" extrusionOk="0">
                <a:moveTo>
                  <a:pt x="0" y="5953124"/>
                </a:moveTo>
                <a:lnTo>
                  <a:pt x="8924925" y="5953124"/>
                </a:lnTo>
                <a:lnTo>
                  <a:pt x="8924925" y="0"/>
                </a:lnTo>
                <a:lnTo>
                  <a:pt x="0" y="0"/>
                </a:lnTo>
                <a:lnTo>
                  <a:pt x="0" y="59531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4"/>
          <p:cNvSpPr/>
          <p:nvPr/>
        </p:nvSpPr>
        <p:spPr>
          <a:xfrm>
            <a:off x="0" y="0"/>
            <a:ext cx="9144000" cy="904875"/>
          </a:xfrm>
          <a:custGeom>
            <a:avLst/>
            <a:gdLst/>
            <a:ahLst/>
            <a:cxnLst/>
            <a:rect l="l" t="t" r="r" b="b"/>
            <a:pathLst>
              <a:path w="9144000" h="904875" extrusionOk="0">
                <a:moveTo>
                  <a:pt x="0" y="904875"/>
                </a:moveTo>
                <a:lnTo>
                  <a:pt x="9144000" y="904875"/>
                </a:lnTo>
                <a:lnTo>
                  <a:pt x="9144000" y="0"/>
                </a:lnTo>
                <a:lnTo>
                  <a:pt x="0" y="0"/>
                </a:lnTo>
                <a:lnTo>
                  <a:pt x="0" y="904875"/>
                </a:lnTo>
                <a:close/>
              </a:path>
            </a:pathLst>
          </a:custGeom>
          <a:solidFill>
            <a:srgbClr val="52555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9;p4"/>
          <p:cNvSpPr/>
          <p:nvPr/>
        </p:nvSpPr>
        <p:spPr>
          <a:xfrm>
            <a:off x="4763" y="877950"/>
            <a:ext cx="9139555" cy="63500"/>
          </a:xfrm>
          <a:custGeom>
            <a:avLst/>
            <a:gdLst/>
            <a:ahLst/>
            <a:cxnLst/>
            <a:rect l="l" t="t" r="r" b="b"/>
            <a:pathLst>
              <a:path w="9139555" h="63500" extrusionOk="0">
                <a:moveTo>
                  <a:pt x="9139236" y="0"/>
                </a:moveTo>
                <a:lnTo>
                  <a:pt x="0" y="0"/>
                </a:lnTo>
                <a:lnTo>
                  <a:pt x="0" y="63500"/>
                </a:lnTo>
                <a:lnTo>
                  <a:pt x="9139236" y="63500"/>
                </a:lnTo>
                <a:lnTo>
                  <a:pt x="9139236" y="0"/>
                </a:lnTo>
                <a:close/>
              </a:path>
            </a:pathLst>
          </a:custGeom>
          <a:solidFill>
            <a:srgbClr val="B31B1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Google Shape;10;p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7184" y="135795"/>
            <a:ext cx="625880" cy="62529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4"/>
          <p:cNvSpPr txBox="1">
            <a:spLocks noGrp="1"/>
          </p:cNvSpPr>
          <p:nvPr>
            <p:ph type="title"/>
          </p:nvPr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sldNum" idx="12"/>
          </p:nvPr>
        </p:nvSpPr>
        <p:spPr>
          <a:xfrm>
            <a:off x="8780526" y="6571476"/>
            <a:ext cx="173990" cy="19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lvl="1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lvl="2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lvl="3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lvl="4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lvl="5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lvl="6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lvl="7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lvl="8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 b="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gif"/><Relationship Id="rId4" Type="http://schemas.openxmlformats.org/officeDocument/2006/relationships/image" Target="../media/image9.png"/><Relationship Id="rId5" Type="http://schemas.openxmlformats.org/officeDocument/2006/relationships/image" Target="../media/image10.jpg"/><Relationship Id="rId6" Type="http://schemas.openxmlformats.org/officeDocument/2006/relationships/image" Target="../media/image11.gif"/><Relationship Id="rId7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4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jpg"/><Relationship Id="rId4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microsoft.com/office/2007/relationships/media" Target="../media/media2.avi"/><Relationship Id="rId2" Type="http://schemas.openxmlformats.org/officeDocument/2006/relationships/video" Target="../media/media2.avi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Relationship Id="rId5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microsoft.com/office/2007/relationships/media" Target="../media/media3.mp4"/><Relationship Id="rId2" Type="http://schemas.openxmlformats.org/officeDocument/2006/relationships/video" Target="../media/media3.mp4"/><Relationship Id="rId3" Type="http://schemas.microsoft.com/office/2007/relationships/media" Target="../media/media4.mp4"/><Relationship Id="rId4" Type="http://schemas.openxmlformats.org/officeDocument/2006/relationships/video" Target="../media/media4.mp4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microsoft.com/office/2007/relationships/media" Target="../media/media3.mp4"/><Relationship Id="rId2" Type="http://schemas.openxmlformats.org/officeDocument/2006/relationships/video" Target="../media/media3.mp4"/><Relationship Id="rId3" Type="http://schemas.microsoft.com/office/2007/relationships/media" Target="../media/media4.mp4"/><Relationship Id="rId4" Type="http://schemas.openxmlformats.org/officeDocument/2006/relationships/video" Target="../media/media4.mp4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microsoft.com/office/2007/relationships/media" Target="../media/media5.mp4"/><Relationship Id="rId2" Type="http://schemas.openxmlformats.org/officeDocument/2006/relationships/video" Target="../media/media5.mp4"/><Relationship Id="rId3" Type="http://schemas.microsoft.com/office/2007/relationships/media" Target="../media/media6.mp4"/><Relationship Id="rId4" Type="http://schemas.openxmlformats.org/officeDocument/2006/relationships/video" Target="../media/media6.mp4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Relationship Id="rId7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gif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11.xml.rels><?xml version='1.0' encoding='UTF-8' standalone='yes'?>
<Relationships xmlns="http://schemas.openxmlformats.org/package/2006/relationships"><Relationship Id="rId1" Type="http://schemas.microsoft.com/office/2007/relationships/media" Target="../media/media7.mp4"/><Relationship Id="rId2" Type="http://schemas.openxmlformats.org/officeDocument/2006/relationships/video" Target="../media/media7.mp4"/><Relationship Id="rId3" Type="http://schemas.microsoft.com/office/2007/relationships/media" Target="../media/media8.mp4"/><Relationship Id="rId4" Type="http://schemas.openxmlformats.org/officeDocument/2006/relationships/video" Target="../media/media8.mp4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Relationship Id="rId7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microsoft.com/office/2007/relationships/media" Target="../media/media9.mp4"/><Relationship Id="rId2" Type="http://schemas.openxmlformats.org/officeDocument/2006/relationships/video" Target="../media/media9.mp4"/><Relationship Id="rId3" Type="http://schemas.microsoft.com/office/2007/relationships/media" Target="../media/media10.mp4"/><Relationship Id="rId4" Type="http://schemas.openxmlformats.org/officeDocument/2006/relationships/video" Target="../media/media10.mp4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Relationship Id="rId7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"/>
          <p:cNvSpPr/>
          <p:nvPr/>
        </p:nvSpPr>
        <p:spPr>
          <a:xfrm>
            <a:off x="104775" y="941450"/>
            <a:ext cx="8924925" cy="5308600"/>
          </a:xfrm>
          <a:custGeom>
            <a:avLst/>
            <a:gdLst/>
            <a:ahLst/>
            <a:cxnLst/>
            <a:rect l="l" t="t" r="r" b="b"/>
            <a:pathLst>
              <a:path w="8924925" h="5308600" extrusionOk="0">
                <a:moveTo>
                  <a:pt x="0" y="5308536"/>
                </a:moveTo>
                <a:lnTo>
                  <a:pt x="8924925" y="5308536"/>
                </a:lnTo>
                <a:lnTo>
                  <a:pt x="8924925" y="0"/>
                </a:lnTo>
                <a:lnTo>
                  <a:pt x="0" y="0"/>
                </a:lnTo>
                <a:lnTo>
                  <a:pt x="0" y="53085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  <p:grpSp>
        <p:nvGrpSpPr>
          <p:cNvPr id="50" name="Google Shape;50;p1"/>
          <p:cNvGrpSpPr/>
          <p:nvPr/>
        </p:nvGrpSpPr>
        <p:grpSpPr>
          <a:xfrm>
            <a:off x="0" y="0"/>
            <a:ext cx="9144318" cy="941450"/>
            <a:chOff x="0" y="0"/>
            <a:chExt cx="9144318" cy="941450"/>
          </a:xfrm>
        </p:grpSpPr>
        <p:sp>
          <p:nvSpPr>
            <p:cNvPr id="51" name="Google Shape;51;p1"/>
            <p:cNvSpPr/>
            <p:nvPr/>
          </p:nvSpPr>
          <p:spPr>
            <a:xfrm>
              <a:off x="0" y="0"/>
              <a:ext cx="9144000" cy="878205"/>
            </a:xfrm>
            <a:custGeom>
              <a:avLst/>
              <a:gdLst/>
              <a:ahLst/>
              <a:cxnLst/>
              <a:rect l="l" t="t" r="r" b="b"/>
              <a:pathLst>
                <a:path w="9144000" h="878205" extrusionOk="0">
                  <a:moveTo>
                    <a:pt x="0" y="877951"/>
                  </a:moveTo>
                  <a:lnTo>
                    <a:pt x="9144000" y="87795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877951"/>
                  </a:lnTo>
                  <a:close/>
                </a:path>
              </a:pathLst>
            </a:custGeom>
            <a:solidFill>
              <a:srgbClr val="52555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4763" y="877950"/>
              <a:ext cx="9139555" cy="63500"/>
            </a:xfrm>
            <a:custGeom>
              <a:avLst/>
              <a:gdLst/>
              <a:ahLst/>
              <a:cxnLst/>
              <a:rect l="l" t="t" r="r" b="b"/>
              <a:pathLst>
                <a:path w="9139555" h="63500" extrusionOk="0">
                  <a:moveTo>
                    <a:pt x="9139236" y="0"/>
                  </a:moveTo>
                  <a:lnTo>
                    <a:pt x="0" y="0"/>
                  </a:lnTo>
                  <a:lnTo>
                    <a:pt x="0" y="63500"/>
                  </a:lnTo>
                  <a:lnTo>
                    <a:pt x="9139236" y="63500"/>
                  </a:lnTo>
                  <a:lnTo>
                    <a:pt x="9139236" y="0"/>
                  </a:lnTo>
                  <a:close/>
                </a:path>
              </a:pathLst>
            </a:custGeom>
            <a:solidFill>
              <a:srgbClr val="B31B1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3" name="Google Shape;53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7184" y="135795"/>
              <a:ext cx="625880" cy="62529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" name="Google Shape;54;p1"/>
          <p:cNvGrpSpPr/>
          <p:nvPr/>
        </p:nvGrpSpPr>
        <p:grpSpPr>
          <a:xfrm>
            <a:off x="0" y="6249987"/>
            <a:ext cx="9144318" cy="608330"/>
            <a:chOff x="0" y="6249987"/>
            <a:chExt cx="9144318" cy="608330"/>
          </a:xfrm>
        </p:grpSpPr>
        <p:sp>
          <p:nvSpPr>
            <p:cNvPr id="55" name="Google Shape;55;p1"/>
            <p:cNvSpPr/>
            <p:nvPr/>
          </p:nvSpPr>
          <p:spPr>
            <a:xfrm>
              <a:off x="0" y="6313487"/>
              <a:ext cx="9144000" cy="544830"/>
            </a:xfrm>
            <a:custGeom>
              <a:avLst/>
              <a:gdLst/>
              <a:ahLst/>
              <a:cxnLst/>
              <a:rect l="l" t="t" r="r" b="b"/>
              <a:pathLst>
                <a:path w="9144000" h="544829" extrusionOk="0">
                  <a:moveTo>
                    <a:pt x="0" y="544512"/>
                  </a:moveTo>
                  <a:lnTo>
                    <a:pt x="9144000" y="544512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44512"/>
                  </a:lnTo>
                  <a:close/>
                </a:path>
              </a:pathLst>
            </a:custGeom>
            <a:solidFill>
              <a:srgbClr val="52555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1"/>
            <p:cNvSpPr/>
            <p:nvPr/>
          </p:nvSpPr>
          <p:spPr>
            <a:xfrm>
              <a:off x="4763" y="6249987"/>
              <a:ext cx="9139555" cy="63500"/>
            </a:xfrm>
            <a:custGeom>
              <a:avLst/>
              <a:gdLst/>
              <a:ahLst/>
              <a:cxnLst/>
              <a:rect l="l" t="t" r="r" b="b"/>
              <a:pathLst>
                <a:path w="9139555" h="63500" extrusionOk="0">
                  <a:moveTo>
                    <a:pt x="9139236" y="0"/>
                  </a:moveTo>
                  <a:lnTo>
                    <a:pt x="0" y="0"/>
                  </a:lnTo>
                  <a:lnTo>
                    <a:pt x="0" y="63500"/>
                  </a:lnTo>
                  <a:lnTo>
                    <a:pt x="9139236" y="63500"/>
                  </a:lnTo>
                  <a:lnTo>
                    <a:pt x="9139236" y="0"/>
                  </a:lnTo>
                  <a:close/>
                </a:path>
              </a:pathLst>
            </a:custGeom>
            <a:solidFill>
              <a:srgbClr val="B31B1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7" name="Google Shape;57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709" y="4174361"/>
            <a:ext cx="625880" cy="61581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 txBox="1"/>
          <p:nvPr/>
        </p:nvSpPr>
        <p:spPr>
          <a:xfrm>
            <a:off x="481165" y="2247435"/>
            <a:ext cx="8186750" cy="1588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Physically Accurace Boundary Handling in Discrete Cardiac Diffsuion 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468937" y="3889344"/>
            <a:ext cx="8196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chemeClr val="dk1"/>
                </a:solidFill>
              </a:rPr>
              <a:t>Charley Chang</a:t>
            </a:r>
            <a:endParaRPr sz="25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aafff6c63_1_7"/>
          <p:cNvSpPr txBox="1">
            <a:spLocks noGrp="1"/>
          </p:cNvSpPr>
          <p:nvPr>
            <p:ph type="sldNum" idx="12"/>
          </p:nvPr>
        </p:nvSpPr>
        <p:spPr>
          <a:xfrm>
            <a:off x="8780526" y="6571476"/>
            <a:ext cx="17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67" name="Google Shape;67;g3daafff6c63_1_7"/>
          <p:cNvSpPr txBox="1"/>
          <p:nvPr/>
        </p:nvSpPr>
        <p:spPr>
          <a:xfrm>
            <a:off x="374999" y="223284"/>
            <a:ext cx="8394002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</a:rPr>
              <a:t>Fickian Based Diffusion System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1E58CD-3A5A-3AD5-491D-F8A10B232CDF}"/>
              </a:ext>
            </a:extLst>
          </p:cNvPr>
          <p:cNvSpPr/>
          <p:nvPr/>
        </p:nvSpPr>
        <p:spPr>
          <a:xfrm>
            <a:off x="777045" y="2261795"/>
            <a:ext cx="1626781" cy="15948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34FF8B-98E2-C5FE-BDAF-1E1797F1BB35}"/>
              </a:ext>
            </a:extLst>
          </p:cNvPr>
          <p:cNvSpPr/>
          <p:nvPr/>
        </p:nvSpPr>
        <p:spPr>
          <a:xfrm>
            <a:off x="2669640" y="2261795"/>
            <a:ext cx="1584251" cy="1594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olving_the_heat_equation_DE3.mp4">
            <a:hlinkClick r:id="" action="ppaction://media"/>
            <a:extLst>
              <a:ext uri="{FF2B5EF4-FFF2-40B4-BE49-F238E27FC236}">
                <a16:creationId xmlns:a16="http://schemas.microsoft.com/office/drawing/2014/main" id="{94BA6641-BC64-8A5F-A873-9F7865253A1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13256" t="21317" r="13140" b="12946"/>
          <a:stretch>
            <a:fillRect/>
          </a:stretch>
        </p:blipFill>
        <p:spPr>
          <a:xfrm>
            <a:off x="162348" y="2817475"/>
            <a:ext cx="4486940" cy="22541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288549-A23E-559A-83D9-C924223DDCCF}"/>
              </a:ext>
            </a:extLst>
          </p:cNvPr>
          <p:cNvSpPr txBox="1"/>
          <p:nvPr/>
        </p:nvSpPr>
        <p:spPr>
          <a:xfrm>
            <a:off x="3357432" y="1451674"/>
            <a:ext cx="30090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D76B04-547D-4F92-45D9-2E522F661ADE}"/>
                  </a:ext>
                </a:extLst>
              </p:cNvPr>
              <p:cNvSpPr txBox="1"/>
              <p:nvPr/>
            </p:nvSpPr>
            <p:spPr>
              <a:xfrm>
                <a:off x="2350664" y="5274924"/>
                <a:ext cx="2734303" cy="618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D76B04-547D-4F92-45D9-2E522F661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0664" y="5274924"/>
                <a:ext cx="2734303" cy="618887"/>
              </a:xfrm>
              <a:prstGeom prst="rect">
                <a:avLst/>
              </a:prstGeom>
              <a:blipFill>
                <a:blip r:embed="rId6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3989A46-F7A6-03B2-DA67-DBBCE929A987}"/>
                  </a:ext>
                </a:extLst>
              </p:cNvPr>
              <p:cNvSpPr txBox="1"/>
              <p:nvPr/>
            </p:nvSpPr>
            <p:spPr>
              <a:xfrm>
                <a:off x="4572000" y="5274924"/>
                <a:ext cx="2190307" cy="618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∙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3989A46-F7A6-03B2-DA67-DBBCE929A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5274924"/>
                <a:ext cx="2190307" cy="618887"/>
              </a:xfrm>
              <a:prstGeom prst="rect">
                <a:avLst/>
              </a:prstGeom>
              <a:blipFill>
                <a:blip r:embed="rId7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9BA63DC3-5FA5-9BD1-9F2B-9CBF43823D44}"/>
              </a:ext>
            </a:extLst>
          </p:cNvPr>
          <p:cNvSpPr txBox="1"/>
          <p:nvPr/>
        </p:nvSpPr>
        <p:spPr>
          <a:xfrm>
            <a:off x="492569" y="1656687"/>
            <a:ext cx="32252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Modeling of Heat Transfer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A65D61-7DB5-D4EC-7319-99BA9711EC50}"/>
              </a:ext>
            </a:extLst>
          </p:cNvPr>
          <p:cNvSpPr txBox="1"/>
          <p:nvPr/>
        </p:nvSpPr>
        <p:spPr>
          <a:xfrm>
            <a:off x="5426187" y="1667118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/>
              <a:t>Modeling of Molecular Diffusion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4DAA574-25E6-3E33-B16E-98231D06DF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7273" y="2236805"/>
            <a:ext cx="3401728" cy="283477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9A59786-621A-DD80-FCF4-29A45581AED8}"/>
              </a:ext>
            </a:extLst>
          </p:cNvPr>
          <p:cNvSpPr txBox="1"/>
          <p:nvPr/>
        </p:nvSpPr>
        <p:spPr>
          <a:xfrm>
            <a:off x="2262221" y="5948840"/>
            <a:ext cx="48059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/>
              <a:t>Governing Equations for all Fickian Based System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53A92A-B29A-9FB2-EE2D-6070059F3F3C}"/>
              </a:ext>
            </a:extLst>
          </p:cNvPr>
          <p:cNvSpPr txBox="1"/>
          <p:nvPr/>
        </p:nvSpPr>
        <p:spPr>
          <a:xfrm>
            <a:off x="374999" y="1122735"/>
            <a:ext cx="84055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/>
              <a:t>Back in 1800s, mathmaticians are interested in modeling how diffusive quantities evolves throughout time.</a:t>
            </a:r>
          </a:p>
        </p:txBody>
      </p:sp>
      <p:sp>
        <p:nvSpPr>
          <p:cNvPr id="27" name="Plus 26">
            <a:extLst>
              <a:ext uri="{FF2B5EF4-FFF2-40B4-BE49-F238E27FC236}">
                <a16:creationId xmlns:a16="http://schemas.microsoft.com/office/drawing/2014/main" id="{36A683D0-0A19-A2AC-D255-F234FDC686D0}"/>
              </a:ext>
            </a:extLst>
          </p:cNvPr>
          <p:cNvSpPr/>
          <p:nvPr/>
        </p:nvSpPr>
        <p:spPr>
          <a:xfrm>
            <a:off x="2454645" y="2251162"/>
            <a:ext cx="164176" cy="180754"/>
          </a:xfrm>
          <a:prstGeom prst="mathPlus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1A9003-559C-F521-1DBF-CEB80BF49D5D}"/>
              </a:ext>
            </a:extLst>
          </p:cNvPr>
          <p:cNvSpPr txBox="1"/>
          <p:nvPr/>
        </p:nvSpPr>
        <p:spPr>
          <a:xfrm>
            <a:off x="1264596" y="2475629"/>
            <a:ext cx="8405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rgbClr val="FF0000"/>
                </a:solidFill>
              </a:rPr>
              <a:t>Hot Rod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D702F7-372F-FFDE-AD39-3CB75569F9FD}"/>
              </a:ext>
            </a:extLst>
          </p:cNvPr>
          <p:cNvSpPr txBox="1"/>
          <p:nvPr/>
        </p:nvSpPr>
        <p:spPr>
          <a:xfrm>
            <a:off x="3015574" y="2470705"/>
            <a:ext cx="50000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>
                <a:solidFill>
                  <a:srgbClr val="0070C0"/>
                </a:solidFill>
              </a:rPr>
              <a:t>Cold Rod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7C2F98-D38F-558E-38FF-9442CECCE084}"/>
              </a:ext>
            </a:extLst>
          </p:cNvPr>
          <p:cNvSpPr txBox="1"/>
          <p:nvPr/>
        </p:nvSpPr>
        <p:spPr>
          <a:xfrm>
            <a:off x="7511183" y="5104102"/>
            <a:ext cx="16328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Wikipedia &amp; 3b1b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8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206D8A0F-69A1-0629-BF6B-149C8A1AD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aafff6c63_1_7">
            <a:extLst>
              <a:ext uri="{FF2B5EF4-FFF2-40B4-BE49-F238E27FC236}">
                <a16:creationId xmlns:a16="http://schemas.microsoft.com/office/drawing/2014/main" id="{38D25EE1-9129-1C43-BFA7-BB10CFDD45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80526" y="6571476"/>
            <a:ext cx="17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67" name="Google Shape;67;g3daafff6c63_1_7">
            <a:extLst>
              <a:ext uri="{FF2B5EF4-FFF2-40B4-BE49-F238E27FC236}">
                <a16:creationId xmlns:a16="http://schemas.microsoft.com/office/drawing/2014/main" id="{BC7E2A98-54A4-1482-70C6-B3E1F249171A}"/>
              </a:ext>
            </a:extLst>
          </p:cNvPr>
          <p:cNvSpPr txBox="1"/>
          <p:nvPr/>
        </p:nvSpPr>
        <p:spPr>
          <a:xfrm>
            <a:off x="374999" y="223284"/>
            <a:ext cx="8394002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</a:rPr>
              <a:t>Cardiac Conduction Is a Reaction Diffusion System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1281B2-7103-170F-21D1-94F088FB7F2A}"/>
              </a:ext>
            </a:extLst>
          </p:cNvPr>
          <p:cNvSpPr txBox="1"/>
          <p:nvPr/>
        </p:nvSpPr>
        <p:spPr>
          <a:xfrm>
            <a:off x="3357432" y="1451674"/>
            <a:ext cx="30090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1ADB3C-1661-63CA-B4B4-02CC44A8305E}"/>
              </a:ext>
            </a:extLst>
          </p:cNvPr>
          <p:cNvSpPr txBox="1"/>
          <p:nvPr/>
        </p:nvSpPr>
        <p:spPr>
          <a:xfrm>
            <a:off x="275000" y="956898"/>
            <a:ext cx="46665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Cell-Based Ionic Flow Governed By Ionic Channels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9B216D-3847-0DCF-BA03-9B0852986CFB}"/>
              </a:ext>
            </a:extLst>
          </p:cNvPr>
          <p:cNvSpPr txBox="1"/>
          <p:nvPr/>
        </p:nvSpPr>
        <p:spPr>
          <a:xfrm>
            <a:off x="4813250" y="95689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Inter-Cell Flow Can be Modeled by Diffusion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1F9756-1D14-E761-8682-5CB5D4CE3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36" y="1427244"/>
            <a:ext cx="3807540" cy="180306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36AB7636-C8E4-1E59-A4A1-A95E19BEA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327" y="3392874"/>
            <a:ext cx="3885157" cy="2126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F851BD-DF92-E055-A377-E0CC7FB504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9342" y="1342033"/>
            <a:ext cx="4317815" cy="20096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D85A1C0-0D16-4EF5-50CD-DF53B636705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2219"/>
          <a:stretch>
            <a:fillRect/>
          </a:stretch>
        </p:blipFill>
        <p:spPr>
          <a:xfrm>
            <a:off x="4813250" y="3429000"/>
            <a:ext cx="4069956" cy="200960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AB46083-0D24-50CE-B52C-EB532EC8B793}"/>
              </a:ext>
            </a:extLst>
          </p:cNvPr>
          <p:cNvSpPr txBox="1"/>
          <p:nvPr/>
        </p:nvSpPr>
        <p:spPr>
          <a:xfrm>
            <a:off x="1674515" y="5661488"/>
            <a:ext cx="14566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Reaction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3512B0-8A2C-FE5E-DB4F-76912F724092}"/>
              </a:ext>
            </a:extLst>
          </p:cNvPr>
          <p:cNvSpPr txBox="1"/>
          <p:nvPr/>
        </p:nvSpPr>
        <p:spPr>
          <a:xfrm>
            <a:off x="4447484" y="5661487"/>
            <a:ext cx="47740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/>
              <a:t>Diffusion</a:t>
            </a:r>
          </a:p>
          <a:p>
            <a:pPr algn="ctr"/>
            <a:endParaRPr lang="en-US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FCBC14DE-8351-CEA4-011B-EE2AC0044C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763" y="5923097"/>
            <a:ext cx="3885158" cy="63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4C4CF1F-B093-AFDC-E688-4748EA0D551F}"/>
              </a:ext>
            </a:extLst>
          </p:cNvPr>
          <p:cNvSpPr txBox="1"/>
          <p:nvPr/>
        </p:nvSpPr>
        <p:spPr>
          <a:xfrm>
            <a:off x="2282545" y="6417587"/>
            <a:ext cx="46935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/>
              <a:t>Cardiac Reaction-Diffusion Equation</a:t>
            </a:r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0AA649-DC3F-E530-EFD1-9B1B4C02181D}"/>
              </a:ext>
            </a:extLst>
          </p:cNvPr>
          <p:cNvSpPr txBox="1"/>
          <p:nvPr/>
        </p:nvSpPr>
        <p:spPr>
          <a:xfrm>
            <a:off x="6900627" y="5414242"/>
            <a:ext cx="46966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AlilaMedicalMedia &amp; Wikipedia</a:t>
            </a:r>
          </a:p>
        </p:txBody>
      </p:sp>
    </p:spTree>
    <p:extLst>
      <p:ext uri="{BB962C8B-B14F-4D97-AF65-F5344CB8AC3E}">
        <p14:creationId xmlns:p14="http://schemas.microsoft.com/office/powerpoint/2010/main" val="3637000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ad5127776_0_483"/>
          <p:cNvSpPr txBox="1">
            <a:spLocks noGrp="1"/>
          </p:cNvSpPr>
          <p:nvPr>
            <p:ph type="sldNum" idx="12"/>
          </p:nvPr>
        </p:nvSpPr>
        <p:spPr>
          <a:xfrm>
            <a:off x="8780526" y="6571476"/>
            <a:ext cx="17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73" name="Google Shape;73;g3dad5127776_0_483"/>
          <p:cNvSpPr txBox="1"/>
          <p:nvPr/>
        </p:nvSpPr>
        <p:spPr>
          <a:xfrm>
            <a:off x="447300" y="123138"/>
            <a:ext cx="86967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</a:rPr>
              <a:t>Cardiac Conduction is Also Discrete Diffusion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74" name="Google Shape;74;g3dad5127776_0_483"/>
          <p:cNvSpPr txBox="1"/>
          <p:nvPr/>
        </p:nvSpPr>
        <p:spPr>
          <a:xfrm>
            <a:off x="9665825" y="3876275"/>
            <a:ext cx="16026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1E5167-EAD3-583D-2079-14B266E47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59" y="1856495"/>
            <a:ext cx="3554153" cy="43372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B6C5DC2-EFCD-3434-5C35-74FDFB7920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5405"/>
          <a:stretch>
            <a:fillRect/>
          </a:stretch>
        </p:blipFill>
        <p:spPr>
          <a:xfrm>
            <a:off x="4646430" y="1782067"/>
            <a:ext cx="4316823" cy="256000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345EE29-20E4-895C-5C50-81403D537647}"/>
              </a:ext>
            </a:extLst>
          </p:cNvPr>
          <p:cNvSpPr txBox="1"/>
          <p:nvPr/>
        </p:nvSpPr>
        <p:spPr>
          <a:xfrm>
            <a:off x="592545" y="1474290"/>
            <a:ext cx="5635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Isochrone of Vm During Cardiac Conduction 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143B7A-E6B7-EF37-9621-93FCD85414E0}"/>
              </a:ext>
            </a:extLst>
          </p:cNvPr>
          <p:cNvSpPr txBox="1"/>
          <p:nvPr/>
        </p:nvSpPr>
        <p:spPr>
          <a:xfrm>
            <a:off x="4777899" y="1474290"/>
            <a:ext cx="5635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Heat Transfer Simulation of Square Plate </a:t>
            </a:r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8DD3BA-A35B-7E96-578D-D7E167832196}"/>
              </a:ext>
            </a:extLst>
          </p:cNvPr>
          <p:cNvSpPr txBox="1"/>
          <p:nvPr/>
        </p:nvSpPr>
        <p:spPr>
          <a:xfrm>
            <a:off x="4949460" y="4168325"/>
            <a:ext cx="37107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Cardiomyocytes are connected by gap junctions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Solutions to Vm inside cells are relatively smooth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Solutions to diffusion between cells are complex and discrete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/>
          </a:p>
          <a:p>
            <a:r>
              <a:rPr lang="en-US" b="1"/>
              <a:t>Issue: Heat Equation simulation always smooth out solutions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4A2C0D-847F-A90E-F27C-B76A4C12196F}"/>
              </a:ext>
            </a:extLst>
          </p:cNvPr>
          <p:cNvSpPr txBox="1"/>
          <p:nvPr/>
        </p:nvSpPr>
        <p:spPr>
          <a:xfrm>
            <a:off x="591584" y="1092085"/>
            <a:ext cx="79608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Hi-res cardiac conductions are segmented and non-globally smooth </a:t>
            </a:r>
            <a:endParaRPr lang="en-US" sz="1400" b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93B905-B02A-186A-9CBB-339DD2E495B1}"/>
              </a:ext>
            </a:extLst>
          </p:cNvPr>
          <p:cNvSpPr txBox="1"/>
          <p:nvPr/>
        </p:nvSpPr>
        <p:spPr>
          <a:xfrm>
            <a:off x="2769920" y="6193767"/>
            <a:ext cx="5634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Rohr et al., 2017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D76CB0DB-7085-8271-3E30-529565760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ad5127776_0_483">
            <a:extLst>
              <a:ext uri="{FF2B5EF4-FFF2-40B4-BE49-F238E27FC236}">
                <a16:creationId xmlns:a16="http://schemas.microsoft.com/office/drawing/2014/main" id="{EC61A88F-586D-E6BC-57D2-34CE1EF6B8E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80526" y="6571476"/>
            <a:ext cx="17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73" name="Google Shape;73;g3dad5127776_0_483">
            <a:extLst>
              <a:ext uri="{FF2B5EF4-FFF2-40B4-BE49-F238E27FC236}">
                <a16:creationId xmlns:a16="http://schemas.microsoft.com/office/drawing/2014/main" id="{D15515E6-E70E-25AC-2A32-C0B3FF1A2349}"/>
              </a:ext>
            </a:extLst>
          </p:cNvPr>
          <p:cNvSpPr txBox="1"/>
          <p:nvPr/>
        </p:nvSpPr>
        <p:spPr>
          <a:xfrm>
            <a:off x="447300" y="123138"/>
            <a:ext cx="86967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 b="1">
                <a:solidFill>
                  <a:schemeClr val="lt1"/>
                </a:solidFill>
              </a:rPr>
              <a:t>Source Sink Mismatch and Wavefront Curvature</a:t>
            </a:r>
            <a:endParaRPr sz="2750">
              <a:solidFill>
                <a:schemeClr val="lt1"/>
              </a:solidFill>
            </a:endParaRPr>
          </a:p>
        </p:txBody>
      </p:sp>
      <p:sp>
        <p:nvSpPr>
          <p:cNvPr id="74" name="Google Shape;74;g3dad5127776_0_483">
            <a:extLst>
              <a:ext uri="{FF2B5EF4-FFF2-40B4-BE49-F238E27FC236}">
                <a16:creationId xmlns:a16="http://schemas.microsoft.com/office/drawing/2014/main" id="{99E7DD5B-E05A-650B-989C-0D5CCA1E4CCA}"/>
              </a:ext>
            </a:extLst>
          </p:cNvPr>
          <p:cNvSpPr txBox="1"/>
          <p:nvPr/>
        </p:nvSpPr>
        <p:spPr>
          <a:xfrm>
            <a:off x="9665825" y="3876275"/>
            <a:ext cx="16026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46A0C4-D756-E37B-038A-ED22DFAEB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721" y="1521080"/>
            <a:ext cx="6040342" cy="26712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4910B8-8E4B-AE49-D18D-FA2F316828C9}"/>
              </a:ext>
            </a:extLst>
          </p:cNvPr>
          <p:cNvSpPr txBox="1"/>
          <p:nvPr/>
        </p:nvSpPr>
        <p:spPr>
          <a:xfrm>
            <a:off x="7645629" y="4024802"/>
            <a:ext cx="2764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Ciaccio et al., 2017</a:t>
            </a:r>
          </a:p>
        </p:txBody>
      </p:sp>
      <p:sp>
        <p:nvSpPr>
          <p:cNvPr id="7" name="Google Shape;78;g3dad5127776_0_483">
            <a:extLst>
              <a:ext uri="{FF2B5EF4-FFF2-40B4-BE49-F238E27FC236}">
                <a16:creationId xmlns:a16="http://schemas.microsoft.com/office/drawing/2014/main" id="{351635B0-1497-E3C7-219E-1CF379D138BB}"/>
              </a:ext>
            </a:extLst>
          </p:cNvPr>
          <p:cNvSpPr/>
          <p:nvPr/>
        </p:nvSpPr>
        <p:spPr>
          <a:xfrm>
            <a:off x="5537638" y="5444473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79;g3dad5127776_0_483">
            <a:extLst>
              <a:ext uri="{FF2B5EF4-FFF2-40B4-BE49-F238E27FC236}">
                <a16:creationId xmlns:a16="http://schemas.microsoft.com/office/drawing/2014/main" id="{E37A4C30-1E3B-2206-8219-72CE8C71E532}"/>
              </a:ext>
            </a:extLst>
          </p:cNvPr>
          <p:cNvSpPr/>
          <p:nvPr/>
        </p:nvSpPr>
        <p:spPr>
          <a:xfrm>
            <a:off x="5543771" y="4965632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80;g3dad5127776_0_483">
            <a:extLst>
              <a:ext uri="{FF2B5EF4-FFF2-40B4-BE49-F238E27FC236}">
                <a16:creationId xmlns:a16="http://schemas.microsoft.com/office/drawing/2014/main" id="{E2D78A93-A582-9AF9-E5A5-0AF54A66F010}"/>
              </a:ext>
            </a:extLst>
          </p:cNvPr>
          <p:cNvSpPr/>
          <p:nvPr/>
        </p:nvSpPr>
        <p:spPr>
          <a:xfrm>
            <a:off x="6032830" y="5444473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81;g3dad5127776_0_483">
            <a:extLst>
              <a:ext uri="{FF2B5EF4-FFF2-40B4-BE49-F238E27FC236}">
                <a16:creationId xmlns:a16="http://schemas.microsoft.com/office/drawing/2014/main" id="{C2EF1AFE-B38E-6B10-CABF-C323BEA8DC10}"/>
              </a:ext>
            </a:extLst>
          </p:cNvPr>
          <p:cNvSpPr/>
          <p:nvPr/>
        </p:nvSpPr>
        <p:spPr>
          <a:xfrm>
            <a:off x="6032830" y="4965632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82;g3dad5127776_0_483">
            <a:extLst>
              <a:ext uri="{FF2B5EF4-FFF2-40B4-BE49-F238E27FC236}">
                <a16:creationId xmlns:a16="http://schemas.microsoft.com/office/drawing/2014/main" id="{C6371F02-674C-4C9E-5E0A-8A68A9559D8A}"/>
              </a:ext>
            </a:extLst>
          </p:cNvPr>
          <p:cNvSpPr/>
          <p:nvPr/>
        </p:nvSpPr>
        <p:spPr>
          <a:xfrm>
            <a:off x="6032830" y="5927419"/>
            <a:ext cx="375000" cy="365400"/>
          </a:xfrm>
          <a:prstGeom prst="rect">
            <a:avLst/>
          </a:prstGeom>
          <a:solidFill>
            <a:schemeClr val="accen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83;g3dad5127776_0_483">
            <a:extLst>
              <a:ext uri="{FF2B5EF4-FFF2-40B4-BE49-F238E27FC236}">
                <a16:creationId xmlns:a16="http://schemas.microsoft.com/office/drawing/2014/main" id="{C18AB991-CE64-BE81-FFF0-940F50ED84AB}"/>
              </a:ext>
            </a:extLst>
          </p:cNvPr>
          <p:cNvSpPr/>
          <p:nvPr/>
        </p:nvSpPr>
        <p:spPr>
          <a:xfrm>
            <a:off x="5537638" y="5927419"/>
            <a:ext cx="375000" cy="365400"/>
          </a:xfrm>
          <a:prstGeom prst="rect">
            <a:avLst/>
          </a:prstGeom>
          <a:solidFill>
            <a:schemeClr val="accen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4;g3dad5127776_0_483">
            <a:extLst>
              <a:ext uri="{FF2B5EF4-FFF2-40B4-BE49-F238E27FC236}">
                <a16:creationId xmlns:a16="http://schemas.microsoft.com/office/drawing/2014/main" id="{8A7FBA8F-28F6-EA32-FC57-3979610B60E8}"/>
              </a:ext>
            </a:extLst>
          </p:cNvPr>
          <p:cNvSpPr/>
          <p:nvPr/>
        </p:nvSpPr>
        <p:spPr>
          <a:xfrm>
            <a:off x="5042445" y="5927419"/>
            <a:ext cx="375000" cy="365400"/>
          </a:xfrm>
          <a:prstGeom prst="rect">
            <a:avLst/>
          </a:prstGeom>
          <a:solidFill>
            <a:schemeClr val="accen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85;g3dad5127776_0_483">
            <a:extLst>
              <a:ext uri="{FF2B5EF4-FFF2-40B4-BE49-F238E27FC236}">
                <a16:creationId xmlns:a16="http://schemas.microsoft.com/office/drawing/2014/main" id="{C21E1F54-5ED5-15BB-CFC4-90C1FC80DA1A}"/>
              </a:ext>
            </a:extLst>
          </p:cNvPr>
          <p:cNvSpPr/>
          <p:nvPr/>
        </p:nvSpPr>
        <p:spPr>
          <a:xfrm>
            <a:off x="5054701" y="5444473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86;g3dad5127776_0_483">
            <a:extLst>
              <a:ext uri="{FF2B5EF4-FFF2-40B4-BE49-F238E27FC236}">
                <a16:creationId xmlns:a16="http://schemas.microsoft.com/office/drawing/2014/main" id="{A867EEDB-D6B2-FAA4-DDE4-03EDFEF46B76}"/>
              </a:ext>
            </a:extLst>
          </p:cNvPr>
          <p:cNvSpPr/>
          <p:nvPr/>
        </p:nvSpPr>
        <p:spPr>
          <a:xfrm>
            <a:off x="5054701" y="4965632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85;g3dad5127776_0_483">
            <a:extLst>
              <a:ext uri="{FF2B5EF4-FFF2-40B4-BE49-F238E27FC236}">
                <a16:creationId xmlns:a16="http://schemas.microsoft.com/office/drawing/2014/main" id="{FC0DC9B4-E229-5C72-299F-36BDAB983C93}"/>
              </a:ext>
            </a:extLst>
          </p:cNvPr>
          <p:cNvSpPr/>
          <p:nvPr/>
        </p:nvSpPr>
        <p:spPr>
          <a:xfrm>
            <a:off x="4581646" y="5438969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85;g3dad5127776_0_483">
            <a:extLst>
              <a:ext uri="{FF2B5EF4-FFF2-40B4-BE49-F238E27FC236}">
                <a16:creationId xmlns:a16="http://schemas.microsoft.com/office/drawing/2014/main" id="{5A8E9294-33F4-3F73-A6D1-33F3A06F3739}"/>
              </a:ext>
            </a:extLst>
          </p:cNvPr>
          <p:cNvSpPr/>
          <p:nvPr/>
        </p:nvSpPr>
        <p:spPr>
          <a:xfrm>
            <a:off x="4585951" y="4971520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" name="Google Shape;100;g3dad5127776_0_483">
            <a:extLst>
              <a:ext uri="{FF2B5EF4-FFF2-40B4-BE49-F238E27FC236}">
                <a16:creationId xmlns:a16="http://schemas.microsoft.com/office/drawing/2014/main" id="{C11BDDD7-E982-DE38-2F6A-5894954A8AB2}"/>
              </a:ext>
            </a:extLst>
          </p:cNvPr>
          <p:cNvCxnSpPr>
            <a:cxnSpLocks/>
          </p:cNvCxnSpPr>
          <p:nvPr/>
        </p:nvCxnSpPr>
        <p:spPr>
          <a:xfrm flipV="1">
            <a:off x="5242201" y="5496660"/>
            <a:ext cx="0" cy="428684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" name="Google Shape;100;g3dad5127776_0_483">
            <a:extLst>
              <a:ext uri="{FF2B5EF4-FFF2-40B4-BE49-F238E27FC236}">
                <a16:creationId xmlns:a16="http://schemas.microsoft.com/office/drawing/2014/main" id="{76A7887A-12F9-E0F0-D286-7EA8523EF07D}"/>
              </a:ext>
            </a:extLst>
          </p:cNvPr>
          <p:cNvCxnSpPr>
            <a:cxnSpLocks/>
          </p:cNvCxnSpPr>
          <p:nvPr/>
        </p:nvCxnSpPr>
        <p:spPr>
          <a:xfrm flipV="1">
            <a:off x="5725138" y="5496660"/>
            <a:ext cx="0" cy="428684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" name="Google Shape;100;g3dad5127776_0_483">
            <a:extLst>
              <a:ext uri="{FF2B5EF4-FFF2-40B4-BE49-F238E27FC236}">
                <a16:creationId xmlns:a16="http://schemas.microsoft.com/office/drawing/2014/main" id="{D703F0D5-EAA4-3FDB-3E3B-A5745E9350D9}"/>
              </a:ext>
            </a:extLst>
          </p:cNvPr>
          <p:cNvCxnSpPr>
            <a:cxnSpLocks/>
          </p:cNvCxnSpPr>
          <p:nvPr/>
        </p:nvCxnSpPr>
        <p:spPr>
          <a:xfrm flipV="1">
            <a:off x="6220330" y="5496660"/>
            <a:ext cx="0" cy="428684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8" name="Google Shape;78;g3dad5127776_0_483">
            <a:extLst>
              <a:ext uri="{FF2B5EF4-FFF2-40B4-BE49-F238E27FC236}">
                <a16:creationId xmlns:a16="http://schemas.microsoft.com/office/drawing/2014/main" id="{2D3DD150-8551-2AFC-B7A2-EB4C48B9B3AA}"/>
              </a:ext>
            </a:extLst>
          </p:cNvPr>
          <p:cNvSpPr/>
          <p:nvPr/>
        </p:nvSpPr>
        <p:spPr>
          <a:xfrm>
            <a:off x="7819328" y="5444473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79;g3dad5127776_0_483">
            <a:extLst>
              <a:ext uri="{FF2B5EF4-FFF2-40B4-BE49-F238E27FC236}">
                <a16:creationId xmlns:a16="http://schemas.microsoft.com/office/drawing/2014/main" id="{1F7392E0-15C6-7A9D-513E-8D57F754993B}"/>
              </a:ext>
            </a:extLst>
          </p:cNvPr>
          <p:cNvSpPr/>
          <p:nvPr/>
        </p:nvSpPr>
        <p:spPr>
          <a:xfrm>
            <a:off x="7825461" y="4965632"/>
            <a:ext cx="375000" cy="365400"/>
          </a:xfrm>
          <a:prstGeom prst="rect">
            <a:avLst/>
          </a:prstGeom>
          <a:solidFill>
            <a:srgbClr val="FFFF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80;g3dad5127776_0_483">
            <a:extLst>
              <a:ext uri="{FF2B5EF4-FFF2-40B4-BE49-F238E27FC236}">
                <a16:creationId xmlns:a16="http://schemas.microsoft.com/office/drawing/2014/main" id="{55488185-4BF7-6A11-F228-ACC8DCAFAC37}"/>
              </a:ext>
            </a:extLst>
          </p:cNvPr>
          <p:cNvSpPr/>
          <p:nvPr/>
        </p:nvSpPr>
        <p:spPr>
          <a:xfrm>
            <a:off x="8314520" y="5444473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81;g3dad5127776_0_483">
            <a:extLst>
              <a:ext uri="{FF2B5EF4-FFF2-40B4-BE49-F238E27FC236}">
                <a16:creationId xmlns:a16="http://schemas.microsoft.com/office/drawing/2014/main" id="{24F3D875-6153-FE94-B340-E7EFA32F5082}"/>
              </a:ext>
            </a:extLst>
          </p:cNvPr>
          <p:cNvSpPr/>
          <p:nvPr/>
        </p:nvSpPr>
        <p:spPr>
          <a:xfrm>
            <a:off x="8314520" y="4965632"/>
            <a:ext cx="375000" cy="365400"/>
          </a:xfrm>
          <a:prstGeom prst="rect">
            <a:avLst/>
          </a:prstGeom>
          <a:solidFill>
            <a:srgbClr val="FFFF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82;g3dad5127776_0_483">
            <a:extLst>
              <a:ext uri="{FF2B5EF4-FFF2-40B4-BE49-F238E27FC236}">
                <a16:creationId xmlns:a16="http://schemas.microsoft.com/office/drawing/2014/main" id="{968DC679-41E7-C856-A5B4-495805AC29C2}"/>
              </a:ext>
            </a:extLst>
          </p:cNvPr>
          <p:cNvSpPr/>
          <p:nvPr/>
        </p:nvSpPr>
        <p:spPr>
          <a:xfrm>
            <a:off x="8314520" y="5927419"/>
            <a:ext cx="375000" cy="365400"/>
          </a:xfrm>
          <a:prstGeom prst="rect">
            <a:avLst/>
          </a:prstGeom>
          <a:solidFill>
            <a:schemeClr val="accen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83;g3dad5127776_0_483">
            <a:extLst>
              <a:ext uri="{FF2B5EF4-FFF2-40B4-BE49-F238E27FC236}">
                <a16:creationId xmlns:a16="http://schemas.microsoft.com/office/drawing/2014/main" id="{9905FDCD-8C51-A595-9787-5869913B6600}"/>
              </a:ext>
            </a:extLst>
          </p:cNvPr>
          <p:cNvSpPr/>
          <p:nvPr/>
        </p:nvSpPr>
        <p:spPr>
          <a:xfrm>
            <a:off x="7819328" y="5927419"/>
            <a:ext cx="375000" cy="365400"/>
          </a:xfrm>
          <a:prstGeom prst="rect">
            <a:avLst/>
          </a:prstGeom>
          <a:solidFill>
            <a:schemeClr val="accen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84;g3dad5127776_0_483">
            <a:extLst>
              <a:ext uri="{FF2B5EF4-FFF2-40B4-BE49-F238E27FC236}">
                <a16:creationId xmlns:a16="http://schemas.microsoft.com/office/drawing/2014/main" id="{E2E26B9A-F38A-205D-A71E-6FE0708A165A}"/>
              </a:ext>
            </a:extLst>
          </p:cNvPr>
          <p:cNvSpPr/>
          <p:nvPr/>
        </p:nvSpPr>
        <p:spPr>
          <a:xfrm>
            <a:off x="7324135" y="5927419"/>
            <a:ext cx="375000" cy="365400"/>
          </a:xfrm>
          <a:prstGeom prst="rect">
            <a:avLst/>
          </a:prstGeom>
          <a:solidFill>
            <a:schemeClr val="accen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85;g3dad5127776_0_483">
            <a:extLst>
              <a:ext uri="{FF2B5EF4-FFF2-40B4-BE49-F238E27FC236}">
                <a16:creationId xmlns:a16="http://schemas.microsoft.com/office/drawing/2014/main" id="{1159B60F-A602-0591-82A2-27E0F8B658B7}"/>
              </a:ext>
            </a:extLst>
          </p:cNvPr>
          <p:cNvSpPr/>
          <p:nvPr/>
        </p:nvSpPr>
        <p:spPr>
          <a:xfrm>
            <a:off x="7336391" y="5444473"/>
            <a:ext cx="375000" cy="365400"/>
          </a:xfrm>
          <a:prstGeom prst="rect">
            <a:avLst/>
          </a:prstGeom>
          <a:solidFill>
            <a:srgbClr val="FFFF00"/>
          </a:solidFill>
          <a:ln w="8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86;g3dad5127776_0_483">
            <a:extLst>
              <a:ext uri="{FF2B5EF4-FFF2-40B4-BE49-F238E27FC236}">
                <a16:creationId xmlns:a16="http://schemas.microsoft.com/office/drawing/2014/main" id="{EDA048EB-E3C5-B907-AE0E-60435526374A}"/>
              </a:ext>
            </a:extLst>
          </p:cNvPr>
          <p:cNvSpPr/>
          <p:nvPr/>
        </p:nvSpPr>
        <p:spPr>
          <a:xfrm>
            <a:off x="7336391" y="4965632"/>
            <a:ext cx="375000" cy="365400"/>
          </a:xfrm>
          <a:prstGeom prst="rect">
            <a:avLst/>
          </a:prstGeom>
          <a:solidFill>
            <a:srgbClr val="92D05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5;g3dad5127776_0_483">
            <a:extLst>
              <a:ext uri="{FF2B5EF4-FFF2-40B4-BE49-F238E27FC236}">
                <a16:creationId xmlns:a16="http://schemas.microsoft.com/office/drawing/2014/main" id="{D2F8AD3C-A1D4-7A5D-1995-11EF542B478B}"/>
              </a:ext>
            </a:extLst>
          </p:cNvPr>
          <p:cNvSpPr/>
          <p:nvPr/>
        </p:nvSpPr>
        <p:spPr>
          <a:xfrm>
            <a:off x="6863336" y="5438969"/>
            <a:ext cx="375000" cy="365400"/>
          </a:xfrm>
          <a:prstGeom prst="rect">
            <a:avLst/>
          </a:prstGeom>
          <a:solidFill>
            <a:srgbClr val="92D05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5;g3dad5127776_0_483">
            <a:extLst>
              <a:ext uri="{FF2B5EF4-FFF2-40B4-BE49-F238E27FC236}">
                <a16:creationId xmlns:a16="http://schemas.microsoft.com/office/drawing/2014/main" id="{9A320D4B-A10B-8E15-987C-7187041FE0A0}"/>
              </a:ext>
            </a:extLst>
          </p:cNvPr>
          <p:cNvSpPr/>
          <p:nvPr/>
        </p:nvSpPr>
        <p:spPr>
          <a:xfrm>
            <a:off x="6867641" y="4971520"/>
            <a:ext cx="375000" cy="365400"/>
          </a:xfrm>
          <a:prstGeom prst="rect">
            <a:avLst/>
          </a:prstGeom>
          <a:solidFill>
            <a:schemeClr val="tx2">
              <a:lumMod val="90000"/>
            </a:schemeClr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106;g3dad5127776_0_483">
            <a:extLst>
              <a:ext uri="{FF2B5EF4-FFF2-40B4-BE49-F238E27FC236}">
                <a16:creationId xmlns:a16="http://schemas.microsoft.com/office/drawing/2014/main" id="{4DCD4888-FD83-416F-F2A5-71CE66231CC3}"/>
              </a:ext>
            </a:extLst>
          </p:cNvPr>
          <p:cNvCxnSpPr>
            <a:cxnSpLocks/>
          </p:cNvCxnSpPr>
          <p:nvPr/>
        </p:nvCxnSpPr>
        <p:spPr>
          <a:xfrm flipH="1" flipV="1">
            <a:off x="7176520" y="5301010"/>
            <a:ext cx="154209" cy="149351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" name="Google Shape;100;g3dad5127776_0_483">
            <a:extLst>
              <a:ext uri="{FF2B5EF4-FFF2-40B4-BE49-F238E27FC236}">
                <a16:creationId xmlns:a16="http://schemas.microsoft.com/office/drawing/2014/main" id="{CCCD20EE-F890-BD95-6D94-AE2D8B8AD77A}"/>
              </a:ext>
            </a:extLst>
          </p:cNvPr>
          <p:cNvCxnSpPr>
            <a:cxnSpLocks/>
          </p:cNvCxnSpPr>
          <p:nvPr/>
        </p:nvCxnSpPr>
        <p:spPr>
          <a:xfrm flipH="1" flipV="1">
            <a:off x="7076006" y="5628265"/>
            <a:ext cx="270267" cy="4567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" name="Google Shape;100;g3dad5127776_0_483">
            <a:extLst>
              <a:ext uri="{FF2B5EF4-FFF2-40B4-BE49-F238E27FC236}">
                <a16:creationId xmlns:a16="http://schemas.microsoft.com/office/drawing/2014/main" id="{022BD92A-1954-21B9-35CB-9AC4A9F5E80F}"/>
              </a:ext>
            </a:extLst>
          </p:cNvPr>
          <p:cNvCxnSpPr>
            <a:cxnSpLocks/>
          </p:cNvCxnSpPr>
          <p:nvPr/>
        </p:nvCxnSpPr>
        <p:spPr>
          <a:xfrm flipV="1">
            <a:off x="7523891" y="5202998"/>
            <a:ext cx="0" cy="242829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7" name="Google Shape;100;g3dad5127776_0_483">
            <a:extLst>
              <a:ext uri="{FF2B5EF4-FFF2-40B4-BE49-F238E27FC236}">
                <a16:creationId xmlns:a16="http://schemas.microsoft.com/office/drawing/2014/main" id="{503CF547-7968-9C8F-4A9A-EC94BB5280A7}"/>
              </a:ext>
            </a:extLst>
          </p:cNvPr>
          <p:cNvCxnSpPr>
            <a:cxnSpLocks/>
          </p:cNvCxnSpPr>
          <p:nvPr/>
        </p:nvCxnSpPr>
        <p:spPr>
          <a:xfrm flipV="1">
            <a:off x="8006828" y="5017143"/>
            <a:ext cx="0" cy="428684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9" name="Google Shape;100;g3dad5127776_0_483">
            <a:extLst>
              <a:ext uri="{FF2B5EF4-FFF2-40B4-BE49-F238E27FC236}">
                <a16:creationId xmlns:a16="http://schemas.microsoft.com/office/drawing/2014/main" id="{E4B6D7AF-3562-3D0D-3B46-984786800FB9}"/>
              </a:ext>
            </a:extLst>
          </p:cNvPr>
          <p:cNvCxnSpPr>
            <a:cxnSpLocks/>
          </p:cNvCxnSpPr>
          <p:nvPr/>
        </p:nvCxnSpPr>
        <p:spPr>
          <a:xfrm flipV="1">
            <a:off x="8502020" y="5017143"/>
            <a:ext cx="0" cy="428684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" name="Google Shape;79;g3dad5127776_0_483">
            <a:extLst>
              <a:ext uri="{FF2B5EF4-FFF2-40B4-BE49-F238E27FC236}">
                <a16:creationId xmlns:a16="http://schemas.microsoft.com/office/drawing/2014/main" id="{E547BFA3-616E-64B9-E1B7-D691F1D25939}"/>
              </a:ext>
            </a:extLst>
          </p:cNvPr>
          <p:cNvSpPr/>
          <p:nvPr/>
        </p:nvSpPr>
        <p:spPr>
          <a:xfrm>
            <a:off x="5537583" y="4481795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81;g3dad5127776_0_483">
            <a:extLst>
              <a:ext uri="{FF2B5EF4-FFF2-40B4-BE49-F238E27FC236}">
                <a16:creationId xmlns:a16="http://schemas.microsoft.com/office/drawing/2014/main" id="{4D7075C2-135C-BD50-2CDB-3475A7CD66CD}"/>
              </a:ext>
            </a:extLst>
          </p:cNvPr>
          <p:cNvSpPr/>
          <p:nvPr/>
        </p:nvSpPr>
        <p:spPr>
          <a:xfrm>
            <a:off x="6026642" y="4481795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86;g3dad5127776_0_483">
            <a:extLst>
              <a:ext uri="{FF2B5EF4-FFF2-40B4-BE49-F238E27FC236}">
                <a16:creationId xmlns:a16="http://schemas.microsoft.com/office/drawing/2014/main" id="{606D1F34-1BC1-E0EF-3D7C-9F8861C20F66}"/>
              </a:ext>
            </a:extLst>
          </p:cNvPr>
          <p:cNvSpPr/>
          <p:nvPr/>
        </p:nvSpPr>
        <p:spPr>
          <a:xfrm>
            <a:off x="5048513" y="4481795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85;g3dad5127776_0_483">
            <a:extLst>
              <a:ext uri="{FF2B5EF4-FFF2-40B4-BE49-F238E27FC236}">
                <a16:creationId xmlns:a16="http://schemas.microsoft.com/office/drawing/2014/main" id="{F712BA18-36E8-4854-DE5E-26035C4A989E}"/>
              </a:ext>
            </a:extLst>
          </p:cNvPr>
          <p:cNvSpPr/>
          <p:nvPr/>
        </p:nvSpPr>
        <p:spPr>
          <a:xfrm>
            <a:off x="4579763" y="4487683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79;g3dad5127776_0_483">
            <a:extLst>
              <a:ext uri="{FF2B5EF4-FFF2-40B4-BE49-F238E27FC236}">
                <a16:creationId xmlns:a16="http://schemas.microsoft.com/office/drawing/2014/main" id="{541EEDA3-DA76-AA49-F833-DC577455C126}"/>
              </a:ext>
            </a:extLst>
          </p:cNvPr>
          <p:cNvSpPr/>
          <p:nvPr/>
        </p:nvSpPr>
        <p:spPr>
          <a:xfrm>
            <a:off x="7812950" y="4480206"/>
            <a:ext cx="375000" cy="365400"/>
          </a:xfrm>
          <a:prstGeom prst="rect">
            <a:avLst/>
          </a:prstGeom>
          <a:solidFill>
            <a:srgbClr val="92D05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81;g3dad5127776_0_483">
            <a:extLst>
              <a:ext uri="{FF2B5EF4-FFF2-40B4-BE49-F238E27FC236}">
                <a16:creationId xmlns:a16="http://schemas.microsoft.com/office/drawing/2014/main" id="{4B21AEFF-9224-78BB-0617-F650969A38A2}"/>
              </a:ext>
            </a:extLst>
          </p:cNvPr>
          <p:cNvSpPr/>
          <p:nvPr/>
        </p:nvSpPr>
        <p:spPr>
          <a:xfrm>
            <a:off x="8302009" y="4480206"/>
            <a:ext cx="375000" cy="365400"/>
          </a:xfrm>
          <a:prstGeom prst="rect">
            <a:avLst/>
          </a:prstGeom>
          <a:solidFill>
            <a:srgbClr val="92D05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86;g3dad5127776_0_483">
            <a:extLst>
              <a:ext uri="{FF2B5EF4-FFF2-40B4-BE49-F238E27FC236}">
                <a16:creationId xmlns:a16="http://schemas.microsoft.com/office/drawing/2014/main" id="{E7245F29-0FA7-B55C-6F00-B4DD3564C3E5}"/>
              </a:ext>
            </a:extLst>
          </p:cNvPr>
          <p:cNvSpPr/>
          <p:nvPr/>
        </p:nvSpPr>
        <p:spPr>
          <a:xfrm>
            <a:off x="7323880" y="4480206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85;g3dad5127776_0_483">
            <a:extLst>
              <a:ext uri="{FF2B5EF4-FFF2-40B4-BE49-F238E27FC236}">
                <a16:creationId xmlns:a16="http://schemas.microsoft.com/office/drawing/2014/main" id="{F9C4FE03-8B5A-DB3A-D336-007EBC035810}"/>
              </a:ext>
            </a:extLst>
          </p:cNvPr>
          <p:cNvSpPr/>
          <p:nvPr/>
        </p:nvSpPr>
        <p:spPr>
          <a:xfrm>
            <a:off x="6855130" y="4486094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78;g3dad5127776_0_483">
            <a:extLst>
              <a:ext uri="{FF2B5EF4-FFF2-40B4-BE49-F238E27FC236}">
                <a16:creationId xmlns:a16="http://schemas.microsoft.com/office/drawing/2014/main" id="{EAB4CD56-766D-776F-3BAD-4CFE98E13F67}"/>
              </a:ext>
            </a:extLst>
          </p:cNvPr>
          <p:cNvSpPr/>
          <p:nvPr/>
        </p:nvSpPr>
        <p:spPr>
          <a:xfrm>
            <a:off x="1165925" y="5442884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79;g3dad5127776_0_483">
            <a:extLst>
              <a:ext uri="{FF2B5EF4-FFF2-40B4-BE49-F238E27FC236}">
                <a16:creationId xmlns:a16="http://schemas.microsoft.com/office/drawing/2014/main" id="{11C74CAC-C09A-AD83-99E9-C4B794564D91}"/>
              </a:ext>
            </a:extLst>
          </p:cNvPr>
          <p:cNvSpPr/>
          <p:nvPr/>
        </p:nvSpPr>
        <p:spPr>
          <a:xfrm>
            <a:off x="1172058" y="4964043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80;g3dad5127776_0_483">
            <a:extLst>
              <a:ext uri="{FF2B5EF4-FFF2-40B4-BE49-F238E27FC236}">
                <a16:creationId xmlns:a16="http://schemas.microsoft.com/office/drawing/2014/main" id="{84F65C98-CF2A-57E0-F036-0023D00235DD}"/>
              </a:ext>
            </a:extLst>
          </p:cNvPr>
          <p:cNvSpPr/>
          <p:nvPr/>
        </p:nvSpPr>
        <p:spPr>
          <a:xfrm>
            <a:off x="1661117" y="5442884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81;g3dad5127776_0_483">
            <a:extLst>
              <a:ext uri="{FF2B5EF4-FFF2-40B4-BE49-F238E27FC236}">
                <a16:creationId xmlns:a16="http://schemas.microsoft.com/office/drawing/2014/main" id="{276F13C9-37E5-982A-CC03-4F61EF52ACBC}"/>
              </a:ext>
            </a:extLst>
          </p:cNvPr>
          <p:cNvSpPr/>
          <p:nvPr/>
        </p:nvSpPr>
        <p:spPr>
          <a:xfrm>
            <a:off x="1661117" y="4964043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82;g3dad5127776_0_483">
            <a:extLst>
              <a:ext uri="{FF2B5EF4-FFF2-40B4-BE49-F238E27FC236}">
                <a16:creationId xmlns:a16="http://schemas.microsoft.com/office/drawing/2014/main" id="{1EAB9266-F9A5-0552-619D-D35DA36938FC}"/>
              </a:ext>
            </a:extLst>
          </p:cNvPr>
          <p:cNvSpPr/>
          <p:nvPr/>
        </p:nvSpPr>
        <p:spPr>
          <a:xfrm>
            <a:off x="1661117" y="5925830"/>
            <a:ext cx="375000" cy="365400"/>
          </a:xfrm>
          <a:prstGeom prst="rect">
            <a:avLst/>
          </a:prstGeom>
          <a:solidFill>
            <a:schemeClr val="accen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83;g3dad5127776_0_483">
            <a:extLst>
              <a:ext uri="{FF2B5EF4-FFF2-40B4-BE49-F238E27FC236}">
                <a16:creationId xmlns:a16="http://schemas.microsoft.com/office/drawing/2014/main" id="{8F82FB76-09C8-08BE-CA1D-CA984C6EEB0B}"/>
              </a:ext>
            </a:extLst>
          </p:cNvPr>
          <p:cNvSpPr/>
          <p:nvPr/>
        </p:nvSpPr>
        <p:spPr>
          <a:xfrm>
            <a:off x="1165925" y="5925830"/>
            <a:ext cx="375000" cy="365400"/>
          </a:xfrm>
          <a:prstGeom prst="rect">
            <a:avLst/>
          </a:prstGeom>
          <a:solidFill>
            <a:schemeClr val="accen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84;g3dad5127776_0_483">
            <a:extLst>
              <a:ext uri="{FF2B5EF4-FFF2-40B4-BE49-F238E27FC236}">
                <a16:creationId xmlns:a16="http://schemas.microsoft.com/office/drawing/2014/main" id="{CC5B5CD4-D7B3-484B-25C3-F3E6CE7DF333}"/>
              </a:ext>
            </a:extLst>
          </p:cNvPr>
          <p:cNvSpPr/>
          <p:nvPr/>
        </p:nvSpPr>
        <p:spPr>
          <a:xfrm>
            <a:off x="670732" y="5925830"/>
            <a:ext cx="375000" cy="365400"/>
          </a:xfrm>
          <a:prstGeom prst="rect">
            <a:avLst/>
          </a:prstGeom>
          <a:solidFill>
            <a:schemeClr val="accen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85;g3dad5127776_0_483">
            <a:extLst>
              <a:ext uri="{FF2B5EF4-FFF2-40B4-BE49-F238E27FC236}">
                <a16:creationId xmlns:a16="http://schemas.microsoft.com/office/drawing/2014/main" id="{74F2A5AE-E2D4-AC45-D385-4335CEECF1D0}"/>
              </a:ext>
            </a:extLst>
          </p:cNvPr>
          <p:cNvSpPr/>
          <p:nvPr/>
        </p:nvSpPr>
        <p:spPr>
          <a:xfrm>
            <a:off x="682988" y="5442884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86;g3dad5127776_0_483">
            <a:extLst>
              <a:ext uri="{FF2B5EF4-FFF2-40B4-BE49-F238E27FC236}">
                <a16:creationId xmlns:a16="http://schemas.microsoft.com/office/drawing/2014/main" id="{02136BF4-F08F-559E-3AAF-2B0F1F638460}"/>
              </a:ext>
            </a:extLst>
          </p:cNvPr>
          <p:cNvSpPr/>
          <p:nvPr/>
        </p:nvSpPr>
        <p:spPr>
          <a:xfrm>
            <a:off x="682988" y="4964043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0;g3dad5127776_0_483">
            <a:extLst>
              <a:ext uri="{FF2B5EF4-FFF2-40B4-BE49-F238E27FC236}">
                <a16:creationId xmlns:a16="http://schemas.microsoft.com/office/drawing/2014/main" id="{0FB8614C-D431-CCDE-6DE1-64BF1915C362}"/>
              </a:ext>
            </a:extLst>
          </p:cNvPr>
          <p:cNvCxnSpPr>
            <a:cxnSpLocks/>
          </p:cNvCxnSpPr>
          <p:nvPr/>
        </p:nvCxnSpPr>
        <p:spPr>
          <a:xfrm flipV="1">
            <a:off x="870488" y="5495071"/>
            <a:ext cx="0" cy="428684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0" name="Google Shape;100;g3dad5127776_0_483">
            <a:extLst>
              <a:ext uri="{FF2B5EF4-FFF2-40B4-BE49-F238E27FC236}">
                <a16:creationId xmlns:a16="http://schemas.microsoft.com/office/drawing/2014/main" id="{E8ABFDD7-9E58-1067-5E87-43A7C2B1E699}"/>
              </a:ext>
            </a:extLst>
          </p:cNvPr>
          <p:cNvCxnSpPr>
            <a:cxnSpLocks/>
          </p:cNvCxnSpPr>
          <p:nvPr/>
        </p:nvCxnSpPr>
        <p:spPr>
          <a:xfrm flipV="1">
            <a:off x="1353425" y="5495071"/>
            <a:ext cx="0" cy="428684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1" name="Google Shape;100;g3dad5127776_0_483">
            <a:extLst>
              <a:ext uri="{FF2B5EF4-FFF2-40B4-BE49-F238E27FC236}">
                <a16:creationId xmlns:a16="http://schemas.microsoft.com/office/drawing/2014/main" id="{9B551955-55CD-7496-C6DC-DC48F82131CC}"/>
              </a:ext>
            </a:extLst>
          </p:cNvPr>
          <p:cNvCxnSpPr>
            <a:cxnSpLocks/>
          </p:cNvCxnSpPr>
          <p:nvPr/>
        </p:nvCxnSpPr>
        <p:spPr>
          <a:xfrm flipV="1">
            <a:off x="1848617" y="5495071"/>
            <a:ext cx="0" cy="428684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2" name="Google Shape;78;g3dad5127776_0_483">
            <a:extLst>
              <a:ext uri="{FF2B5EF4-FFF2-40B4-BE49-F238E27FC236}">
                <a16:creationId xmlns:a16="http://schemas.microsoft.com/office/drawing/2014/main" id="{E88F8EAE-A5D7-C6B5-83C8-2013244711C0}"/>
              </a:ext>
            </a:extLst>
          </p:cNvPr>
          <p:cNvSpPr/>
          <p:nvPr/>
        </p:nvSpPr>
        <p:spPr>
          <a:xfrm>
            <a:off x="2966903" y="5442884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79;g3dad5127776_0_483">
            <a:extLst>
              <a:ext uri="{FF2B5EF4-FFF2-40B4-BE49-F238E27FC236}">
                <a16:creationId xmlns:a16="http://schemas.microsoft.com/office/drawing/2014/main" id="{875987DE-EBAA-93A6-1B2F-4970CD172D7A}"/>
              </a:ext>
            </a:extLst>
          </p:cNvPr>
          <p:cNvSpPr/>
          <p:nvPr/>
        </p:nvSpPr>
        <p:spPr>
          <a:xfrm>
            <a:off x="2973036" y="4964043"/>
            <a:ext cx="375000" cy="365400"/>
          </a:xfrm>
          <a:prstGeom prst="rect">
            <a:avLst/>
          </a:prstGeom>
          <a:solidFill>
            <a:srgbClr val="FFFF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80;g3dad5127776_0_483">
            <a:extLst>
              <a:ext uri="{FF2B5EF4-FFF2-40B4-BE49-F238E27FC236}">
                <a16:creationId xmlns:a16="http://schemas.microsoft.com/office/drawing/2014/main" id="{ACC8C0AA-DF92-C348-78FB-BA445C587D9E}"/>
              </a:ext>
            </a:extLst>
          </p:cNvPr>
          <p:cNvSpPr/>
          <p:nvPr/>
        </p:nvSpPr>
        <p:spPr>
          <a:xfrm>
            <a:off x="3462095" y="5442884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81;g3dad5127776_0_483">
            <a:extLst>
              <a:ext uri="{FF2B5EF4-FFF2-40B4-BE49-F238E27FC236}">
                <a16:creationId xmlns:a16="http://schemas.microsoft.com/office/drawing/2014/main" id="{B5F3E277-E370-D76B-3408-317D820A4E74}"/>
              </a:ext>
            </a:extLst>
          </p:cNvPr>
          <p:cNvSpPr/>
          <p:nvPr/>
        </p:nvSpPr>
        <p:spPr>
          <a:xfrm>
            <a:off x="3462095" y="4964043"/>
            <a:ext cx="375000" cy="365400"/>
          </a:xfrm>
          <a:prstGeom prst="rect">
            <a:avLst/>
          </a:prstGeom>
          <a:solidFill>
            <a:srgbClr val="FFFF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82;g3dad5127776_0_483">
            <a:extLst>
              <a:ext uri="{FF2B5EF4-FFF2-40B4-BE49-F238E27FC236}">
                <a16:creationId xmlns:a16="http://schemas.microsoft.com/office/drawing/2014/main" id="{8CA6EFC0-47A8-E464-046F-FDD880ABC059}"/>
              </a:ext>
            </a:extLst>
          </p:cNvPr>
          <p:cNvSpPr/>
          <p:nvPr/>
        </p:nvSpPr>
        <p:spPr>
          <a:xfrm>
            <a:off x="3462095" y="5925830"/>
            <a:ext cx="375000" cy="365400"/>
          </a:xfrm>
          <a:prstGeom prst="rect">
            <a:avLst/>
          </a:prstGeom>
          <a:solidFill>
            <a:schemeClr val="accen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83;g3dad5127776_0_483">
            <a:extLst>
              <a:ext uri="{FF2B5EF4-FFF2-40B4-BE49-F238E27FC236}">
                <a16:creationId xmlns:a16="http://schemas.microsoft.com/office/drawing/2014/main" id="{0E228467-0770-6B31-81AD-790E8FE3CB93}"/>
              </a:ext>
            </a:extLst>
          </p:cNvPr>
          <p:cNvSpPr/>
          <p:nvPr/>
        </p:nvSpPr>
        <p:spPr>
          <a:xfrm>
            <a:off x="2966903" y="5925830"/>
            <a:ext cx="375000" cy="365400"/>
          </a:xfrm>
          <a:prstGeom prst="rect">
            <a:avLst/>
          </a:prstGeom>
          <a:solidFill>
            <a:schemeClr val="accen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84;g3dad5127776_0_483">
            <a:extLst>
              <a:ext uri="{FF2B5EF4-FFF2-40B4-BE49-F238E27FC236}">
                <a16:creationId xmlns:a16="http://schemas.microsoft.com/office/drawing/2014/main" id="{15FA6001-E270-8105-B4C5-97DCC8A5095D}"/>
              </a:ext>
            </a:extLst>
          </p:cNvPr>
          <p:cNvSpPr/>
          <p:nvPr/>
        </p:nvSpPr>
        <p:spPr>
          <a:xfrm>
            <a:off x="2471710" y="5925830"/>
            <a:ext cx="375000" cy="365400"/>
          </a:xfrm>
          <a:prstGeom prst="rect">
            <a:avLst/>
          </a:prstGeom>
          <a:solidFill>
            <a:schemeClr val="accen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85;g3dad5127776_0_483">
            <a:extLst>
              <a:ext uri="{FF2B5EF4-FFF2-40B4-BE49-F238E27FC236}">
                <a16:creationId xmlns:a16="http://schemas.microsoft.com/office/drawing/2014/main" id="{4DC94184-AA91-590E-849E-6E909C7C9F18}"/>
              </a:ext>
            </a:extLst>
          </p:cNvPr>
          <p:cNvSpPr/>
          <p:nvPr/>
        </p:nvSpPr>
        <p:spPr>
          <a:xfrm>
            <a:off x="2483966" y="5442884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86;g3dad5127776_0_483">
            <a:extLst>
              <a:ext uri="{FF2B5EF4-FFF2-40B4-BE49-F238E27FC236}">
                <a16:creationId xmlns:a16="http://schemas.microsoft.com/office/drawing/2014/main" id="{C931F763-E0FE-590D-099C-3C6354C4D693}"/>
              </a:ext>
            </a:extLst>
          </p:cNvPr>
          <p:cNvSpPr/>
          <p:nvPr/>
        </p:nvSpPr>
        <p:spPr>
          <a:xfrm>
            <a:off x="2483966" y="4964043"/>
            <a:ext cx="375000" cy="365400"/>
          </a:xfrm>
          <a:prstGeom prst="rect">
            <a:avLst/>
          </a:prstGeom>
          <a:solidFill>
            <a:srgbClr val="FFFF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00;g3dad5127776_0_483">
            <a:extLst>
              <a:ext uri="{FF2B5EF4-FFF2-40B4-BE49-F238E27FC236}">
                <a16:creationId xmlns:a16="http://schemas.microsoft.com/office/drawing/2014/main" id="{6CF51C1E-C3BC-7DD4-CDE1-E4D1DC4B215C}"/>
              </a:ext>
            </a:extLst>
          </p:cNvPr>
          <p:cNvCxnSpPr>
            <a:cxnSpLocks/>
          </p:cNvCxnSpPr>
          <p:nvPr/>
        </p:nvCxnSpPr>
        <p:spPr>
          <a:xfrm flipV="1">
            <a:off x="3154403" y="5015554"/>
            <a:ext cx="0" cy="428684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7" name="Google Shape;100;g3dad5127776_0_483">
            <a:extLst>
              <a:ext uri="{FF2B5EF4-FFF2-40B4-BE49-F238E27FC236}">
                <a16:creationId xmlns:a16="http://schemas.microsoft.com/office/drawing/2014/main" id="{DBA085D4-4903-6AB5-8B2D-13E0697628B9}"/>
              </a:ext>
            </a:extLst>
          </p:cNvPr>
          <p:cNvCxnSpPr>
            <a:cxnSpLocks/>
          </p:cNvCxnSpPr>
          <p:nvPr/>
        </p:nvCxnSpPr>
        <p:spPr>
          <a:xfrm flipV="1">
            <a:off x="3649595" y="5015554"/>
            <a:ext cx="0" cy="428684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8" name="Google Shape;79;g3dad5127776_0_483">
            <a:extLst>
              <a:ext uri="{FF2B5EF4-FFF2-40B4-BE49-F238E27FC236}">
                <a16:creationId xmlns:a16="http://schemas.microsoft.com/office/drawing/2014/main" id="{E05F9CEB-5004-295F-3375-E00DBA2B74FF}"/>
              </a:ext>
            </a:extLst>
          </p:cNvPr>
          <p:cNvSpPr/>
          <p:nvPr/>
        </p:nvSpPr>
        <p:spPr>
          <a:xfrm>
            <a:off x="1165870" y="4480206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81;g3dad5127776_0_483">
            <a:extLst>
              <a:ext uri="{FF2B5EF4-FFF2-40B4-BE49-F238E27FC236}">
                <a16:creationId xmlns:a16="http://schemas.microsoft.com/office/drawing/2014/main" id="{03399E8E-8548-85F3-4722-D63D42176D37}"/>
              </a:ext>
            </a:extLst>
          </p:cNvPr>
          <p:cNvSpPr/>
          <p:nvPr/>
        </p:nvSpPr>
        <p:spPr>
          <a:xfrm>
            <a:off x="1654929" y="4480206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86;g3dad5127776_0_483">
            <a:extLst>
              <a:ext uri="{FF2B5EF4-FFF2-40B4-BE49-F238E27FC236}">
                <a16:creationId xmlns:a16="http://schemas.microsoft.com/office/drawing/2014/main" id="{0E567765-4051-3470-9B99-CE19C430CC6C}"/>
              </a:ext>
            </a:extLst>
          </p:cNvPr>
          <p:cNvSpPr/>
          <p:nvPr/>
        </p:nvSpPr>
        <p:spPr>
          <a:xfrm>
            <a:off x="676800" y="4480206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79;g3dad5127776_0_483">
            <a:extLst>
              <a:ext uri="{FF2B5EF4-FFF2-40B4-BE49-F238E27FC236}">
                <a16:creationId xmlns:a16="http://schemas.microsoft.com/office/drawing/2014/main" id="{B1C1AB77-7568-01E9-6212-40B76BBF0799}"/>
              </a:ext>
            </a:extLst>
          </p:cNvPr>
          <p:cNvSpPr/>
          <p:nvPr/>
        </p:nvSpPr>
        <p:spPr>
          <a:xfrm>
            <a:off x="2960525" y="4478617"/>
            <a:ext cx="375000" cy="365400"/>
          </a:xfrm>
          <a:prstGeom prst="rect">
            <a:avLst/>
          </a:prstGeom>
          <a:solidFill>
            <a:srgbClr val="92D05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81;g3dad5127776_0_483">
            <a:extLst>
              <a:ext uri="{FF2B5EF4-FFF2-40B4-BE49-F238E27FC236}">
                <a16:creationId xmlns:a16="http://schemas.microsoft.com/office/drawing/2014/main" id="{FC87C6EC-31B5-D12B-8493-B13F8998EE56}"/>
              </a:ext>
            </a:extLst>
          </p:cNvPr>
          <p:cNvSpPr/>
          <p:nvPr/>
        </p:nvSpPr>
        <p:spPr>
          <a:xfrm>
            <a:off x="3449584" y="4478617"/>
            <a:ext cx="375000" cy="365400"/>
          </a:xfrm>
          <a:prstGeom prst="rect">
            <a:avLst/>
          </a:prstGeom>
          <a:solidFill>
            <a:srgbClr val="92D05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86;g3dad5127776_0_483">
            <a:extLst>
              <a:ext uri="{FF2B5EF4-FFF2-40B4-BE49-F238E27FC236}">
                <a16:creationId xmlns:a16="http://schemas.microsoft.com/office/drawing/2014/main" id="{653F6180-8F6F-3951-9F33-F6E4972E069D}"/>
              </a:ext>
            </a:extLst>
          </p:cNvPr>
          <p:cNvSpPr/>
          <p:nvPr/>
        </p:nvSpPr>
        <p:spPr>
          <a:xfrm>
            <a:off x="2471455" y="4478617"/>
            <a:ext cx="375000" cy="365400"/>
          </a:xfrm>
          <a:prstGeom prst="rect">
            <a:avLst/>
          </a:prstGeom>
          <a:solidFill>
            <a:srgbClr val="92D05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00;g3dad5127776_0_483">
            <a:extLst>
              <a:ext uri="{FF2B5EF4-FFF2-40B4-BE49-F238E27FC236}">
                <a16:creationId xmlns:a16="http://schemas.microsoft.com/office/drawing/2014/main" id="{4B55576E-7215-DB01-9530-77403D92A2B0}"/>
              </a:ext>
            </a:extLst>
          </p:cNvPr>
          <p:cNvCxnSpPr>
            <a:cxnSpLocks/>
          </p:cNvCxnSpPr>
          <p:nvPr/>
        </p:nvCxnSpPr>
        <p:spPr>
          <a:xfrm flipV="1">
            <a:off x="2679482" y="5015554"/>
            <a:ext cx="0" cy="428684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60CD8F19-9AC2-D9D8-1400-CDCF529862FE}"/>
              </a:ext>
            </a:extLst>
          </p:cNvPr>
          <p:cNvCxnSpPr/>
          <p:nvPr/>
        </p:nvCxnSpPr>
        <p:spPr>
          <a:xfrm>
            <a:off x="4189228" y="4460375"/>
            <a:ext cx="0" cy="18308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230858BF-4B38-D362-1F30-BD54C3C24701}"/>
              </a:ext>
            </a:extLst>
          </p:cNvPr>
          <p:cNvSpPr txBox="1"/>
          <p:nvPr/>
        </p:nvSpPr>
        <p:spPr>
          <a:xfrm>
            <a:off x="1057988" y="6356099"/>
            <a:ext cx="2176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Source = Sink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DBD13BE3-F2E6-A7E2-B33B-BA90FDF4B710}"/>
                  </a:ext>
                </a:extLst>
              </p:cNvPr>
              <p:cNvSpPr txBox="1"/>
              <p:nvPr/>
            </p:nvSpPr>
            <p:spPr>
              <a:xfrm>
                <a:off x="3824584" y="6356099"/>
                <a:ext cx="563525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/>
                  <a:t>Source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b="1"/>
                  <a:t> Sink </a:t>
                </a:r>
              </a:p>
            </p:txBody>
          </p:sp>
        </mc:Choice>
        <mc:Fallback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DBD13BE3-F2E6-A7E2-B33B-BA90FDF4B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4584" y="6356099"/>
                <a:ext cx="5635256" cy="307777"/>
              </a:xfrm>
              <a:prstGeom prst="rect">
                <a:avLst/>
              </a:prstGeom>
              <a:blipFill>
                <a:blip r:embed="rId4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2" name="TextBox 151">
            <a:extLst>
              <a:ext uri="{FF2B5EF4-FFF2-40B4-BE49-F238E27FC236}">
                <a16:creationId xmlns:a16="http://schemas.microsoft.com/office/drawing/2014/main" id="{43A07894-7F8E-CAAB-BAB7-2CD0D57686AF}"/>
              </a:ext>
            </a:extLst>
          </p:cNvPr>
          <p:cNvSpPr txBox="1"/>
          <p:nvPr/>
        </p:nvSpPr>
        <p:spPr>
          <a:xfrm>
            <a:off x="-680493" y="6556188"/>
            <a:ext cx="5635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/>
              <a:t>No curvature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D8C12B0D-9B79-4FEB-4F9A-B3EF642465B0}"/>
              </a:ext>
            </a:extLst>
          </p:cNvPr>
          <p:cNvSpPr txBox="1"/>
          <p:nvPr/>
        </p:nvSpPr>
        <p:spPr>
          <a:xfrm>
            <a:off x="3649595" y="6550223"/>
            <a:ext cx="59754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/>
              <a:t>Concavity Forms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4E979AAA-A423-0B53-A1E5-2DEC18CB873A}"/>
              </a:ext>
            </a:extLst>
          </p:cNvPr>
          <p:cNvSpPr txBox="1"/>
          <p:nvPr/>
        </p:nvSpPr>
        <p:spPr>
          <a:xfrm>
            <a:off x="354154" y="965962"/>
            <a:ext cx="8600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In non-discrete reaction-diffusion system, geometric constriction or dilation is the only way to cause UNIFORM wavefront to curve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272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E749879B-C918-022F-D38A-B480D4347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ad5127776_0_483">
            <a:extLst>
              <a:ext uri="{FF2B5EF4-FFF2-40B4-BE49-F238E27FC236}">
                <a16:creationId xmlns:a16="http://schemas.microsoft.com/office/drawing/2014/main" id="{078A673B-FC01-BA2D-4327-60FDA5FA98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80526" y="6571476"/>
            <a:ext cx="17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73" name="Google Shape;73;g3dad5127776_0_483">
            <a:extLst>
              <a:ext uri="{FF2B5EF4-FFF2-40B4-BE49-F238E27FC236}">
                <a16:creationId xmlns:a16="http://schemas.microsoft.com/office/drawing/2014/main" id="{09998F20-2348-5E70-3089-DDFC46626EF8}"/>
              </a:ext>
            </a:extLst>
          </p:cNvPr>
          <p:cNvSpPr txBox="1"/>
          <p:nvPr/>
        </p:nvSpPr>
        <p:spPr>
          <a:xfrm>
            <a:off x="447300" y="123138"/>
            <a:ext cx="86967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 b="1">
                <a:solidFill>
                  <a:schemeClr val="lt1"/>
                </a:solidFill>
              </a:rPr>
              <a:t>Evidence of Boundary Speedup in Tissue Chips</a:t>
            </a:r>
            <a:endParaRPr sz="2750">
              <a:solidFill>
                <a:schemeClr val="lt1"/>
              </a:solidFill>
            </a:endParaRPr>
          </a:p>
        </p:txBody>
      </p:sp>
      <p:sp>
        <p:nvSpPr>
          <p:cNvPr id="74" name="Google Shape;74;g3dad5127776_0_483">
            <a:extLst>
              <a:ext uri="{FF2B5EF4-FFF2-40B4-BE49-F238E27FC236}">
                <a16:creationId xmlns:a16="http://schemas.microsoft.com/office/drawing/2014/main" id="{B6DB6F9B-1C56-DB17-1824-1D182CA28485}"/>
              </a:ext>
            </a:extLst>
          </p:cNvPr>
          <p:cNvSpPr txBox="1"/>
          <p:nvPr/>
        </p:nvSpPr>
        <p:spPr>
          <a:xfrm>
            <a:off x="9665825" y="3876275"/>
            <a:ext cx="16026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114D3C65-7780-A520-09FF-015814C5AA48}"/>
              </a:ext>
            </a:extLst>
          </p:cNvPr>
          <p:cNvSpPr txBox="1"/>
          <p:nvPr/>
        </p:nvSpPr>
        <p:spPr>
          <a:xfrm>
            <a:off x="354154" y="1338965"/>
            <a:ext cx="86003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/>
              <a:t>Is uniform wavefront truly the relax state for propagating AP wavefront?</a:t>
            </a:r>
            <a:endParaRPr lang="en-US" sz="1600"/>
          </a:p>
        </p:txBody>
      </p:sp>
      <p:pic>
        <p:nvPicPr>
          <p:cNvPr id="2" name="science.abh0474_movie_s14 (1)">
            <a:hlinkClick r:id="" action="ppaction://media"/>
            <a:extLst>
              <a:ext uri="{FF2B5EF4-FFF2-40B4-BE49-F238E27FC236}">
                <a16:creationId xmlns:a16="http://schemas.microsoft.com/office/drawing/2014/main" id="{4998FD2A-362C-CEAE-DDB2-F5ED3BC8286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71219" y="1796902"/>
            <a:ext cx="8201561" cy="185816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6A7B007-E301-BB4A-6E22-18DB6E7B395E}"/>
              </a:ext>
            </a:extLst>
          </p:cNvPr>
          <p:cNvSpPr txBox="1"/>
          <p:nvPr/>
        </p:nvSpPr>
        <p:spPr>
          <a:xfrm>
            <a:off x="267453" y="3774451"/>
            <a:ext cx="87737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Observation: No. Evidence of lateral boundary speed up occurs despite no severe geometry pinching </a:t>
            </a:r>
            <a:endParaRPr lang="en-US" sz="1400"/>
          </a:p>
        </p:txBody>
      </p:sp>
      <p:sp>
        <p:nvSpPr>
          <p:cNvPr id="15" name="Google Shape;78;g3dad5127776_0_483">
            <a:extLst>
              <a:ext uri="{FF2B5EF4-FFF2-40B4-BE49-F238E27FC236}">
                <a16:creationId xmlns:a16="http://schemas.microsoft.com/office/drawing/2014/main" id="{D8CAFA9E-AB3B-6B38-BD63-ADF8E51AABD3}"/>
              </a:ext>
            </a:extLst>
          </p:cNvPr>
          <p:cNvSpPr/>
          <p:nvPr/>
        </p:nvSpPr>
        <p:spPr>
          <a:xfrm>
            <a:off x="5554657" y="5575164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79;g3dad5127776_0_483">
            <a:extLst>
              <a:ext uri="{FF2B5EF4-FFF2-40B4-BE49-F238E27FC236}">
                <a16:creationId xmlns:a16="http://schemas.microsoft.com/office/drawing/2014/main" id="{44E90C98-3444-A9AD-D6F8-20C728FCFFB0}"/>
              </a:ext>
            </a:extLst>
          </p:cNvPr>
          <p:cNvSpPr/>
          <p:nvPr/>
        </p:nvSpPr>
        <p:spPr>
          <a:xfrm>
            <a:off x="5560790" y="5096323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80;g3dad5127776_0_483">
            <a:extLst>
              <a:ext uri="{FF2B5EF4-FFF2-40B4-BE49-F238E27FC236}">
                <a16:creationId xmlns:a16="http://schemas.microsoft.com/office/drawing/2014/main" id="{873246D8-671F-D57A-D956-B655D0083289}"/>
              </a:ext>
            </a:extLst>
          </p:cNvPr>
          <p:cNvSpPr/>
          <p:nvPr/>
        </p:nvSpPr>
        <p:spPr>
          <a:xfrm>
            <a:off x="6049849" y="5575164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81;g3dad5127776_0_483">
            <a:extLst>
              <a:ext uri="{FF2B5EF4-FFF2-40B4-BE49-F238E27FC236}">
                <a16:creationId xmlns:a16="http://schemas.microsoft.com/office/drawing/2014/main" id="{30DD0416-A818-57AF-959E-D370603FCD7B}"/>
              </a:ext>
            </a:extLst>
          </p:cNvPr>
          <p:cNvSpPr/>
          <p:nvPr/>
        </p:nvSpPr>
        <p:spPr>
          <a:xfrm>
            <a:off x="6049849" y="5096323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85;g3dad5127776_0_483">
            <a:extLst>
              <a:ext uri="{FF2B5EF4-FFF2-40B4-BE49-F238E27FC236}">
                <a16:creationId xmlns:a16="http://schemas.microsoft.com/office/drawing/2014/main" id="{DC2F1FBF-9500-CB06-18F0-25DC63E47159}"/>
              </a:ext>
            </a:extLst>
          </p:cNvPr>
          <p:cNvSpPr/>
          <p:nvPr/>
        </p:nvSpPr>
        <p:spPr>
          <a:xfrm>
            <a:off x="5071720" y="5575164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86;g3dad5127776_0_483">
            <a:extLst>
              <a:ext uri="{FF2B5EF4-FFF2-40B4-BE49-F238E27FC236}">
                <a16:creationId xmlns:a16="http://schemas.microsoft.com/office/drawing/2014/main" id="{02F0E153-49BD-6E3F-959C-B3C483208D91}"/>
              </a:ext>
            </a:extLst>
          </p:cNvPr>
          <p:cNvSpPr/>
          <p:nvPr/>
        </p:nvSpPr>
        <p:spPr>
          <a:xfrm>
            <a:off x="5071720" y="5096323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79;g3dad5127776_0_483">
            <a:extLst>
              <a:ext uri="{FF2B5EF4-FFF2-40B4-BE49-F238E27FC236}">
                <a16:creationId xmlns:a16="http://schemas.microsoft.com/office/drawing/2014/main" id="{E6389F56-2610-5041-E40A-5EAFB29D7D52}"/>
              </a:ext>
            </a:extLst>
          </p:cNvPr>
          <p:cNvSpPr/>
          <p:nvPr/>
        </p:nvSpPr>
        <p:spPr>
          <a:xfrm>
            <a:off x="5554602" y="4612486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81;g3dad5127776_0_483">
            <a:extLst>
              <a:ext uri="{FF2B5EF4-FFF2-40B4-BE49-F238E27FC236}">
                <a16:creationId xmlns:a16="http://schemas.microsoft.com/office/drawing/2014/main" id="{5704D87C-431B-8EF1-BCC7-F35573392B17}"/>
              </a:ext>
            </a:extLst>
          </p:cNvPr>
          <p:cNvSpPr/>
          <p:nvPr/>
        </p:nvSpPr>
        <p:spPr>
          <a:xfrm>
            <a:off x="6043661" y="4612486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86;g3dad5127776_0_483">
            <a:extLst>
              <a:ext uri="{FF2B5EF4-FFF2-40B4-BE49-F238E27FC236}">
                <a16:creationId xmlns:a16="http://schemas.microsoft.com/office/drawing/2014/main" id="{D173C6D3-AEF8-2C7F-F256-81C7AD77AF73}"/>
              </a:ext>
            </a:extLst>
          </p:cNvPr>
          <p:cNvSpPr/>
          <p:nvPr/>
        </p:nvSpPr>
        <p:spPr>
          <a:xfrm>
            <a:off x="5065532" y="4612486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78;g3dad5127776_0_483">
            <a:extLst>
              <a:ext uri="{FF2B5EF4-FFF2-40B4-BE49-F238E27FC236}">
                <a16:creationId xmlns:a16="http://schemas.microsoft.com/office/drawing/2014/main" id="{D042E473-0A58-D58A-E448-1EBEEB9392D3}"/>
              </a:ext>
            </a:extLst>
          </p:cNvPr>
          <p:cNvSpPr/>
          <p:nvPr/>
        </p:nvSpPr>
        <p:spPr>
          <a:xfrm>
            <a:off x="7461429" y="5575164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79;g3dad5127776_0_483">
            <a:extLst>
              <a:ext uri="{FF2B5EF4-FFF2-40B4-BE49-F238E27FC236}">
                <a16:creationId xmlns:a16="http://schemas.microsoft.com/office/drawing/2014/main" id="{D10962C1-B54F-6396-6CE5-1866BE5064E8}"/>
              </a:ext>
            </a:extLst>
          </p:cNvPr>
          <p:cNvSpPr/>
          <p:nvPr/>
        </p:nvSpPr>
        <p:spPr>
          <a:xfrm>
            <a:off x="7467562" y="5096323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80;g3dad5127776_0_483">
            <a:extLst>
              <a:ext uri="{FF2B5EF4-FFF2-40B4-BE49-F238E27FC236}">
                <a16:creationId xmlns:a16="http://schemas.microsoft.com/office/drawing/2014/main" id="{0465D78B-3024-E1EE-44B5-11704B010B1E}"/>
              </a:ext>
            </a:extLst>
          </p:cNvPr>
          <p:cNvSpPr/>
          <p:nvPr/>
        </p:nvSpPr>
        <p:spPr>
          <a:xfrm>
            <a:off x="7956621" y="5575164"/>
            <a:ext cx="375000" cy="365400"/>
          </a:xfrm>
          <a:prstGeom prst="rect">
            <a:avLst/>
          </a:prstGeom>
          <a:solidFill>
            <a:srgbClr val="FFFF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81;g3dad5127776_0_483">
            <a:extLst>
              <a:ext uri="{FF2B5EF4-FFF2-40B4-BE49-F238E27FC236}">
                <a16:creationId xmlns:a16="http://schemas.microsoft.com/office/drawing/2014/main" id="{AB9E3E25-19B9-ED2D-67D2-39FC1C1A6FBB}"/>
              </a:ext>
            </a:extLst>
          </p:cNvPr>
          <p:cNvSpPr/>
          <p:nvPr/>
        </p:nvSpPr>
        <p:spPr>
          <a:xfrm>
            <a:off x="7956621" y="5096323"/>
            <a:ext cx="375000" cy="365400"/>
          </a:xfrm>
          <a:prstGeom prst="rect">
            <a:avLst/>
          </a:prstGeom>
          <a:solidFill>
            <a:srgbClr val="FFFF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85;g3dad5127776_0_483">
            <a:extLst>
              <a:ext uri="{FF2B5EF4-FFF2-40B4-BE49-F238E27FC236}">
                <a16:creationId xmlns:a16="http://schemas.microsoft.com/office/drawing/2014/main" id="{FE07DEC9-EE83-9592-AB32-29AD232DD053}"/>
              </a:ext>
            </a:extLst>
          </p:cNvPr>
          <p:cNvSpPr/>
          <p:nvPr/>
        </p:nvSpPr>
        <p:spPr>
          <a:xfrm>
            <a:off x="6978492" y="5575164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86;g3dad5127776_0_483">
            <a:extLst>
              <a:ext uri="{FF2B5EF4-FFF2-40B4-BE49-F238E27FC236}">
                <a16:creationId xmlns:a16="http://schemas.microsoft.com/office/drawing/2014/main" id="{044F7554-5E6E-3DA9-9966-5196ABD7F35E}"/>
              </a:ext>
            </a:extLst>
          </p:cNvPr>
          <p:cNvSpPr/>
          <p:nvPr/>
        </p:nvSpPr>
        <p:spPr>
          <a:xfrm>
            <a:off x="6978492" y="5096323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79;g3dad5127776_0_483">
            <a:extLst>
              <a:ext uri="{FF2B5EF4-FFF2-40B4-BE49-F238E27FC236}">
                <a16:creationId xmlns:a16="http://schemas.microsoft.com/office/drawing/2014/main" id="{E3549254-74B2-BA5E-A103-7DB92EA6B9EE}"/>
              </a:ext>
            </a:extLst>
          </p:cNvPr>
          <p:cNvSpPr/>
          <p:nvPr/>
        </p:nvSpPr>
        <p:spPr>
          <a:xfrm>
            <a:off x="7461374" y="4612486"/>
            <a:ext cx="375000" cy="365400"/>
          </a:xfrm>
          <a:prstGeom prst="rect">
            <a:avLst/>
          </a:prstGeom>
          <a:solidFill>
            <a:srgbClr val="FFFF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81;g3dad5127776_0_483">
            <a:extLst>
              <a:ext uri="{FF2B5EF4-FFF2-40B4-BE49-F238E27FC236}">
                <a16:creationId xmlns:a16="http://schemas.microsoft.com/office/drawing/2014/main" id="{4B34AA61-734B-CEE3-C0F4-A6C0FAD1ADF0}"/>
              </a:ext>
            </a:extLst>
          </p:cNvPr>
          <p:cNvSpPr/>
          <p:nvPr/>
        </p:nvSpPr>
        <p:spPr>
          <a:xfrm>
            <a:off x="7950433" y="4612486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86;g3dad5127776_0_483">
            <a:extLst>
              <a:ext uri="{FF2B5EF4-FFF2-40B4-BE49-F238E27FC236}">
                <a16:creationId xmlns:a16="http://schemas.microsoft.com/office/drawing/2014/main" id="{CEAF95EC-B3E9-70C1-7995-64A4E70C3E18}"/>
              </a:ext>
            </a:extLst>
          </p:cNvPr>
          <p:cNvSpPr/>
          <p:nvPr/>
        </p:nvSpPr>
        <p:spPr>
          <a:xfrm>
            <a:off x="6972304" y="4612486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100;g3dad5127776_0_483">
            <a:extLst>
              <a:ext uri="{FF2B5EF4-FFF2-40B4-BE49-F238E27FC236}">
                <a16:creationId xmlns:a16="http://schemas.microsoft.com/office/drawing/2014/main" id="{C94D5D4B-9188-A925-ABBB-4CB88D871F89}"/>
              </a:ext>
            </a:extLst>
          </p:cNvPr>
          <p:cNvCxnSpPr>
            <a:cxnSpLocks/>
          </p:cNvCxnSpPr>
          <p:nvPr/>
        </p:nvCxnSpPr>
        <p:spPr>
          <a:xfrm flipV="1">
            <a:off x="5446538" y="4811786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" name="Google Shape;100;g3dad5127776_0_483">
            <a:extLst>
              <a:ext uri="{FF2B5EF4-FFF2-40B4-BE49-F238E27FC236}">
                <a16:creationId xmlns:a16="http://schemas.microsoft.com/office/drawing/2014/main" id="{FF83AF00-8001-26E7-7569-D5BEDC98FAFB}"/>
              </a:ext>
            </a:extLst>
          </p:cNvPr>
          <p:cNvCxnSpPr>
            <a:cxnSpLocks/>
          </p:cNvCxnSpPr>
          <p:nvPr/>
        </p:nvCxnSpPr>
        <p:spPr>
          <a:xfrm flipV="1">
            <a:off x="5440532" y="4845589"/>
            <a:ext cx="301570" cy="27092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6" name="Google Shape;100;g3dad5127776_0_483">
            <a:extLst>
              <a:ext uri="{FF2B5EF4-FFF2-40B4-BE49-F238E27FC236}">
                <a16:creationId xmlns:a16="http://schemas.microsoft.com/office/drawing/2014/main" id="{F1676B64-2412-220D-746C-BC529D5694DE}"/>
              </a:ext>
            </a:extLst>
          </p:cNvPr>
          <p:cNvCxnSpPr>
            <a:cxnSpLocks/>
          </p:cNvCxnSpPr>
          <p:nvPr/>
        </p:nvCxnSpPr>
        <p:spPr>
          <a:xfrm>
            <a:off x="5434465" y="5451609"/>
            <a:ext cx="318104" cy="306255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8" name="Google Shape;100;g3dad5127776_0_483">
            <a:extLst>
              <a:ext uri="{FF2B5EF4-FFF2-40B4-BE49-F238E27FC236}">
                <a16:creationId xmlns:a16="http://schemas.microsoft.com/office/drawing/2014/main" id="{8E3FD2CF-FF30-D31F-C709-7B072094C403}"/>
              </a:ext>
            </a:extLst>
          </p:cNvPr>
          <p:cNvCxnSpPr>
            <a:cxnSpLocks/>
          </p:cNvCxnSpPr>
          <p:nvPr/>
        </p:nvCxnSpPr>
        <p:spPr>
          <a:xfrm flipV="1">
            <a:off x="5443535" y="5293808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1" name="Google Shape;100;g3dad5127776_0_483">
            <a:extLst>
              <a:ext uri="{FF2B5EF4-FFF2-40B4-BE49-F238E27FC236}">
                <a16:creationId xmlns:a16="http://schemas.microsoft.com/office/drawing/2014/main" id="{DFE2E6AB-66D8-8ABB-7CDC-B27AC8298685}"/>
              </a:ext>
            </a:extLst>
          </p:cNvPr>
          <p:cNvCxnSpPr>
            <a:cxnSpLocks/>
          </p:cNvCxnSpPr>
          <p:nvPr/>
        </p:nvCxnSpPr>
        <p:spPr>
          <a:xfrm>
            <a:off x="5430186" y="4965162"/>
            <a:ext cx="318104" cy="306255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2" name="Google Shape;100;g3dad5127776_0_483">
            <a:extLst>
              <a:ext uri="{FF2B5EF4-FFF2-40B4-BE49-F238E27FC236}">
                <a16:creationId xmlns:a16="http://schemas.microsoft.com/office/drawing/2014/main" id="{8B6C7890-C48B-ACBF-B235-8E80C18B7784}"/>
              </a:ext>
            </a:extLst>
          </p:cNvPr>
          <p:cNvCxnSpPr>
            <a:cxnSpLocks/>
          </p:cNvCxnSpPr>
          <p:nvPr/>
        </p:nvCxnSpPr>
        <p:spPr>
          <a:xfrm flipV="1">
            <a:off x="5446720" y="5316149"/>
            <a:ext cx="301570" cy="27092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3" name="Google Shape;100;g3dad5127776_0_483">
            <a:extLst>
              <a:ext uri="{FF2B5EF4-FFF2-40B4-BE49-F238E27FC236}">
                <a16:creationId xmlns:a16="http://schemas.microsoft.com/office/drawing/2014/main" id="{F59263DB-0634-EC1A-D280-22CC5CEE5BF3}"/>
              </a:ext>
            </a:extLst>
          </p:cNvPr>
          <p:cNvCxnSpPr>
            <a:cxnSpLocks/>
          </p:cNvCxnSpPr>
          <p:nvPr/>
        </p:nvCxnSpPr>
        <p:spPr>
          <a:xfrm flipV="1">
            <a:off x="5449723" y="5764978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1" name="Google Shape;100;g3dad5127776_0_483">
            <a:extLst>
              <a:ext uri="{FF2B5EF4-FFF2-40B4-BE49-F238E27FC236}">
                <a16:creationId xmlns:a16="http://schemas.microsoft.com/office/drawing/2014/main" id="{EBF484BF-F2DA-479E-3456-2003F7FF69E1}"/>
              </a:ext>
            </a:extLst>
          </p:cNvPr>
          <p:cNvCxnSpPr>
            <a:cxnSpLocks/>
          </p:cNvCxnSpPr>
          <p:nvPr/>
        </p:nvCxnSpPr>
        <p:spPr>
          <a:xfrm>
            <a:off x="5449723" y="5947678"/>
            <a:ext cx="318104" cy="306255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3974025-3E1A-220F-D784-9BADEBEFD2D3}"/>
              </a:ext>
            </a:extLst>
          </p:cNvPr>
          <p:cNvCxnSpPr/>
          <p:nvPr/>
        </p:nvCxnSpPr>
        <p:spPr>
          <a:xfrm>
            <a:off x="5253032" y="6100805"/>
            <a:ext cx="0" cy="368480"/>
          </a:xfrm>
          <a:prstGeom prst="line">
            <a:avLst/>
          </a:prstGeom>
          <a:ln w="158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D445D072-1937-BAB8-2678-C6B45A847B55}"/>
              </a:ext>
            </a:extLst>
          </p:cNvPr>
          <p:cNvCxnSpPr/>
          <p:nvPr/>
        </p:nvCxnSpPr>
        <p:spPr>
          <a:xfrm>
            <a:off x="5767003" y="6100805"/>
            <a:ext cx="0" cy="368480"/>
          </a:xfrm>
          <a:prstGeom prst="line">
            <a:avLst/>
          </a:prstGeom>
          <a:ln w="158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42D4F61B-3D2C-CA79-EB53-FE1B8D973729}"/>
              </a:ext>
            </a:extLst>
          </p:cNvPr>
          <p:cNvCxnSpPr/>
          <p:nvPr/>
        </p:nvCxnSpPr>
        <p:spPr>
          <a:xfrm>
            <a:off x="6231161" y="6100863"/>
            <a:ext cx="0" cy="368480"/>
          </a:xfrm>
          <a:prstGeom prst="line">
            <a:avLst/>
          </a:prstGeom>
          <a:ln w="158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Google Shape;100;g3dad5127776_0_483">
            <a:extLst>
              <a:ext uri="{FF2B5EF4-FFF2-40B4-BE49-F238E27FC236}">
                <a16:creationId xmlns:a16="http://schemas.microsoft.com/office/drawing/2014/main" id="{0F907309-E699-540D-B6B5-0A5BF9240DB9}"/>
              </a:ext>
            </a:extLst>
          </p:cNvPr>
          <p:cNvCxnSpPr>
            <a:cxnSpLocks/>
          </p:cNvCxnSpPr>
          <p:nvPr/>
        </p:nvCxnSpPr>
        <p:spPr>
          <a:xfrm flipV="1">
            <a:off x="7852726" y="4802389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7" name="Google Shape;100;g3dad5127776_0_483">
            <a:extLst>
              <a:ext uri="{FF2B5EF4-FFF2-40B4-BE49-F238E27FC236}">
                <a16:creationId xmlns:a16="http://schemas.microsoft.com/office/drawing/2014/main" id="{DCFF7CFA-ABDC-8821-C5BD-1A8FEAC1DCFC}"/>
              </a:ext>
            </a:extLst>
          </p:cNvPr>
          <p:cNvCxnSpPr>
            <a:cxnSpLocks/>
          </p:cNvCxnSpPr>
          <p:nvPr/>
        </p:nvCxnSpPr>
        <p:spPr>
          <a:xfrm flipV="1">
            <a:off x="7846720" y="4836192"/>
            <a:ext cx="301570" cy="27092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8" name="Google Shape;100;g3dad5127776_0_483">
            <a:extLst>
              <a:ext uri="{FF2B5EF4-FFF2-40B4-BE49-F238E27FC236}">
                <a16:creationId xmlns:a16="http://schemas.microsoft.com/office/drawing/2014/main" id="{8927A261-8163-8554-1FEE-B5076FD92895}"/>
              </a:ext>
            </a:extLst>
          </p:cNvPr>
          <p:cNvCxnSpPr>
            <a:cxnSpLocks/>
          </p:cNvCxnSpPr>
          <p:nvPr/>
        </p:nvCxnSpPr>
        <p:spPr>
          <a:xfrm>
            <a:off x="7840653" y="5442212"/>
            <a:ext cx="318104" cy="306255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9" name="Google Shape;100;g3dad5127776_0_483">
            <a:extLst>
              <a:ext uri="{FF2B5EF4-FFF2-40B4-BE49-F238E27FC236}">
                <a16:creationId xmlns:a16="http://schemas.microsoft.com/office/drawing/2014/main" id="{EE1B7AFC-F08E-59AF-7106-70788CD0C572}"/>
              </a:ext>
            </a:extLst>
          </p:cNvPr>
          <p:cNvCxnSpPr>
            <a:cxnSpLocks/>
          </p:cNvCxnSpPr>
          <p:nvPr/>
        </p:nvCxnSpPr>
        <p:spPr>
          <a:xfrm flipV="1">
            <a:off x="7849723" y="5284411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0" name="Google Shape;100;g3dad5127776_0_483">
            <a:extLst>
              <a:ext uri="{FF2B5EF4-FFF2-40B4-BE49-F238E27FC236}">
                <a16:creationId xmlns:a16="http://schemas.microsoft.com/office/drawing/2014/main" id="{65B81AAA-ED7A-E5E0-B943-31C948094E4D}"/>
              </a:ext>
            </a:extLst>
          </p:cNvPr>
          <p:cNvCxnSpPr>
            <a:cxnSpLocks/>
          </p:cNvCxnSpPr>
          <p:nvPr/>
        </p:nvCxnSpPr>
        <p:spPr>
          <a:xfrm>
            <a:off x="7836374" y="4955765"/>
            <a:ext cx="318104" cy="306255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1" name="Google Shape;100;g3dad5127776_0_483">
            <a:extLst>
              <a:ext uri="{FF2B5EF4-FFF2-40B4-BE49-F238E27FC236}">
                <a16:creationId xmlns:a16="http://schemas.microsoft.com/office/drawing/2014/main" id="{4FB938B0-8B3D-C794-D5EC-91D4A3E69472}"/>
              </a:ext>
            </a:extLst>
          </p:cNvPr>
          <p:cNvCxnSpPr>
            <a:cxnSpLocks/>
          </p:cNvCxnSpPr>
          <p:nvPr/>
        </p:nvCxnSpPr>
        <p:spPr>
          <a:xfrm flipV="1">
            <a:off x="7852908" y="5306752"/>
            <a:ext cx="301570" cy="27092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2" name="Google Shape;100;g3dad5127776_0_483">
            <a:extLst>
              <a:ext uri="{FF2B5EF4-FFF2-40B4-BE49-F238E27FC236}">
                <a16:creationId xmlns:a16="http://schemas.microsoft.com/office/drawing/2014/main" id="{B26827B5-E6F4-BD65-3070-3A15C440BBA1}"/>
              </a:ext>
            </a:extLst>
          </p:cNvPr>
          <p:cNvCxnSpPr>
            <a:cxnSpLocks/>
          </p:cNvCxnSpPr>
          <p:nvPr/>
        </p:nvCxnSpPr>
        <p:spPr>
          <a:xfrm flipV="1">
            <a:off x="7855911" y="5755581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4" name="Google Shape;100;g3dad5127776_0_483">
            <a:extLst>
              <a:ext uri="{FF2B5EF4-FFF2-40B4-BE49-F238E27FC236}">
                <a16:creationId xmlns:a16="http://schemas.microsoft.com/office/drawing/2014/main" id="{E6C0CB56-120E-F7DE-13D5-C8D9FA3CE565}"/>
              </a:ext>
            </a:extLst>
          </p:cNvPr>
          <p:cNvCxnSpPr>
            <a:cxnSpLocks/>
          </p:cNvCxnSpPr>
          <p:nvPr/>
        </p:nvCxnSpPr>
        <p:spPr>
          <a:xfrm flipV="1">
            <a:off x="5449723" y="5806739"/>
            <a:ext cx="301570" cy="27092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5" name="Google Shape;100;g3dad5127776_0_483">
            <a:extLst>
              <a:ext uri="{FF2B5EF4-FFF2-40B4-BE49-F238E27FC236}">
                <a16:creationId xmlns:a16="http://schemas.microsoft.com/office/drawing/2014/main" id="{A9D1FAE1-13D9-64B2-60A1-D761B32E2C74}"/>
              </a:ext>
            </a:extLst>
          </p:cNvPr>
          <p:cNvCxnSpPr>
            <a:cxnSpLocks/>
          </p:cNvCxnSpPr>
          <p:nvPr/>
        </p:nvCxnSpPr>
        <p:spPr>
          <a:xfrm>
            <a:off x="7836374" y="5930073"/>
            <a:ext cx="318104" cy="306255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6" name="Google Shape;100;g3dad5127776_0_483">
            <a:extLst>
              <a:ext uri="{FF2B5EF4-FFF2-40B4-BE49-F238E27FC236}">
                <a16:creationId xmlns:a16="http://schemas.microsoft.com/office/drawing/2014/main" id="{33930C4C-453C-B792-C1CF-287E4BF0D069}"/>
              </a:ext>
            </a:extLst>
          </p:cNvPr>
          <p:cNvCxnSpPr>
            <a:cxnSpLocks/>
          </p:cNvCxnSpPr>
          <p:nvPr/>
        </p:nvCxnSpPr>
        <p:spPr>
          <a:xfrm flipV="1">
            <a:off x="7836374" y="5789134"/>
            <a:ext cx="301570" cy="27092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E4B87F4F-FDF2-9647-0BBF-FB864B48CD91}"/>
              </a:ext>
            </a:extLst>
          </p:cNvPr>
          <p:cNvCxnSpPr/>
          <p:nvPr/>
        </p:nvCxnSpPr>
        <p:spPr>
          <a:xfrm>
            <a:off x="7138539" y="6100805"/>
            <a:ext cx="0" cy="368480"/>
          </a:xfrm>
          <a:prstGeom prst="line">
            <a:avLst/>
          </a:prstGeom>
          <a:ln w="158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95CCAF3F-B98B-EB78-F5F6-181B8327D95D}"/>
              </a:ext>
            </a:extLst>
          </p:cNvPr>
          <p:cNvCxnSpPr/>
          <p:nvPr/>
        </p:nvCxnSpPr>
        <p:spPr>
          <a:xfrm>
            <a:off x="7652510" y="6100805"/>
            <a:ext cx="0" cy="368480"/>
          </a:xfrm>
          <a:prstGeom prst="line">
            <a:avLst/>
          </a:prstGeom>
          <a:ln w="158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B222F58D-1995-79DA-3317-5BFAF5699B8E}"/>
              </a:ext>
            </a:extLst>
          </p:cNvPr>
          <p:cNvCxnSpPr/>
          <p:nvPr/>
        </p:nvCxnSpPr>
        <p:spPr>
          <a:xfrm>
            <a:off x="8116668" y="6100863"/>
            <a:ext cx="0" cy="368480"/>
          </a:xfrm>
          <a:prstGeom prst="line">
            <a:avLst/>
          </a:prstGeom>
          <a:ln w="158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DD1B0C61-0B13-4EDC-E9FD-E325B7E72937}"/>
              </a:ext>
            </a:extLst>
          </p:cNvPr>
          <p:cNvSpPr txBox="1"/>
          <p:nvPr/>
        </p:nvSpPr>
        <p:spPr>
          <a:xfrm>
            <a:off x="1096649" y="4113763"/>
            <a:ext cx="28956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/>
              <a:t>Hypothesis 1</a:t>
            </a:r>
            <a:endParaRPr lang="en-US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59F0A938-4ABE-1C09-E760-1F67F96B23DF}"/>
              </a:ext>
            </a:extLst>
          </p:cNvPr>
          <p:cNvSpPr txBox="1"/>
          <p:nvPr/>
        </p:nvSpPr>
        <p:spPr>
          <a:xfrm>
            <a:off x="3890751" y="6493519"/>
            <a:ext cx="5635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/>
              <a:t>Local source-sink mismatch</a:t>
            </a:r>
            <a:endParaRPr lang="en-US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D4C95F09-B58D-964D-B48B-398A2E3846E8}"/>
              </a:ext>
            </a:extLst>
          </p:cNvPr>
          <p:cNvSpPr txBox="1"/>
          <p:nvPr/>
        </p:nvSpPr>
        <p:spPr>
          <a:xfrm>
            <a:off x="3821640" y="4118831"/>
            <a:ext cx="57734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/>
              <a:t>Hypothesis 2</a:t>
            </a:r>
            <a:endParaRPr lang="en-US"/>
          </a:p>
        </p:txBody>
      </p:sp>
      <p:sp>
        <p:nvSpPr>
          <p:cNvPr id="267" name="Google Shape;78;g3dad5127776_0_483">
            <a:extLst>
              <a:ext uri="{FF2B5EF4-FFF2-40B4-BE49-F238E27FC236}">
                <a16:creationId xmlns:a16="http://schemas.microsoft.com/office/drawing/2014/main" id="{05C39B34-7C42-E61A-70EC-F1A2A0D21ECA}"/>
              </a:ext>
            </a:extLst>
          </p:cNvPr>
          <p:cNvSpPr/>
          <p:nvPr/>
        </p:nvSpPr>
        <p:spPr>
          <a:xfrm>
            <a:off x="1378792" y="5576869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79;g3dad5127776_0_483">
            <a:extLst>
              <a:ext uri="{FF2B5EF4-FFF2-40B4-BE49-F238E27FC236}">
                <a16:creationId xmlns:a16="http://schemas.microsoft.com/office/drawing/2014/main" id="{EBB24BD3-DB2B-C4DA-F0A8-7867D061B7E5}"/>
              </a:ext>
            </a:extLst>
          </p:cNvPr>
          <p:cNvSpPr/>
          <p:nvPr/>
        </p:nvSpPr>
        <p:spPr>
          <a:xfrm>
            <a:off x="1384925" y="5098028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80;g3dad5127776_0_483">
            <a:extLst>
              <a:ext uri="{FF2B5EF4-FFF2-40B4-BE49-F238E27FC236}">
                <a16:creationId xmlns:a16="http://schemas.microsoft.com/office/drawing/2014/main" id="{DA04F877-F39D-5A44-447C-317B8D9F44C0}"/>
              </a:ext>
            </a:extLst>
          </p:cNvPr>
          <p:cNvSpPr/>
          <p:nvPr/>
        </p:nvSpPr>
        <p:spPr>
          <a:xfrm>
            <a:off x="1873984" y="5576869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81;g3dad5127776_0_483">
            <a:extLst>
              <a:ext uri="{FF2B5EF4-FFF2-40B4-BE49-F238E27FC236}">
                <a16:creationId xmlns:a16="http://schemas.microsoft.com/office/drawing/2014/main" id="{74E95C3A-AEB7-6A3F-CA4C-9EE77716286E}"/>
              </a:ext>
            </a:extLst>
          </p:cNvPr>
          <p:cNvSpPr/>
          <p:nvPr/>
        </p:nvSpPr>
        <p:spPr>
          <a:xfrm>
            <a:off x="1873984" y="5098028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85;g3dad5127776_0_483">
            <a:extLst>
              <a:ext uri="{FF2B5EF4-FFF2-40B4-BE49-F238E27FC236}">
                <a16:creationId xmlns:a16="http://schemas.microsoft.com/office/drawing/2014/main" id="{E287F390-F7B2-6C0E-553E-AC96A09F3523}"/>
              </a:ext>
            </a:extLst>
          </p:cNvPr>
          <p:cNvSpPr/>
          <p:nvPr/>
        </p:nvSpPr>
        <p:spPr>
          <a:xfrm>
            <a:off x="895855" y="5576869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86;g3dad5127776_0_483">
            <a:extLst>
              <a:ext uri="{FF2B5EF4-FFF2-40B4-BE49-F238E27FC236}">
                <a16:creationId xmlns:a16="http://schemas.microsoft.com/office/drawing/2014/main" id="{754DE4F5-F3F9-1A28-C723-EAE75F594450}"/>
              </a:ext>
            </a:extLst>
          </p:cNvPr>
          <p:cNvSpPr/>
          <p:nvPr/>
        </p:nvSpPr>
        <p:spPr>
          <a:xfrm>
            <a:off x="895855" y="5098028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79;g3dad5127776_0_483">
            <a:extLst>
              <a:ext uri="{FF2B5EF4-FFF2-40B4-BE49-F238E27FC236}">
                <a16:creationId xmlns:a16="http://schemas.microsoft.com/office/drawing/2014/main" id="{4605D45D-2A38-CE49-9A46-7A6A8A4F8661}"/>
              </a:ext>
            </a:extLst>
          </p:cNvPr>
          <p:cNvSpPr/>
          <p:nvPr/>
        </p:nvSpPr>
        <p:spPr>
          <a:xfrm>
            <a:off x="1378737" y="4614191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81;g3dad5127776_0_483">
            <a:extLst>
              <a:ext uri="{FF2B5EF4-FFF2-40B4-BE49-F238E27FC236}">
                <a16:creationId xmlns:a16="http://schemas.microsoft.com/office/drawing/2014/main" id="{384EC42C-8D73-4350-03FB-C9F440A5ABF1}"/>
              </a:ext>
            </a:extLst>
          </p:cNvPr>
          <p:cNvSpPr/>
          <p:nvPr/>
        </p:nvSpPr>
        <p:spPr>
          <a:xfrm>
            <a:off x="1867796" y="4614191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86;g3dad5127776_0_483">
            <a:extLst>
              <a:ext uri="{FF2B5EF4-FFF2-40B4-BE49-F238E27FC236}">
                <a16:creationId xmlns:a16="http://schemas.microsoft.com/office/drawing/2014/main" id="{B2659328-2299-6FA7-D909-C2414013CAFC}"/>
              </a:ext>
            </a:extLst>
          </p:cNvPr>
          <p:cNvSpPr/>
          <p:nvPr/>
        </p:nvSpPr>
        <p:spPr>
          <a:xfrm>
            <a:off x="889667" y="4614191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78;g3dad5127776_0_483">
            <a:extLst>
              <a:ext uri="{FF2B5EF4-FFF2-40B4-BE49-F238E27FC236}">
                <a16:creationId xmlns:a16="http://schemas.microsoft.com/office/drawing/2014/main" id="{A16DB2A1-F478-2D49-693C-22300EAB5803}"/>
              </a:ext>
            </a:extLst>
          </p:cNvPr>
          <p:cNvSpPr/>
          <p:nvPr/>
        </p:nvSpPr>
        <p:spPr>
          <a:xfrm>
            <a:off x="3285564" y="5576869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79;g3dad5127776_0_483">
            <a:extLst>
              <a:ext uri="{FF2B5EF4-FFF2-40B4-BE49-F238E27FC236}">
                <a16:creationId xmlns:a16="http://schemas.microsoft.com/office/drawing/2014/main" id="{B5AD1E43-7648-AC67-F28E-5810168134FA}"/>
              </a:ext>
            </a:extLst>
          </p:cNvPr>
          <p:cNvSpPr/>
          <p:nvPr/>
        </p:nvSpPr>
        <p:spPr>
          <a:xfrm>
            <a:off x="3291697" y="5098028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80;g3dad5127776_0_483">
            <a:extLst>
              <a:ext uri="{FF2B5EF4-FFF2-40B4-BE49-F238E27FC236}">
                <a16:creationId xmlns:a16="http://schemas.microsoft.com/office/drawing/2014/main" id="{A452D32C-FA4B-A7D3-BB92-9971352F8C99}"/>
              </a:ext>
            </a:extLst>
          </p:cNvPr>
          <p:cNvSpPr/>
          <p:nvPr/>
        </p:nvSpPr>
        <p:spPr>
          <a:xfrm>
            <a:off x="3780756" y="5576869"/>
            <a:ext cx="375000" cy="365400"/>
          </a:xfrm>
          <a:prstGeom prst="rect">
            <a:avLst/>
          </a:prstGeom>
          <a:solidFill>
            <a:srgbClr val="FFFF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81;g3dad5127776_0_483">
            <a:extLst>
              <a:ext uri="{FF2B5EF4-FFF2-40B4-BE49-F238E27FC236}">
                <a16:creationId xmlns:a16="http://schemas.microsoft.com/office/drawing/2014/main" id="{37F19D1A-60A1-667C-1439-D85A9167B099}"/>
              </a:ext>
            </a:extLst>
          </p:cNvPr>
          <p:cNvSpPr/>
          <p:nvPr/>
        </p:nvSpPr>
        <p:spPr>
          <a:xfrm>
            <a:off x="3780756" y="5098028"/>
            <a:ext cx="375000" cy="365400"/>
          </a:xfrm>
          <a:prstGeom prst="rect">
            <a:avLst/>
          </a:prstGeom>
          <a:solidFill>
            <a:srgbClr val="FFFF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85;g3dad5127776_0_483">
            <a:extLst>
              <a:ext uri="{FF2B5EF4-FFF2-40B4-BE49-F238E27FC236}">
                <a16:creationId xmlns:a16="http://schemas.microsoft.com/office/drawing/2014/main" id="{DC90696B-F747-4D4D-0940-82480C55ED66}"/>
              </a:ext>
            </a:extLst>
          </p:cNvPr>
          <p:cNvSpPr/>
          <p:nvPr/>
        </p:nvSpPr>
        <p:spPr>
          <a:xfrm>
            <a:off x="2802627" y="5576869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86;g3dad5127776_0_483">
            <a:extLst>
              <a:ext uri="{FF2B5EF4-FFF2-40B4-BE49-F238E27FC236}">
                <a16:creationId xmlns:a16="http://schemas.microsoft.com/office/drawing/2014/main" id="{2B8E6A50-181F-BBB8-D931-B715E053A31E}"/>
              </a:ext>
            </a:extLst>
          </p:cNvPr>
          <p:cNvSpPr/>
          <p:nvPr/>
        </p:nvSpPr>
        <p:spPr>
          <a:xfrm>
            <a:off x="2802627" y="5098028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79;g3dad5127776_0_483">
            <a:extLst>
              <a:ext uri="{FF2B5EF4-FFF2-40B4-BE49-F238E27FC236}">
                <a16:creationId xmlns:a16="http://schemas.microsoft.com/office/drawing/2014/main" id="{F6714F8F-C407-3487-A7B8-6F4D24E55423}"/>
              </a:ext>
            </a:extLst>
          </p:cNvPr>
          <p:cNvSpPr/>
          <p:nvPr/>
        </p:nvSpPr>
        <p:spPr>
          <a:xfrm>
            <a:off x="3285509" y="4614191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81;g3dad5127776_0_483">
            <a:extLst>
              <a:ext uri="{FF2B5EF4-FFF2-40B4-BE49-F238E27FC236}">
                <a16:creationId xmlns:a16="http://schemas.microsoft.com/office/drawing/2014/main" id="{4C328360-5847-2716-67CD-D40904FB74A5}"/>
              </a:ext>
            </a:extLst>
          </p:cNvPr>
          <p:cNvSpPr/>
          <p:nvPr/>
        </p:nvSpPr>
        <p:spPr>
          <a:xfrm>
            <a:off x="3774568" y="4614191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86;g3dad5127776_0_483">
            <a:extLst>
              <a:ext uri="{FF2B5EF4-FFF2-40B4-BE49-F238E27FC236}">
                <a16:creationId xmlns:a16="http://schemas.microsoft.com/office/drawing/2014/main" id="{5D2E01FA-6277-F272-38C9-A7975E01D29A}"/>
              </a:ext>
            </a:extLst>
          </p:cNvPr>
          <p:cNvSpPr/>
          <p:nvPr/>
        </p:nvSpPr>
        <p:spPr>
          <a:xfrm>
            <a:off x="2796439" y="4614191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" name="Google Shape;100;g3dad5127776_0_483">
            <a:extLst>
              <a:ext uri="{FF2B5EF4-FFF2-40B4-BE49-F238E27FC236}">
                <a16:creationId xmlns:a16="http://schemas.microsoft.com/office/drawing/2014/main" id="{D318338A-C896-DC35-195A-DD95327C5560}"/>
              </a:ext>
            </a:extLst>
          </p:cNvPr>
          <p:cNvCxnSpPr>
            <a:cxnSpLocks/>
          </p:cNvCxnSpPr>
          <p:nvPr/>
        </p:nvCxnSpPr>
        <p:spPr>
          <a:xfrm flipV="1">
            <a:off x="1270673" y="4813491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6" name="Google Shape;100;g3dad5127776_0_483">
            <a:extLst>
              <a:ext uri="{FF2B5EF4-FFF2-40B4-BE49-F238E27FC236}">
                <a16:creationId xmlns:a16="http://schemas.microsoft.com/office/drawing/2014/main" id="{83EE5781-570E-F759-0483-39CD63889149}"/>
              </a:ext>
            </a:extLst>
          </p:cNvPr>
          <p:cNvCxnSpPr>
            <a:cxnSpLocks/>
          </p:cNvCxnSpPr>
          <p:nvPr/>
        </p:nvCxnSpPr>
        <p:spPr>
          <a:xfrm flipV="1">
            <a:off x="1267670" y="5295513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7" name="Google Shape;100;g3dad5127776_0_483">
            <a:extLst>
              <a:ext uri="{FF2B5EF4-FFF2-40B4-BE49-F238E27FC236}">
                <a16:creationId xmlns:a16="http://schemas.microsoft.com/office/drawing/2014/main" id="{E149B738-FEA3-24B0-E3A8-848853F41720}"/>
              </a:ext>
            </a:extLst>
          </p:cNvPr>
          <p:cNvCxnSpPr>
            <a:cxnSpLocks/>
          </p:cNvCxnSpPr>
          <p:nvPr/>
        </p:nvCxnSpPr>
        <p:spPr>
          <a:xfrm flipV="1">
            <a:off x="1273858" y="5766683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8" name="Google Shape;100;g3dad5127776_0_483">
            <a:extLst>
              <a:ext uri="{FF2B5EF4-FFF2-40B4-BE49-F238E27FC236}">
                <a16:creationId xmlns:a16="http://schemas.microsoft.com/office/drawing/2014/main" id="{5B2F4CCD-0716-BA0A-6D88-FD6FCB368464}"/>
              </a:ext>
            </a:extLst>
          </p:cNvPr>
          <p:cNvCxnSpPr>
            <a:cxnSpLocks/>
          </p:cNvCxnSpPr>
          <p:nvPr/>
        </p:nvCxnSpPr>
        <p:spPr>
          <a:xfrm flipV="1">
            <a:off x="3676861" y="4804094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9" name="Google Shape;100;g3dad5127776_0_483">
            <a:extLst>
              <a:ext uri="{FF2B5EF4-FFF2-40B4-BE49-F238E27FC236}">
                <a16:creationId xmlns:a16="http://schemas.microsoft.com/office/drawing/2014/main" id="{5594C445-741F-02EA-155C-295CCDBE8BB6}"/>
              </a:ext>
            </a:extLst>
          </p:cNvPr>
          <p:cNvCxnSpPr>
            <a:cxnSpLocks/>
          </p:cNvCxnSpPr>
          <p:nvPr/>
        </p:nvCxnSpPr>
        <p:spPr>
          <a:xfrm flipV="1">
            <a:off x="3673858" y="5286116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0" name="Google Shape;100;g3dad5127776_0_483">
            <a:extLst>
              <a:ext uri="{FF2B5EF4-FFF2-40B4-BE49-F238E27FC236}">
                <a16:creationId xmlns:a16="http://schemas.microsoft.com/office/drawing/2014/main" id="{E149C35E-5ECC-BD0D-384D-B741E9DC4B1E}"/>
              </a:ext>
            </a:extLst>
          </p:cNvPr>
          <p:cNvCxnSpPr>
            <a:cxnSpLocks/>
          </p:cNvCxnSpPr>
          <p:nvPr/>
        </p:nvCxnSpPr>
        <p:spPr>
          <a:xfrm flipV="1">
            <a:off x="3680046" y="5757286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8C6D64BB-B576-230F-F453-0F100319701C}"/>
              </a:ext>
            </a:extLst>
          </p:cNvPr>
          <p:cNvCxnSpPr/>
          <p:nvPr/>
        </p:nvCxnSpPr>
        <p:spPr>
          <a:xfrm>
            <a:off x="976667" y="4490636"/>
            <a:ext cx="32816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Arc 291">
            <a:extLst>
              <a:ext uri="{FF2B5EF4-FFF2-40B4-BE49-F238E27FC236}">
                <a16:creationId xmlns:a16="http://schemas.microsoft.com/office/drawing/2014/main" id="{2D8A9C51-3337-DC88-B1EC-5559CE78089A}"/>
              </a:ext>
            </a:extLst>
          </p:cNvPr>
          <p:cNvSpPr/>
          <p:nvPr/>
        </p:nvSpPr>
        <p:spPr>
          <a:xfrm>
            <a:off x="1096649" y="4201294"/>
            <a:ext cx="526543" cy="339537"/>
          </a:xfrm>
          <a:prstGeom prst="arc">
            <a:avLst>
              <a:gd name="adj1" fmla="val 10791859"/>
              <a:gd name="adj2" fmla="val 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" name="Arc 292">
            <a:extLst>
              <a:ext uri="{FF2B5EF4-FFF2-40B4-BE49-F238E27FC236}">
                <a16:creationId xmlns:a16="http://schemas.microsoft.com/office/drawing/2014/main" id="{863F9AAC-9F73-7ACC-F2C5-78E5AC186C59}"/>
              </a:ext>
            </a:extLst>
          </p:cNvPr>
          <p:cNvSpPr/>
          <p:nvPr/>
        </p:nvSpPr>
        <p:spPr>
          <a:xfrm>
            <a:off x="3349158" y="4190983"/>
            <a:ext cx="526543" cy="339537"/>
          </a:xfrm>
          <a:prstGeom prst="arc">
            <a:avLst>
              <a:gd name="adj1" fmla="val 10791859"/>
              <a:gd name="adj2" fmla="val 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50BF204C-96C0-F907-E81E-6F8D69751375}"/>
              </a:ext>
            </a:extLst>
          </p:cNvPr>
          <p:cNvCxnSpPr/>
          <p:nvPr/>
        </p:nvCxnSpPr>
        <p:spPr>
          <a:xfrm>
            <a:off x="5043771" y="4490636"/>
            <a:ext cx="32816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TextBox 296">
            <a:extLst>
              <a:ext uri="{FF2B5EF4-FFF2-40B4-BE49-F238E27FC236}">
                <a16:creationId xmlns:a16="http://schemas.microsoft.com/office/drawing/2014/main" id="{9431FD46-59D5-322C-0D32-28981E633D7B}"/>
              </a:ext>
            </a:extLst>
          </p:cNvPr>
          <p:cNvSpPr txBox="1"/>
          <p:nvPr/>
        </p:nvSpPr>
        <p:spPr>
          <a:xfrm>
            <a:off x="-269363" y="6491280"/>
            <a:ext cx="5635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/>
              <a:t>Extracellular Induced Short Circuit</a:t>
            </a:r>
            <a:endParaRPr lang="en-US"/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650D3200-8ED5-3066-514B-CA1308BD1E53}"/>
              </a:ext>
            </a:extLst>
          </p:cNvPr>
          <p:cNvSpPr txBox="1"/>
          <p:nvPr/>
        </p:nvSpPr>
        <p:spPr>
          <a:xfrm>
            <a:off x="7648874" y="3588573"/>
            <a:ext cx="57714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Lee et al., 2017</a:t>
            </a:r>
          </a:p>
        </p:txBody>
      </p:sp>
    </p:spTree>
    <p:extLst>
      <p:ext uri="{BB962C8B-B14F-4D97-AF65-F5344CB8AC3E}">
        <p14:creationId xmlns:p14="http://schemas.microsoft.com/office/powerpoint/2010/main" val="140958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29F447A3-6C15-A636-5E2E-68A04275A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7EC2336-6A0A-B1E9-D324-725CC6BE6822}"/>
              </a:ext>
            </a:extLst>
          </p:cNvPr>
          <p:cNvSpPr/>
          <p:nvPr/>
        </p:nvSpPr>
        <p:spPr>
          <a:xfrm>
            <a:off x="396618" y="3131883"/>
            <a:ext cx="2299946" cy="444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7BA651-4FD0-2E47-7A15-167F7813F843}"/>
              </a:ext>
            </a:extLst>
          </p:cNvPr>
          <p:cNvSpPr/>
          <p:nvPr/>
        </p:nvSpPr>
        <p:spPr>
          <a:xfrm>
            <a:off x="2422460" y="3457397"/>
            <a:ext cx="2299946" cy="444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Google Shape;72;g3dad5127776_0_483">
            <a:extLst>
              <a:ext uri="{FF2B5EF4-FFF2-40B4-BE49-F238E27FC236}">
                <a16:creationId xmlns:a16="http://schemas.microsoft.com/office/drawing/2014/main" id="{A3349CBA-81B5-EAF3-2606-3500398EF6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80526" y="6571476"/>
            <a:ext cx="17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73" name="Google Shape;73;g3dad5127776_0_483">
            <a:extLst>
              <a:ext uri="{FF2B5EF4-FFF2-40B4-BE49-F238E27FC236}">
                <a16:creationId xmlns:a16="http://schemas.microsoft.com/office/drawing/2014/main" id="{BED40955-BB1B-F4A0-83A9-90B21D95680D}"/>
              </a:ext>
            </a:extLst>
          </p:cNvPr>
          <p:cNvSpPr txBox="1"/>
          <p:nvPr/>
        </p:nvSpPr>
        <p:spPr>
          <a:xfrm>
            <a:off x="223663" y="149075"/>
            <a:ext cx="86967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</a:rPr>
              <a:t>Discrete Cardiac Connective Patterns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74" name="Google Shape;74;g3dad5127776_0_483">
            <a:extLst>
              <a:ext uri="{FF2B5EF4-FFF2-40B4-BE49-F238E27FC236}">
                <a16:creationId xmlns:a16="http://schemas.microsoft.com/office/drawing/2014/main" id="{977DAFF2-BA69-84AD-D10C-F246E9D391FB}"/>
              </a:ext>
            </a:extLst>
          </p:cNvPr>
          <p:cNvSpPr txBox="1"/>
          <p:nvPr/>
        </p:nvSpPr>
        <p:spPr>
          <a:xfrm>
            <a:off x="9665825" y="3876275"/>
            <a:ext cx="16026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5" name="Google Shape;75;g3dad5127776_0_483">
            <a:extLst>
              <a:ext uri="{FF2B5EF4-FFF2-40B4-BE49-F238E27FC236}">
                <a16:creationId xmlns:a16="http://schemas.microsoft.com/office/drawing/2014/main" id="{871CCEEC-0739-9BBA-36D4-2C8DC2302D77}"/>
              </a:ext>
            </a:extLst>
          </p:cNvPr>
          <p:cNvSpPr txBox="1"/>
          <p:nvPr/>
        </p:nvSpPr>
        <p:spPr>
          <a:xfrm>
            <a:off x="297995" y="1085366"/>
            <a:ext cx="8125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Numerical analysis are intrinsically discrete. What discrete features creates imbalance?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77" name="Google Shape;77;g3dad5127776_0_483">
            <a:extLst>
              <a:ext uri="{FF2B5EF4-FFF2-40B4-BE49-F238E27FC236}">
                <a16:creationId xmlns:a16="http://schemas.microsoft.com/office/drawing/2014/main" id="{B52AB9AF-E2F1-CCB4-9337-18C2B1E2937D}"/>
              </a:ext>
            </a:extLst>
          </p:cNvPr>
          <p:cNvSpPr txBox="1"/>
          <p:nvPr/>
        </p:nvSpPr>
        <p:spPr>
          <a:xfrm>
            <a:off x="297996" y="1590013"/>
            <a:ext cx="5058300" cy="3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Various Tissue Connection Networks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78" name="Google Shape;78;g3dad5127776_0_483">
            <a:extLst>
              <a:ext uri="{FF2B5EF4-FFF2-40B4-BE49-F238E27FC236}">
                <a16:creationId xmlns:a16="http://schemas.microsoft.com/office/drawing/2014/main" id="{7A7862EA-0BA7-5E22-FC8D-B9A22D3FCBBA}"/>
              </a:ext>
            </a:extLst>
          </p:cNvPr>
          <p:cNvSpPr/>
          <p:nvPr/>
        </p:nvSpPr>
        <p:spPr>
          <a:xfrm>
            <a:off x="6093093" y="2736416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dad5127776_0_483">
            <a:extLst>
              <a:ext uri="{FF2B5EF4-FFF2-40B4-BE49-F238E27FC236}">
                <a16:creationId xmlns:a16="http://schemas.microsoft.com/office/drawing/2014/main" id="{EB3E6383-BC8A-205F-F0E4-2CFF64E9E8C1}"/>
              </a:ext>
            </a:extLst>
          </p:cNvPr>
          <p:cNvSpPr/>
          <p:nvPr/>
        </p:nvSpPr>
        <p:spPr>
          <a:xfrm>
            <a:off x="6099226" y="2257575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3dad5127776_0_483">
            <a:extLst>
              <a:ext uri="{FF2B5EF4-FFF2-40B4-BE49-F238E27FC236}">
                <a16:creationId xmlns:a16="http://schemas.microsoft.com/office/drawing/2014/main" id="{496D28A7-5DD3-D457-2F95-6F02735ABE49}"/>
              </a:ext>
            </a:extLst>
          </p:cNvPr>
          <p:cNvSpPr/>
          <p:nvPr/>
        </p:nvSpPr>
        <p:spPr>
          <a:xfrm>
            <a:off x="6588285" y="2736416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3dad5127776_0_483">
            <a:extLst>
              <a:ext uri="{FF2B5EF4-FFF2-40B4-BE49-F238E27FC236}">
                <a16:creationId xmlns:a16="http://schemas.microsoft.com/office/drawing/2014/main" id="{EBA220D1-87A1-CBE7-85EC-0CCDCE8A1B79}"/>
              </a:ext>
            </a:extLst>
          </p:cNvPr>
          <p:cNvSpPr/>
          <p:nvPr/>
        </p:nvSpPr>
        <p:spPr>
          <a:xfrm>
            <a:off x="6588285" y="2257575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3dad5127776_0_483">
            <a:extLst>
              <a:ext uri="{FF2B5EF4-FFF2-40B4-BE49-F238E27FC236}">
                <a16:creationId xmlns:a16="http://schemas.microsoft.com/office/drawing/2014/main" id="{C0FE15B5-56F6-C57F-0C76-7408563F3943}"/>
              </a:ext>
            </a:extLst>
          </p:cNvPr>
          <p:cNvSpPr/>
          <p:nvPr/>
        </p:nvSpPr>
        <p:spPr>
          <a:xfrm>
            <a:off x="6588285" y="3219362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g3dad5127776_0_483">
            <a:extLst>
              <a:ext uri="{FF2B5EF4-FFF2-40B4-BE49-F238E27FC236}">
                <a16:creationId xmlns:a16="http://schemas.microsoft.com/office/drawing/2014/main" id="{6B95C784-506A-C6B0-A4A0-D288616B2D7E}"/>
              </a:ext>
            </a:extLst>
          </p:cNvPr>
          <p:cNvSpPr/>
          <p:nvPr/>
        </p:nvSpPr>
        <p:spPr>
          <a:xfrm>
            <a:off x="6093093" y="3219362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g3dad5127776_0_483">
            <a:extLst>
              <a:ext uri="{FF2B5EF4-FFF2-40B4-BE49-F238E27FC236}">
                <a16:creationId xmlns:a16="http://schemas.microsoft.com/office/drawing/2014/main" id="{CD2731F9-3C7A-B522-F2AF-AD0E62D07C12}"/>
              </a:ext>
            </a:extLst>
          </p:cNvPr>
          <p:cNvSpPr/>
          <p:nvPr/>
        </p:nvSpPr>
        <p:spPr>
          <a:xfrm>
            <a:off x="5597900" y="3219362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dad5127776_0_483">
            <a:extLst>
              <a:ext uri="{FF2B5EF4-FFF2-40B4-BE49-F238E27FC236}">
                <a16:creationId xmlns:a16="http://schemas.microsoft.com/office/drawing/2014/main" id="{70BA7208-464B-8F79-91D0-0482C92851D1}"/>
              </a:ext>
            </a:extLst>
          </p:cNvPr>
          <p:cNvSpPr/>
          <p:nvPr/>
        </p:nvSpPr>
        <p:spPr>
          <a:xfrm>
            <a:off x="5610156" y="2736416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dad5127776_0_483">
            <a:extLst>
              <a:ext uri="{FF2B5EF4-FFF2-40B4-BE49-F238E27FC236}">
                <a16:creationId xmlns:a16="http://schemas.microsoft.com/office/drawing/2014/main" id="{8B9D76D8-5039-FA65-B543-9BF569DD3228}"/>
              </a:ext>
            </a:extLst>
          </p:cNvPr>
          <p:cNvSpPr/>
          <p:nvPr/>
        </p:nvSpPr>
        <p:spPr>
          <a:xfrm>
            <a:off x="5610156" y="2257575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g3dad5127776_0_483">
            <a:extLst>
              <a:ext uri="{FF2B5EF4-FFF2-40B4-BE49-F238E27FC236}">
                <a16:creationId xmlns:a16="http://schemas.microsoft.com/office/drawing/2014/main" id="{75CA064A-06DB-8B37-5BEE-1C23F424A893}"/>
              </a:ext>
            </a:extLst>
          </p:cNvPr>
          <p:cNvCxnSpPr>
            <a:cxnSpLocks/>
            <a:stCxn id="78" idx="0"/>
            <a:endCxn id="79" idx="0"/>
          </p:cNvCxnSpPr>
          <p:nvPr/>
        </p:nvCxnSpPr>
        <p:spPr>
          <a:xfrm flipV="1">
            <a:off x="6280593" y="2257575"/>
            <a:ext cx="6133" cy="478841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8" name="Google Shape;88;g3dad5127776_0_483">
            <a:extLst>
              <a:ext uri="{FF2B5EF4-FFF2-40B4-BE49-F238E27FC236}">
                <a16:creationId xmlns:a16="http://schemas.microsoft.com/office/drawing/2014/main" id="{BA5B16A2-F275-ECA2-5986-599EFFDEF0E5}"/>
              </a:ext>
            </a:extLst>
          </p:cNvPr>
          <p:cNvCxnSpPr>
            <a:stCxn id="78" idx="3"/>
            <a:endCxn id="80" idx="3"/>
          </p:cNvCxnSpPr>
          <p:nvPr/>
        </p:nvCxnSpPr>
        <p:spPr>
          <a:xfrm>
            <a:off x="6468093" y="2919116"/>
            <a:ext cx="4953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9" name="Google Shape;89;g3dad5127776_0_483">
            <a:extLst>
              <a:ext uri="{FF2B5EF4-FFF2-40B4-BE49-F238E27FC236}">
                <a16:creationId xmlns:a16="http://schemas.microsoft.com/office/drawing/2014/main" id="{E0B10D2E-1192-7453-663A-2B80DECEDF4D}"/>
              </a:ext>
            </a:extLst>
          </p:cNvPr>
          <p:cNvCxnSpPr>
            <a:stCxn id="78" idx="2"/>
            <a:endCxn id="83" idx="2"/>
          </p:cNvCxnSpPr>
          <p:nvPr/>
        </p:nvCxnSpPr>
        <p:spPr>
          <a:xfrm>
            <a:off x="6280593" y="3101816"/>
            <a:ext cx="0" cy="483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0" name="Google Shape;90;g3dad5127776_0_483">
            <a:extLst>
              <a:ext uri="{FF2B5EF4-FFF2-40B4-BE49-F238E27FC236}">
                <a16:creationId xmlns:a16="http://schemas.microsoft.com/office/drawing/2014/main" id="{2870155D-98D7-6DA9-41D7-208EE78A536F}"/>
              </a:ext>
            </a:extLst>
          </p:cNvPr>
          <p:cNvCxnSpPr>
            <a:stCxn id="78" idx="1"/>
            <a:endCxn id="85" idx="1"/>
          </p:cNvCxnSpPr>
          <p:nvPr/>
        </p:nvCxnSpPr>
        <p:spPr>
          <a:xfrm rot="10800000">
            <a:off x="5610093" y="2919116"/>
            <a:ext cx="4830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" name="Google Shape;91;g3dad5127776_0_483">
            <a:extLst>
              <a:ext uri="{FF2B5EF4-FFF2-40B4-BE49-F238E27FC236}">
                <a16:creationId xmlns:a16="http://schemas.microsoft.com/office/drawing/2014/main" id="{DCB00D30-4874-4179-03E6-01A7C6E18D4B}"/>
              </a:ext>
            </a:extLst>
          </p:cNvPr>
          <p:cNvSpPr/>
          <p:nvPr/>
        </p:nvSpPr>
        <p:spPr>
          <a:xfrm>
            <a:off x="7682068" y="2734341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dad5127776_0_483">
            <a:extLst>
              <a:ext uri="{FF2B5EF4-FFF2-40B4-BE49-F238E27FC236}">
                <a16:creationId xmlns:a16="http://schemas.microsoft.com/office/drawing/2014/main" id="{FFFAEB21-5F03-459A-2F25-D84D5CD64DA1}"/>
              </a:ext>
            </a:extLst>
          </p:cNvPr>
          <p:cNvSpPr/>
          <p:nvPr/>
        </p:nvSpPr>
        <p:spPr>
          <a:xfrm>
            <a:off x="7688201" y="2255500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dad5127776_0_483">
            <a:extLst>
              <a:ext uri="{FF2B5EF4-FFF2-40B4-BE49-F238E27FC236}">
                <a16:creationId xmlns:a16="http://schemas.microsoft.com/office/drawing/2014/main" id="{7518FE00-4A06-AFA6-A019-310EF59D9488}"/>
              </a:ext>
            </a:extLst>
          </p:cNvPr>
          <p:cNvSpPr/>
          <p:nvPr/>
        </p:nvSpPr>
        <p:spPr>
          <a:xfrm>
            <a:off x="8177260" y="2734341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dad5127776_0_483">
            <a:extLst>
              <a:ext uri="{FF2B5EF4-FFF2-40B4-BE49-F238E27FC236}">
                <a16:creationId xmlns:a16="http://schemas.microsoft.com/office/drawing/2014/main" id="{CDC2BD22-EE79-2E87-644B-62B599C241EC}"/>
              </a:ext>
            </a:extLst>
          </p:cNvPr>
          <p:cNvSpPr/>
          <p:nvPr/>
        </p:nvSpPr>
        <p:spPr>
          <a:xfrm>
            <a:off x="8177260" y="2255500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dad5127776_0_483">
            <a:extLst>
              <a:ext uri="{FF2B5EF4-FFF2-40B4-BE49-F238E27FC236}">
                <a16:creationId xmlns:a16="http://schemas.microsoft.com/office/drawing/2014/main" id="{7D309E8B-6325-A098-063A-8D221DDCE4D2}"/>
              </a:ext>
            </a:extLst>
          </p:cNvPr>
          <p:cNvSpPr/>
          <p:nvPr/>
        </p:nvSpPr>
        <p:spPr>
          <a:xfrm>
            <a:off x="8177260" y="3217287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dad5127776_0_483">
            <a:extLst>
              <a:ext uri="{FF2B5EF4-FFF2-40B4-BE49-F238E27FC236}">
                <a16:creationId xmlns:a16="http://schemas.microsoft.com/office/drawing/2014/main" id="{A5651B38-68DF-29DA-7135-A30AB635E994}"/>
              </a:ext>
            </a:extLst>
          </p:cNvPr>
          <p:cNvSpPr/>
          <p:nvPr/>
        </p:nvSpPr>
        <p:spPr>
          <a:xfrm>
            <a:off x="7682068" y="3217287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dad5127776_0_483">
            <a:extLst>
              <a:ext uri="{FF2B5EF4-FFF2-40B4-BE49-F238E27FC236}">
                <a16:creationId xmlns:a16="http://schemas.microsoft.com/office/drawing/2014/main" id="{C4E2B037-24F3-AB41-BA96-7042DDD269E1}"/>
              </a:ext>
            </a:extLst>
          </p:cNvPr>
          <p:cNvSpPr/>
          <p:nvPr/>
        </p:nvSpPr>
        <p:spPr>
          <a:xfrm>
            <a:off x="7186875" y="3217287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dad5127776_0_483">
            <a:extLst>
              <a:ext uri="{FF2B5EF4-FFF2-40B4-BE49-F238E27FC236}">
                <a16:creationId xmlns:a16="http://schemas.microsoft.com/office/drawing/2014/main" id="{72FC9CE4-C66E-03BE-10DE-9250BCB0CF52}"/>
              </a:ext>
            </a:extLst>
          </p:cNvPr>
          <p:cNvSpPr/>
          <p:nvPr/>
        </p:nvSpPr>
        <p:spPr>
          <a:xfrm>
            <a:off x="7199131" y="2734341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dad5127776_0_483">
            <a:extLst>
              <a:ext uri="{FF2B5EF4-FFF2-40B4-BE49-F238E27FC236}">
                <a16:creationId xmlns:a16="http://schemas.microsoft.com/office/drawing/2014/main" id="{248630C2-68CE-F8C1-47A5-A0543B15E39D}"/>
              </a:ext>
            </a:extLst>
          </p:cNvPr>
          <p:cNvSpPr/>
          <p:nvPr/>
        </p:nvSpPr>
        <p:spPr>
          <a:xfrm>
            <a:off x="7199131" y="2255500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g3dad5127776_0_483">
            <a:extLst>
              <a:ext uri="{FF2B5EF4-FFF2-40B4-BE49-F238E27FC236}">
                <a16:creationId xmlns:a16="http://schemas.microsoft.com/office/drawing/2014/main" id="{6085ED9F-4078-D4CF-82CB-7038C5AE8656}"/>
              </a:ext>
            </a:extLst>
          </p:cNvPr>
          <p:cNvCxnSpPr>
            <a:stCxn id="91" idx="0"/>
            <a:endCxn id="92" idx="0"/>
          </p:cNvCxnSpPr>
          <p:nvPr/>
        </p:nvCxnSpPr>
        <p:spPr>
          <a:xfrm rot="10800000" flipH="1">
            <a:off x="7869568" y="2255541"/>
            <a:ext cx="6000" cy="478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1" name="Google Shape;101;g3dad5127776_0_483">
            <a:extLst>
              <a:ext uri="{FF2B5EF4-FFF2-40B4-BE49-F238E27FC236}">
                <a16:creationId xmlns:a16="http://schemas.microsoft.com/office/drawing/2014/main" id="{2145F484-5EFD-5202-D44A-7B913E9E6ECB}"/>
              </a:ext>
            </a:extLst>
          </p:cNvPr>
          <p:cNvCxnSpPr>
            <a:stCxn id="91" idx="3"/>
            <a:endCxn id="93" idx="3"/>
          </p:cNvCxnSpPr>
          <p:nvPr/>
        </p:nvCxnSpPr>
        <p:spPr>
          <a:xfrm>
            <a:off x="8057068" y="2917041"/>
            <a:ext cx="4953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" name="Google Shape;102;g3dad5127776_0_483">
            <a:extLst>
              <a:ext uri="{FF2B5EF4-FFF2-40B4-BE49-F238E27FC236}">
                <a16:creationId xmlns:a16="http://schemas.microsoft.com/office/drawing/2014/main" id="{F71ACED5-7736-94F9-842D-3F0E435786ED}"/>
              </a:ext>
            </a:extLst>
          </p:cNvPr>
          <p:cNvCxnSpPr>
            <a:stCxn id="91" idx="2"/>
            <a:endCxn id="96" idx="2"/>
          </p:cNvCxnSpPr>
          <p:nvPr/>
        </p:nvCxnSpPr>
        <p:spPr>
          <a:xfrm>
            <a:off x="7869568" y="3099741"/>
            <a:ext cx="0" cy="483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3" name="Google Shape;103;g3dad5127776_0_483">
            <a:extLst>
              <a:ext uri="{FF2B5EF4-FFF2-40B4-BE49-F238E27FC236}">
                <a16:creationId xmlns:a16="http://schemas.microsoft.com/office/drawing/2014/main" id="{F8B46C91-C3B9-CAA4-1B68-BFEA190BA8B7}"/>
              </a:ext>
            </a:extLst>
          </p:cNvPr>
          <p:cNvCxnSpPr>
            <a:stCxn id="91" idx="1"/>
            <a:endCxn id="98" idx="1"/>
          </p:cNvCxnSpPr>
          <p:nvPr/>
        </p:nvCxnSpPr>
        <p:spPr>
          <a:xfrm rot="10800000">
            <a:off x="7199068" y="2917041"/>
            <a:ext cx="4830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4" name="Google Shape;104;g3dad5127776_0_483">
            <a:extLst>
              <a:ext uri="{FF2B5EF4-FFF2-40B4-BE49-F238E27FC236}">
                <a16:creationId xmlns:a16="http://schemas.microsoft.com/office/drawing/2014/main" id="{6ADEB04E-CB9D-BAE4-B7C4-6805FE1BA205}"/>
              </a:ext>
            </a:extLst>
          </p:cNvPr>
          <p:cNvCxnSpPr/>
          <p:nvPr/>
        </p:nvCxnSpPr>
        <p:spPr>
          <a:xfrm rot="10800000" flipH="1">
            <a:off x="8057068" y="2371641"/>
            <a:ext cx="397200" cy="3627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" name="Google Shape;105;g3dad5127776_0_483">
            <a:extLst>
              <a:ext uri="{FF2B5EF4-FFF2-40B4-BE49-F238E27FC236}">
                <a16:creationId xmlns:a16="http://schemas.microsoft.com/office/drawing/2014/main" id="{50969295-7F11-5AF2-646E-02963F74AAF3}"/>
              </a:ext>
            </a:extLst>
          </p:cNvPr>
          <p:cNvCxnSpPr/>
          <p:nvPr/>
        </p:nvCxnSpPr>
        <p:spPr>
          <a:xfrm>
            <a:off x="8051685" y="3099762"/>
            <a:ext cx="418500" cy="397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6" name="Google Shape;106;g3dad5127776_0_483">
            <a:extLst>
              <a:ext uri="{FF2B5EF4-FFF2-40B4-BE49-F238E27FC236}">
                <a16:creationId xmlns:a16="http://schemas.microsoft.com/office/drawing/2014/main" id="{E34B00F2-0E58-A5F3-534B-EEAC99E3A775}"/>
              </a:ext>
            </a:extLst>
          </p:cNvPr>
          <p:cNvCxnSpPr/>
          <p:nvPr/>
        </p:nvCxnSpPr>
        <p:spPr>
          <a:xfrm rot="10800000">
            <a:off x="7270481" y="2368188"/>
            <a:ext cx="417600" cy="369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7" name="Google Shape;107;g3dad5127776_0_483">
            <a:extLst>
              <a:ext uri="{FF2B5EF4-FFF2-40B4-BE49-F238E27FC236}">
                <a16:creationId xmlns:a16="http://schemas.microsoft.com/office/drawing/2014/main" id="{9758249E-AC43-80C0-FEAF-605293E1ED6D}"/>
              </a:ext>
            </a:extLst>
          </p:cNvPr>
          <p:cNvCxnSpPr/>
          <p:nvPr/>
        </p:nvCxnSpPr>
        <p:spPr>
          <a:xfrm flipH="1">
            <a:off x="7254868" y="3096312"/>
            <a:ext cx="432600" cy="414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8" name="Google Shape;108;g3dad5127776_0_483">
            <a:extLst>
              <a:ext uri="{FF2B5EF4-FFF2-40B4-BE49-F238E27FC236}">
                <a16:creationId xmlns:a16="http://schemas.microsoft.com/office/drawing/2014/main" id="{6A250B9A-1449-E975-68CC-30A4AB1022CE}"/>
              </a:ext>
            </a:extLst>
          </p:cNvPr>
          <p:cNvSpPr txBox="1"/>
          <p:nvPr/>
        </p:nvSpPr>
        <p:spPr>
          <a:xfrm>
            <a:off x="5596293" y="3706450"/>
            <a:ext cx="1368600" cy="3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Cardinal</a:t>
            </a:r>
            <a:endParaRPr b="1"/>
          </a:p>
        </p:txBody>
      </p:sp>
      <p:sp>
        <p:nvSpPr>
          <p:cNvPr id="109" name="Google Shape;109;g3dad5127776_0_483">
            <a:extLst>
              <a:ext uri="{FF2B5EF4-FFF2-40B4-BE49-F238E27FC236}">
                <a16:creationId xmlns:a16="http://schemas.microsoft.com/office/drawing/2014/main" id="{D53AE0EB-D59E-1A7C-FCAD-208613506322}"/>
              </a:ext>
            </a:extLst>
          </p:cNvPr>
          <p:cNvSpPr txBox="1"/>
          <p:nvPr/>
        </p:nvSpPr>
        <p:spPr>
          <a:xfrm>
            <a:off x="6779535" y="3704087"/>
            <a:ext cx="22113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Moore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10" name="Google Shape;110;g3dad5127776_0_483">
            <a:extLst>
              <a:ext uri="{FF2B5EF4-FFF2-40B4-BE49-F238E27FC236}">
                <a16:creationId xmlns:a16="http://schemas.microsoft.com/office/drawing/2014/main" id="{3E69F7C2-4AE3-94BF-7CF8-9B938758BF07}"/>
              </a:ext>
            </a:extLst>
          </p:cNvPr>
          <p:cNvSpPr txBox="1"/>
          <p:nvPr/>
        </p:nvSpPr>
        <p:spPr>
          <a:xfrm>
            <a:off x="5385825" y="1596688"/>
            <a:ext cx="367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b="1">
                <a:solidFill>
                  <a:schemeClr val="dk1"/>
                </a:solidFill>
              </a:rPr>
              <a:t>Different Directional Connective Patterns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398FEE-D492-F725-4005-7EDD355F3A1A}"/>
              </a:ext>
            </a:extLst>
          </p:cNvPr>
          <p:cNvSpPr/>
          <p:nvPr/>
        </p:nvSpPr>
        <p:spPr>
          <a:xfrm>
            <a:off x="1243872" y="2153340"/>
            <a:ext cx="1435396" cy="3129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491C88-76A3-C3EE-1684-C341228F5F9E}"/>
              </a:ext>
            </a:extLst>
          </p:cNvPr>
          <p:cNvSpPr/>
          <p:nvPr/>
        </p:nvSpPr>
        <p:spPr>
          <a:xfrm>
            <a:off x="1243872" y="2474166"/>
            <a:ext cx="1435396" cy="3129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C7AF7C-F5F0-5432-E04D-A65AA694A751}"/>
              </a:ext>
            </a:extLst>
          </p:cNvPr>
          <p:cNvSpPr/>
          <p:nvPr/>
        </p:nvSpPr>
        <p:spPr>
          <a:xfrm>
            <a:off x="2679268" y="2153340"/>
            <a:ext cx="1435396" cy="3129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8AD9CC-BBB2-89D3-9DE6-43EED2202727}"/>
              </a:ext>
            </a:extLst>
          </p:cNvPr>
          <p:cNvSpPr/>
          <p:nvPr/>
        </p:nvSpPr>
        <p:spPr>
          <a:xfrm>
            <a:off x="2657803" y="3263030"/>
            <a:ext cx="1435396" cy="1768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F0CA95-80E6-3652-30EA-B56037B1C03F}"/>
              </a:ext>
            </a:extLst>
          </p:cNvPr>
          <p:cNvSpPr/>
          <p:nvPr/>
        </p:nvSpPr>
        <p:spPr>
          <a:xfrm>
            <a:off x="1200602" y="3263030"/>
            <a:ext cx="1435396" cy="3129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CDFB3C-C994-678A-CBB0-6AB3E1516FE0}"/>
              </a:ext>
            </a:extLst>
          </p:cNvPr>
          <p:cNvSpPr/>
          <p:nvPr/>
        </p:nvSpPr>
        <p:spPr>
          <a:xfrm>
            <a:off x="2972542" y="3439913"/>
            <a:ext cx="1743089" cy="3650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B794D4-63C7-F78B-7BA7-81CF032156FF}"/>
              </a:ext>
            </a:extLst>
          </p:cNvPr>
          <p:cNvSpPr/>
          <p:nvPr/>
        </p:nvSpPr>
        <p:spPr>
          <a:xfrm>
            <a:off x="387309" y="3592638"/>
            <a:ext cx="2028376" cy="304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082BEE-FE56-BB62-F96C-3930C448227E}"/>
              </a:ext>
            </a:extLst>
          </p:cNvPr>
          <p:cNvSpPr/>
          <p:nvPr/>
        </p:nvSpPr>
        <p:spPr>
          <a:xfrm>
            <a:off x="2030095" y="3085196"/>
            <a:ext cx="1435396" cy="1768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18D6C9-6FDA-4F27-9A71-A71F65C96F98}"/>
              </a:ext>
            </a:extLst>
          </p:cNvPr>
          <p:cNvSpPr/>
          <p:nvPr/>
        </p:nvSpPr>
        <p:spPr>
          <a:xfrm>
            <a:off x="2679268" y="2480446"/>
            <a:ext cx="1435396" cy="3129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6D3703F-CFE5-1FEA-DBB4-A0164DF81413}"/>
              </a:ext>
            </a:extLst>
          </p:cNvPr>
          <p:cNvSpPr/>
          <p:nvPr/>
        </p:nvSpPr>
        <p:spPr>
          <a:xfrm>
            <a:off x="1871908" y="2236432"/>
            <a:ext cx="142777" cy="15948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39C6A11-31DD-A6E2-C214-9AAA9950FEA8}"/>
              </a:ext>
            </a:extLst>
          </p:cNvPr>
          <p:cNvSpPr/>
          <p:nvPr/>
        </p:nvSpPr>
        <p:spPr>
          <a:xfrm>
            <a:off x="3355625" y="2236432"/>
            <a:ext cx="142777" cy="15948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902304A-9C64-D036-1FF0-F03C1286E7A4}"/>
              </a:ext>
            </a:extLst>
          </p:cNvPr>
          <p:cNvSpPr/>
          <p:nvPr/>
        </p:nvSpPr>
        <p:spPr>
          <a:xfrm>
            <a:off x="1871908" y="2572632"/>
            <a:ext cx="142777" cy="15948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8B14F78-5B26-BECC-15EF-281FC90E8CDE}"/>
              </a:ext>
            </a:extLst>
          </p:cNvPr>
          <p:cNvSpPr/>
          <p:nvPr/>
        </p:nvSpPr>
        <p:spPr>
          <a:xfrm>
            <a:off x="3355625" y="2574853"/>
            <a:ext cx="142777" cy="15948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9440078-5193-8453-7DF5-67032B97F186}"/>
              </a:ext>
            </a:extLst>
          </p:cNvPr>
          <p:cNvSpPr/>
          <p:nvPr/>
        </p:nvSpPr>
        <p:spPr>
          <a:xfrm>
            <a:off x="1869259" y="3286470"/>
            <a:ext cx="142777" cy="15948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1C988A1-85D3-CBA9-E19A-5C7A20AE04FF}"/>
              </a:ext>
            </a:extLst>
          </p:cNvPr>
          <p:cNvSpPr/>
          <p:nvPr/>
        </p:nvSpPr>
        <p:spPr>
          <a:xfrm>
            <a:off x="3352976" y="3286470"/>
            <a:ext cx="142777" cy="15948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4466A17-3577-1346-65EF-597B9BAA684C}"/>
              </a:ext>
            </a:extLst>
          </p:cNvPr>
          <p:cNvSpPr/>
          <p:nvPr/>
        </p:nvSpPr>
        <p:spPr>
          <a:xfrm>
            <a:off x="1869259" y="3622670"/>
            <a:ext cx="142777" cy="15948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798FA51-65B5-ECCB-CFE2-319D4C0DAD18}"/>
              </a:ext>
            </a:extLst>
          </p:cNvPr>
          <p:cNvSpPr/>
          <p:nvPr/>
        </p:nvSpPr>
        <p:spPr>
          <a:xfrm>
            <a:off x="3352976" y="3624891"/>
            <a:ext cx="142777" cy="15948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Google Shape;88;g3dad5127776_0_483">
            <a:extLst>
              <a:ext uri="{FF2B5EF4-FFF2-40B4-BE49-F238E27FC236}">
                <a16:creationId xmlns:a16="http://schemas.microsoft.com/office/drawing/2014/main" id="{D5425564-BCC3-7C59-B398-3B929A9A2D0A}"/>
              </a:ext>
            </a:extLst>
          </p:cNvPr>
          <p:cNvCxnSpPr/>
          <p:nvPr/>
        </p:nvCxnSpPr>
        <p:spPr>
          <a:xfrm>
            <a:off x="2479725" y="2347027"/>
            <a:ext cx="495300" cy="0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" name="Google Shape;88;g3dad5127776_0_483">
            <a:extLst>
              <a:ext uri="{FF2B5EF4-FFF2-40B4-BE49-F238E27FC236}">
                <a16:creationId xmlns:a16="http://schemas.microsoft.com/office/drawing/2014/main" id="{BBAD8D34-FDBC-F994-9480-A4AB432FF2FF}"/>
              </a:ext>
            </a:extLst>
          </p:cNvPr>
          <p:cNvCxnSpPr>
            <a:cxnSpLocks/>
          </p:cNvCxnSpPr>
          <p:nvPr/>
        </p:nvCxnSpPr>
        <p:spPr>
          <a:xfrm>
            <a:off x="2479725" y="2399243"/>
            <a:ext cx="495300" cy="205502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" name="Multiply 34">
            <a:extLst>
              <a:ext uri="{FF2B5EF4-FFF2-40B4-BE49-F238E27FC236}">
                <a16:creationId xmlns:a16="http://schemas.microsoft.com/office/drawing/2014/main" id="{CAC64F17-ABE7-A8BF-BCBD-493B6C48E292}"/>
              </a:ext>
            </a:extLst>
          </p:cNvPr>
          <p:cNvSpPr/>
          <p:nvPr/>
        </p:nvSpPr>
        <p:spPr>
          <a:xfrm>
            <a:off x="2567649" y="2363690"/>
            <a:ext cx="259497" cy="285978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Google Shape;88;g3dad5127776_0_483">
            <a:extLst>
              <a:ext uri="{FF2B5EF4-FFF2-40B4-BE49-F238E27FC236}">
                <a16:creationId xmlns:a16="http://schemas.microsoft.com/office/drawing/2014/main" id="{CD76C408-B3DC-DCE3-5B17-5FB0FC2112DE}"/>
              </a:ext>
            </a:extLst>
          </p:cNvPr>
          <p:cNvCxnSpPr>
            <a:cxnSpLocks/>
          </p:cNvCxnSpPr>
          <p:nvPr/>
        </p:nvCxnSpPr>
        <p:spPr>
          <a:xfrm>
            <a:off x="2306024" y="3449524"/>
            <a:ext cx="495300" cy="205502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" name="Google Shape;88;g3dad5127776_0_483">
            <a:extLst>
              <a:ext uri="{FF2B5EF4-FFF2-40B4-BE49-F238E27FC236}">
                <a16:creationId xmlns:a16="http://schemas.microsoft.com/office/drawing/2014/main" id="{53B66248-EE53-D447-B029-661E93E35B6A}"/>
              </a:ext>
            </a:extLst>
          </p:cNvPr>
          <p:cNvCxnSpPr/>
          <p:nvPr/>
        </p:nvCxnSpPr>
        <p:spPr>
          <a:xfrm>
            <a:off x="2415685" y="3345725"/>
            <a:ext cx="495300" cy="0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" name="Google Shape;88;g3dad5127776_0_483">
            <a:extLst>
              <a:ext uri="{FF2B5EF4-FFF2-40B4-BE49-F238E27FC236}">
                <a16:creationId xmlns:a16="http://schemas.microsoft.com/office/drawing/2014/main" id="{0F8BEE42-D52C-4549-8DBF-EA7AA746AA9D}"/>
              </a:ext>
            </a:extLst>
          </p:cNvPr>
          <p:cNvCxnSpPr>
            <a:cxnSpLocks/>
          </p:cNvCxnSpPr>
          <p:nvPr/>
        </p:nvCxnSpPr>
        <p:spPr>
          <a:xfrm flipV="1">
            <a:off x="2193882" y="3143308"/>
            <a:ext cx="472399" cy="204506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" name="Google Shape;88;g3dad5127776_0_483">
            <a:extLst>
              <a:ext uri="{FF2B5EF4-FFF2-40B4-BE49-F238E27FC236}">
                <a16:creationId xmlns:a16="http://schemas.microsoft.com/office/drawing/2014/main" id="{B9D8BC1A-7B46-BB9E-433F-2D2480091C1D}"/>
              </a:ext>
            </a:extLst>
          </p:cNvPr>
          <p:cNvCxnSpPr>
            <a:cxnSpLocks/>
          </p:cNvCxnSpPr>
          <p:nvPr/>
        </p:nvCxnSpPr>
        <p:spPr>
          <a:xfrm>
            <a:off x="2181158" y="3490258"/>
            <a:ext cx="0" cy="259097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" name="Google Shape;88;g3dad5127776_0_483">
            <a:extLst>
              <a:ext uri="{FF2B5EF4-FFF2-40B4-BE49-F238E27FC236}">
                <a16:creationId xmlns:a16="http://schemas.microsoft.com/office/drawing/2014/main" id="{5AD25B96-26EF-0929-0005-CCCBAB2D7D5A}"/>
              </a:ext>
            </a:extLst>
          </p:cNvPr>
          <p:cNvCxnSpPr>
            <a:cxnSpLocks/>
          </p:cNvCxnSpPr>
          <p:nvPr/>
        </p:nvCxnSpPr>
        <p:spPr>
          <a:xfrm flipV="1">
            <a:off x="2181158" y="3085196"/>
            <a:ext cx="0" cy="220362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" name="Google Shape;88;g3dad5127776_0_483">
            <a:extLst>
              <a:ext uri="{FF2B5EF4-FFF2-40B4-BE49-F238E27FC236}">
                <a16:creationId xmlns:a16="http://schemas.microsoft.com/office/drawing/2014/main" id="{8E20EC3B-F4C7-0E8E-9686-06CAE8E64BF3}"/>
              </a:ext>
            </a:extLst>
          </p:cNvPr>
          <p:cNvCxnSpPr>
            <a:cxnSpLocks/>
          </p:cNvCxnSpPr>
          <p:nvPr/>
        </p:nvCxnSpPr>
        <p:spPr>
          <a:xfrm>
            <a:off x="2397401" y="2395920"/>
            <a:ext cx="0" cy="259097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53" name="video_cardinal4_face_mirror">
            <a:hlinkClick r:id="" action="ppaction://media"/>
            <a:extLst>
              <a:ext uri="{FF2B5EF4-FFF2-40B4-BE49-F238E27FC236}">
                <a16:creationId xmlns:a16="http://schemas.microsoft.com/office/drawing/2014/main" id="{C4167465-45E5-B706-FC63-34CCD4F36EC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23663" y="4512277"/>
            <a:ext cx="2635040" cy="1671010"/>
          </a:xfrm>
          <a:prstGeom prst="rect">
            <a:avLst/>
          </a:prstGeom>
        </p:spPr>
      </p:pic>
      <p:pic>
        <p:nvPicPr>
          <p:cNvPr id="54" name="video_moore8_uniform_face_mirror">
            <a:hlinkClick r:id="" action="ppaction://media"/>
            <a:extLst>
              <a:ext uri="{FF2B5EF4-FFF2-40B4-BE49-F238E27FC236}">
                <a16:creationId xmlns:a16="http://schemas.microsoft.com/office/drawing/2014/main" id="{371ABD81-640F-3922-C22E-C4A9B260A9F1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998723" y="4506131"/>
            <a:ext cx="2655752" cy="167101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69B95AF9-F143-4E81-EE12-8B1F1BC75B98}"/>
              </a:ext>
            </a:extLst>
          </p:cNvPr>
          <p:cNvSpPr txBox="1"/>
          <p:nvPr/>
        </p:nvSpPr>
        <p:spPr>
          <a:xfrm>
            <a:off x="297995" y="4148429"/>
            <a:ext cx="59825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Monodomain Simulation w Different Connective Patterns </a:t>
            </a:r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9B41FEC-3734-7B23-031F-FA3E5EDF7EFE}"/>
              </a:ext>
            </a:extLst>
          </p:cNvPr>
          <p:cNvSpPr txBox="1"/>
          <p:nvPr/>
        </p:nvSpPr>
        <p:spPr>
          <a:xfrm>
            <a:off x="459233" y="6239358"/>
            <a:ext cx="18845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/>
              <a:t>Cardinal</a:t>
            </a:r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D65A0B3-2F0E-24F0-686B-4D7741F05096}"/>
              </a:ext>
            </a:extLst>
          </p:cNvPr>
          <p:cNvSpPr txBox="1"/>
          <p:nvPr/>
        </p:nvSpPr>
        <p:spPr>
          <a:xfrm>
            <a:off x="3958157" y="6234168"/>
            <a:ext cx="5635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dk1"/>
                </a:solidFill>
              </a:rPr>
              <a:t>Moore</a:t>
            </a:r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E075748-111E-0514-AA0C-0CCB980630F6}"/>
              </a:ext>
            </a:extLst>
          </p:cNvPr>
          <p:cNvSpPr txBox="1"/>
          <p:nvPr/>
        </p:nvSpPr>
        <p:spPr>
          <a:xfrm>
            <a:off x="5802180" y="4161193"/>
            <a:ext cx="301793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Modeling cardiac tissue networks on structural grid requires diagonal connections</a:t>
            </a:r>
          </a:p>
          <a:p>
            <a:endParaRPr lang="en-US" b="1"/>
          </a:p>
          <a:p>
            <a:r>
              <a:rPr lang="en-US" b="1"/>
              <a:t>Adding diagonal connections could lead to boundary speed changes</a:t>
            </a:r>
          </a:p>
          <a:p>
            <a:endParaRPr lang="en-US" b="1"/>
          </a:p>
          <a:p>
            <a:r>
              <a:rPr lang="en-US" b="1"/>
              <a:t>Where is the “source” of this source-sink mismatch?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95578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5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000" fill="hold"/>
                                        <p:tgtEl>
                                          <p:spTgt spid="5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5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5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video>
              <p:cMediaNode>
                <p:cTn id="21" fill="hold" display="0">
                  <p:stCondLst>
                    <p:cond delay="indefinite"/>
                  </p:stCondLst>
                </p:cTn>
                <p:tgtEl>
                  <p:spTgt spid="53"/>
                </p:tgtEl>
              </p:cMediaNode>
            </p:video>
            <p:video>
              <p:cMediaNode>
                <p:cTn id="22" fill="hold" display="0">
                  <p:stCondLst>
                    <p:cond delay="indefinite"/>
                  </p:stCondLst>
                </p:cTn>
                <p:tgtEl>
                  <p:spTgt spid="54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F88D4250-2A64-45EB-089E-D7033DB54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ad5127776_0_483">
            <a:extLst>
              <a:ext uri="{FF2B5EF4-FFF2-40B4-BE49-F238E27FC236}">
                <a16:creationId xmlns:a16="http://schemas.microsoft.com/office/drawing/2014/main" id="{56B9D9DD-0098-CDCB-EF88-3358B89B51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80526" y="6571476"/>
            <a:ext cx="17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73" name="Google Shape;73;g3dad5127776_0_483">
            <a:extLst>
              <a:ext uri="{FF2B5EF4-FFF2-40B4-BE49-F238E27FC236}">
                <a16:creationId xmlns:a16="http://schemas.microsoft.com/office/drawing/2014/main" id="{AF9F1C6B-BFD5-3C6E-030B-02504A6B1F67}"/>
              </a:ext>
            </a:extLst>
          </p:cNvPr>
          <p:cNvSpPr txBox="1"/>
          <p:nvPr/>
        </p:nvSpPr>
        <p:spPr>
          <a:xfrm>
            <a:off x="223663" y="149075"/>
            <a:ext cx="86967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</a:rPr>
              <a:t>Streaming vs Receiving</a:t>
            </a:r>
            <a:endParaRPr sz="2800" b="1">
              <a:solidFill>
                <a:schemeClr val="lt1"/>
              </a:solidFill>
            </a:endParaRPr>
          </a:p>
        </p:txBody>
      </p:sp>
      <p:sp>
        <p:nvSpPr>
          <p:cNvPr id="74" name="Google Shape;74;g3dad5127776_0_483">
            <a:extLst>
              <a:ext uri="{FF2B5EF4-FFF2-40B4-BE49-F238E27FC236}">
                <a16:creationId xmlns:a16="http://schemas.microsoft.com/office/drawing/2014/main" id="{F2038584-09E9-DFF1-7D67-CE1BA305845C}"/>
              </a:ext>
            </a:extLst>
          </p:cNvPr>
          <p:cNvSpPr txBox="1"/>
          <p:nvPr/>
        </p:nvSpPr>
        <p:spPr>
          <a:xfrm>
            <a:off x="9665825" y="3876275"/>
            <a:ext cx="16026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5" name="Google Shape;75;g3dad5127776_0_483">
            <a:extLst>
              <a:ext uri="{FF2B5EF4-FFF2-40B4-BE49-F238E27FC236}">
                <a16:creationId xmlns:a16="http://schemas.microsoft.com/office/drawing/2014/main" id="{7282884A-27DA-5C6E-B7E7-C35AFC05F784}"/>
              </a:ext>
            </a:extLst>
          </p:cNvPr>
          <p:cNvSpPr txBox="1"/>
          <p:nvPr/>
        </p:nvSpPr>
        <p:spPr>
          <a:xfrm>
            <a:off x="223663" y="1119884"/>
            <a:ext cx="8125200" cy="81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The laterial discrete source-sink mismatch occurs when there is an imbalance between receiving less vs draining less compared to the center cells. 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77" name="Google Shape;77;g3dad5127776_0_483">
            <a:extLst>
              <a:ext uri="{FF2B5EF4-FFF2-40B4-BE49-F238E27FC236}">
                <a16:creationId xmlns:a16="http://schemas.microsoft.com/office/drawing/2014/main" id="{449A197E-6668-3284-E072-5D4625794913}"/>
              </a:ext>
            </a:extLst>
          </p:cNvPr>
          <p:cNvSpPr txBox="1"/>
          <p:nvPr/>
        </p:nvSpPr>
        <p:spPr>
          <a:xfrm>
            <a:off x="231576" y="1802466"/>
            <a:ext cx="5058300" cy="3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Effect 1: Boundary cells receive less source 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10" name="Google Shape;110;g3dad5127776_0_483">
            <a:extLst>
              <a:ext uri="{FF2B5EF4-FFF2-40B4-BE49-F238E27FC236}">
                <a16:creationId xmlns:a16="http://schemas.microsoft.com/office/drawing/2014/main" id="{E7E4A605-E529-CF9F-A55E-B72EB424ED39}"/>
              </a:ext>
            </a:extLst>
          </p:cNvPr>
          <p:cNvSpPr txBox="1"/>
          <p:nvPr/>
        </p:nvSpPr>
        <p:spPr>
          <a:xfrm>
            <a:off x="4833614" y="1813462"/>
            <a:ext cx="3946912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Effect 2: Boundary cells stream to less sink </a:t>
            </a:r>
            <a:endParaRPr/>
          </a:p>
        </p:txBody>
      </p:sp>
      <p:sp>
        <p:nvSpPr>
          <p:cNvPr id="5" name="Google Shape;78;g3dad5127776_0_483">
            <a:extLst>
              <a:ext uri="{FF2B5EF4-FFF2-40B4-BE49-F238E27FC236}">
                <a16:creationId xmlns:a16="http://schemas.microsoft.com/office/drawing/2014/main" id="{C4CFF3A5-07B2-F977-2BAC-75DDE0346CF5}"/>
              </a:ext>
            </a:extLst>
          </p:cNvPr>
          <p:cNvSpPr/>
          <p:nvPr/>
        </p:nvSpPr>
        <p:spPr>
          <a:xfrm>
            <a:off x="1067718" y="3228341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79;g3dad5127776_0_483">
            <a:extLst>
              <a:ext uri="{FF2B5EF4-FFF2-40B4-BE49-F238E27FC236}">
                <a16:creationId xmlns:a16="http://schemas.microsoft.com/office/drawing/2014/main" id="{994B65D4-8B0B-B30C-2916-083AE04F2E4C}"/>
              </a:ext>
            </a:extLst>
          </p:cNvPr>
          <p:cNvSpPr/>
          <p:nvPr/>
        </p:nvSpPr>
        <p:spPr>
          <a:xfrm>
            <a:off x="1073851" y="2749500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80;g3dad5127776_0_483">
            <a:extLst>
              <a:ext uri="{FF2B5EF4-FFF2-40B4-BE49-F238E27FC236}">
                <a16:creationId xmlns:a16="http://schemas.microsoft.com/office/drawing/2014/main" id="{B3A92060-D68C-409E-807C-2E5D6DCABE00}"/>
              </a:ext>
            </a:extLst>
          </p:cNvPr>
          <p:cNvSpPr/>
          <p:nvPr/>
        </p:nvSpPr>
        <p:spPr>
          <a:xfrm>
            <a:off x="1562910" y="3228341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1;g3dad5127776_0_483">
            <a:extLst>
              <a:ext uri="{FF2B5EF4-FFF2-40B4-BE49-F238E27FC236}">
                <a16:creationId xmlns:a16="http://schemas.microsoft.com/office/drawing/2014/main" id="{8646213A-0288-B837-EF8F-39B355AF7DA6}"/>
              </a:ext>
            </a:extLst>
          </p:cNvPr>
          <p:cNvSpPr/>
          <p:nvPr/>
        </p:nvSpPr>
        <p:spPr>
          <a:xfrm>
            <a:off x="1562910" y="2749500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85;g3dad5127776_0_483">
            <a:extLst>
              <a:ext uri="{FF2B5EF4-FFF2-40B4-BE49-F238E27FC236}">
                <a16:creationId xmlns:a16="http://schemas.microsoft.com/office/drawing/2014/main" id="{6A29C459-033B-4465-B363-3BFAAFAD5DD2}"/>
              </a:ext>
            </a:extLst>
          </p:cNvPr>
          <p:cNvSpPr/>
          <p:nvPr/>
        </p:nvSpPr>
        <p:spPr>
          <a:xfrm>
            <a:off x="584781" y="3228341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86;g3dad5127776_0_483">
            <a:extLst>
              <a:ext uri="{FF2B5EF4-FFF2-40B4-BE49-F238E27FC236}">
                <a16:creationId xmlns:a16="http://schemas.microsoft.com/office/drawing/2014/main" id="{65ED0F3D-2225-8BA2-52C0-E0A96A6571AE}"/>
              </a:ext>
            </a:extLst>
          </p:cNvPr>
          <p:cNvSpPr/>
          <p:nvPr/>
        </p:nvSpPr>
        <p:spPr>
          <a:xfrm>
            <a:off x="584781" y="2749500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79;g3dad5127776_0_483">
            <a:extLst>
              <a:ext uri="{FF2B5EF4-FFF2-40B4-BE49-F238E27FC236}">
                <a16:creationId xmlns:a16="http://schemas.microsoft.com/office/drawing/2014/main" id="{B44714DD-F4F4-7D70-62FF-9C284179D5E8}"/>
              </a:ext>
            </a:extLst>
          </p:cNvPr>
          <p:cNvSpPr/>
          <p:nvPr/>
        </p:nvSpPr>
        <p:spPr>
          <a:xfrm>
            <a:off x="1067663" y="2265663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81;g3dad5127776_0_483">
            <a:extLst>
              <a:ext uri="{FF2B5EF4-FFF2-40B4-BE49-F238E27FC236}">
                <a16:creationId xmlns:a16="http://schemas.microsoft.com/office/drawing/2014/main" id="{14C3976B-F46E-0C15-98BB-47CF99312F58}"/>
              </a:ext>
            </a:extLst>
          </p:cNvPr>
          <p:cNvSpPr/>
          <p:nvPr/>
        </p:nvSpPr>
        <p:spPr>
          <a:xfrm>
            <a:off x="1556722" y="2265663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86;g3dad5127776_0_483">
            <a:extLst>
              <a:ext uri="{FF2B5EF4-FFF2-40B4-BE49-F238E27FC236}">
                <a16:creationId xmlns:a16="http://schemas.microsoft.com/office/drawing/2014/main" id="{43BFB572-EE3E-8719-CB22-55AC27502713}"/>
              </a:ext>
            </a:extLst>
          </p:cNvPr>
          <p:cNvSpPr/>
          <p:nvPr/>
        </p:nvSpPr>
        <p:spPr>
          <a:xfrm>
            <a:off x="578593" y="2265663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78;g3dad5127776_0_483">
            <a:extLst>
              <a:ext uri="{FF2B5EF4-FFF2-40B4-BE49-F238E27FC236}">
                <a16:creationId xmlns:a16="http://schemas.microsoft.com/office/drawing/2014/main" id="{68F3CC60-F666-823B-2828-C4C2C1802385}"/>
              </a:ext>
            </a:extLst>
          </p:cNvPr>
          <p:cNvSpPr/>
          <p:nvPr/>
        </p:nvSpPr>
        <p:spPr>
          <a:xfrm>
            <a:off x="2974490" y="3228341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79;g3dad5127776_0_483">
            <a:extLst>
              <a:ext uri="{FF2B5EF4-FFF2-40B4-BE49-F238E27FC236}">
                <a16:creationId xmlns:a16="http://schemas.microsoft.com/office/drawing/2014/main" id="{FDA28A08-E070-4F8B-DDAF-7639615F3C5D}"/>
              </a:ext>
            </a:extLst>
          </p:cNvPr>
          <p:cNvSpPr/>
          <p:nvPr/>
        </p:nvSpPr>
        <p:spPr>
          <a:xfrm>
            <a:off x="2980623" y="2749500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0;g3dad5127776_0_483">
            <a:extLst>
              <a:ext uri="{FF2B5EF4-FFF2-40B4-BE49-F238E27FC236}">
                <a16:creationId xmlns:a16="http://schemas.microsoft.com/office/drawing/2014/main" id="{BA0C73E1-C3C8-DF99-0D3A-31AE623F182A}"/>
              </a:ext>
            </a:extLst>
          </p:cNvPr>
          <p:cNvSpPr/>
          <p:nvPr/>
        </p:nvSpPr>
        <p:spPr>
          <a:xfrm>
            <a:off x="3469682" y="3228341"/>
            <a:ext cx="375000" cy="365400"/>
          </a:xfrm>
          <a:prstGeom prst="rect">
            <a:avLst/>
          </a:prstGeom>
          <a:solidFill>
            <a:srgbClr val="FFFF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81;g3dad5127776_0_483">
            <a:extLst>
              <a:ext uri="{FF2B5EF4-FFF2-40B4-BE49-F238E27FC236}">
                <a16:creationId xmlns:a16="http://schemas.microsoft.com/office/drawing/2014/main" id="{53139D28-A9CE-1B28-930A-A91DB5075C7D}"/>
              </a:ext>
            </a:extLst>
          </p:cNvPr>
          <p:cNvSpPr/>
          <p:nvPr/>
        </p:nvSpPr>
        <p:spPr>
          <a:xfrm>
            <a:off x="3469682" y="2749500"/>
            <a:ext cx="375000" cy="365400"/>
          </a:xfrm>
          <a:prstGeom prst="rect">
            <a:avLst/>
          </a:prstGeom>
          <a:solidFill>
            <a:srgbClr val="FFFF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85;g3dad5127776_0_483">
            <a:extLst>
              <a:ext uri="{FF2B5EF4-FFF2-40B4-BE49-F238E27FC236}">
                <a16:creationId xmlns:a16="http://schemas.microsoft.com/office/drawing/2014/main" id="{EEEA7885-37C3-DB51-3D6F-739A2ABA7CAB}"/>
              </a:ext>
            </a:extLst>
          </p:cNvPr>
          <p:cNvSpPr/>
          <p:nvPr/>
        </p:nvSpPr>
        <p:spPr>
          <a:xfrm>
            <a:off x="2491553" y="3228341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86;g3dad5127776_0_483">
            <a:extLst>
              <a:ext uri="{FF2B5EF4-FFF2-40B4-BE49-F238E27FC236}">
                <a16:creationId xmlns:a16="http://schemas.microsoft.com/office/drawing/2014/main" id="{456451EC-1D7D-642B-033B-FD5FB5554876}"/>
              </a:ext>
            </a:extLst>
          </p:cNvPr>
          <p:cNvSpPr/>
          <p:nvPr/>
        </p:nvSpPr>
        <p:spPr>
          <a:xfrm>
            <a:off x="2491553" y="2749500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79;g3dad5127776_0_483">
            <a:extLst>
              <a:ext uri="{FF2B5EF4-FFF2-40B4-BE49-F238E27FC236}">
                <a16:creationId xmlns:a16="http://schemas.microsoft.com/office/drawing/2014/main" id="{8CED9911-2556-EA9D-5EFA-1A12F9B66FB0}"/>
              </a:ext>
            </a:extLst>
          </p:cNvPr>
          <p:cNvSpPr/>
          <p:nvPr/>
        </p:nvSpPr>
        <p:spPr>
          <a:xfrm>
            <a:off x="2974435" y="2265663"/>
            <a:ext cx="375000" cy="365400"/>
          </a:xfrm>
          <a:prstGeom prst="rect">
            <a:avLst/>
          </a:prstGeom>
          <a:solidFill>
            <a:srgbClr val="FFFF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81;g3dad5127776_0_483">
            <a:extLst>
              <a:ext uri="{FF2B5EF4-FFF2-40B4-BE49-F238E27FC236}">
                <a16:creationId xmlns:a16="http://schemas.microsoft.com/office/drawing/2014/main" id="{E796AA0C-8877-BD5E-4D92-65E0E807F6ED}"/>
              </a:ext>
            </a:extLst>
          </p:cNvPr>
          <p:cNvSpPr/>
          <p:nvPr/>
        </p:nvSpPr>
        <p:spPr>
          <a:xfrm>
            <a:off x="3463494" y="2265663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86;g3dad5127776_0_483">
            <a:extLst>
              <a:ext uri="{FF2B5EF4-FFF2-40B4-BE49-F238E27FC236}">
                <a16:creationId xmlns:a16="http://schemas.microsoft.com/office/drawing/2014/main" id="{A883348A-0310-3D5F-FE9D-96C743EB6E4A}"/>
              </a:ext>
            </a:extLst>
          </p:cNvPr>
          <p:cNvSpPr/>
          <p:nvPr/>
        </p:nvSpPr>
        <p:spPr>
          <a:xfrm>
            <a:off x="2485365" y="2265663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100;g3dad5127776_0_483">
            <a:extLst>
              <a:ext uri="{FF2B5EF4-FFF2-40B4-BE49-F238E27FC236}">
                <a16:creationId xmlns:a16="http://schemas.microsoft.com/office/drawing/2014/main" id="{A99BD794-D398-C182-B116-F03DCFFBD44F}"/>
              </a:ext>
            </a:extLst>
          </p:cNvPr>
          <p:cNvCxnSpPr>
            <a:cxnSpLocks/>
          </p:cNvCxnSpPr>
          <p:nvPr/>
        </p:nvCxnSpPr>
        <p:spPr>
          <a:xfrm flipV="1">
            <a:off x="959599" y="2464963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" name="Google Shape;100;g3dad5127776_0_483">
            <a:extLst>
              <a:ext uri="{FF2B5EF4-FFF2-40B4-BE49-F238E27FC236}">
                <a16:creationId xmlns:a16="http://schemas.microsoft.com/office/drawing/2014/main" id="{900D3D44-5194-B832-3CF8-AB62E4EEC210}"/>
              </a:ext>
            </a:extLst>
          </p:cNvPr>
          <p:cNvCxnSpPr>
            <a:cxnSpLocks/>
          </p:cNvCxnSpPr>
          <p:nvPr/>
        </p:nvCxnSpPr>
        <p:spPr>
          <a:xfrm flipV="1">
            <a:off x="953593" y="2498766"/>
            <a:ext cx="301570" cy="27092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" name="Google Shape;100;g3dad5127776_0_483">
            <a:extLst>
              <a:ext uri="{FF2B5EF4-FFF2-40B4-BE49-F238E27FC236}">
                <a16:creationId xmlns:a16="http://schemas.microsoft.com/office/drawing/2014/main" id="{F85D86BF-1936-C123-B608-F30081E0A63A}"/>
              </a:ext>
            </a:extLst>
          </p:cNvPr>
          <p:cNvCxnSpPr>
            <a:cxnSpLocks/>
          </p:cNvCxnSpPr>
          <p:nvPr/>
        </p:nvCxnSpPr>
        <p:spPr>
          <a:xfrm>
            <a:off x="947526" y="3104786"/>
            <a:ext cx="318104" cy="306255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" name="Google Shape;100;g3dad5127776_0_483">
            <a:extLst>
              <a:ext uri="{FF2B5EF4-FFF2-40B4-BE49-F238E27FC236}">
                <a16:creationId xmlns:a16="http://schemas.microsoft.com/office/drawing/2014/main" id="{3B392F33-9E25-CDA1-1A77-8B2B78B73110}"/>
              </a:ext>
            </a:extLst>
          </p:cNvPr>
          <p:cNvCxnSpPr>
            <a:cxnSpLocks/>
          </p:cNvCxnSpPr>
          <p:nvPr/>
        </p:nvCxnSpPr>
        <p:spPr>
          <a:xfrm flipV="1">
            <a:off x="962784" y="3418155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" name="Google Shape;100;g3dad5127776_0_483">
            <a:extLst>
              <a:ext uri="{FF2B5EF4-FFF2-40B4-BE49-F238E27FC236}">
                <a16:creationId xmlns:a16="http://schemas.microsoft.com/office/drawing/2014/main" id="{63911C73-4999-5A8A-7DD3-32E2CF125C29}"/>
              </a:ext>
            </a:extLst>
          </p:cNvPr>
          <p:cNvCxnSpPr>
            <a:cxnSpLocks/>
          </p:cNvCxnSpPr>
          <p:nvPr/>
        </p:nvCxnSpPr>
        <p:spPr>
          <a:xfrm flipV="1">
            <a:off x="3365787" y="2455566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" name="Google Shape;100;g3dad5127776_0_483">
            <a:extLst>
              <a:ext uri="{FF2B5EF4-FFF2-40B4-BE49-F238E27FC236}">
                <a16:creationId xmlns:a16="http://schemas.microsoft.com/office/drawing/2014/main" id="{B7F6DA6A-4436-1717-551F-4E272F5C4279}"/>
              </a:ext>
            </a:extLst>
          </p:cNvPr>
          <p:cNvCxnSpPr>
            <a:cxnSpLocks/>
          </p:cNvCxnSpPr>
          <p:nvPr/>
        </p:nvCxnSpPr>
        <p:spPr>
          <a:xfrm flipV="1">
            <a:off x="3359781" y="2489369"/>
            <a:ext cx="301570" cy="27092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" name="Google Shape;100;g3dad5127776_0_483">
            <a:extLst>
              <a:ext uri="{FF2B5EF4-FFF2-40B4-BE49-F238E27FC236}">
                <a16:creationId xmlns:a16="http://schemas.microsoft.com/office/drawing/2014/main" id="{403DA216-752C-43CB-52D5-BF0D2977073E}"/>
              </a:ext>
            </a:extLst>
          </p:cNvPr>
          <p:cNvCxnSpPr>
            <a:cxnSpLocks/>
          </p:cNvCxnSpPr>
          <p:nvPr/>
        </p:nvCxnSpPr>
        <p:spPr>
          <a:xfrm>
            <a:off x="3353714" y="3095389"/>
            <a:ext cx="318104" cy="306255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" name="Google Shape;100;g3dad5127776_0_483">
            <a:extLst>
              <a:ext uri="{FF2B5EF4-FFF2-40B4-BE49-F238E27FC236}">
                <a16:creationId xmlns:a16="http://schemas.microsoft.com/office/drawing/2014/main" id="{CA49839A-33FF-3A4A-177E-A80184446CCC}"/>
              </a:ext>
            </a:extLst>
          </p:cNvPr>
          <p:cNvCxnSpPr>
            <a:cxnSpLocks/>
          </p:cNvCxnSpPr>
          <p:nvPr/>
        </p:nvCxnSpPr>
        <p:spPr>
          <a:xfrm flipV="1">
            <a:off x="3368972" y="3408758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" name="Google Shape;100;g3dad5127776_0_483">
            <a:extLst>
              <a:ext uri="{FF2B5EF4-FFF2-40B4-BE49-F238E27FC236}">
                <a16:creationId xmlns:a16="http://schemas.microsoft.com/office/drawing/2014/main" id="{AB68C3FC-0960-59EC-F836-E77F5470BA2A}"/>
              </a:ext>
            </a:extLst>
          </p:cNvPr>
          <p:cNvCxnSpPr>
            <a:cxnSpLocks/>
          </p:cNvCxnSpPr>
          <p:nvPr/>
        </p:nvCxnSpPr>
        <p:spPr>
          <a:xfrm flipV="1">
            <a:off x="951514" y="3450000"/>
            <a:ext cx="301570" cy="27092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" name="Google Shape;100;g3dad5127776_0_483">
            <a:extLst>
              <a:ext uri="{FF2B5EF4-FFF2-40B4-BE49-F238E27FC236}">
                <a16:creationId xmlns:a16="http://schemas.microsoft.com/office/drawing/2014/main" id="{659445D7-4FB1-D099-23DD-E7F015F2A4C1}"/>
              </a:ext>
            </a:extLst>
          </p:cNvPr>
          <p:cNvCxnSpPr>
            <a:cxnSpLocks/>
          </p:cNvCxnSpPr>
          <p:nvPr/>
        </p:nvCxnSpPr>
        <p:spPr>
          <a:xfrm flipV="1">
            <a:off x="3349435" y="3442311"/>
            <a:ext cx="301570" cy="27092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" name="Google Shape;78;g3dad5127776_0_483">
            <a:extLst>
              <a:ext uri="{FF2B5EF4-FFF2-40B4-BE49-F238E27FC236}">
                <a16:creationId xmlns:a16="http://schemas.microsoft.com/office/drawing/2014/main" id="{8D196B96-0900-5659-6C79-86DFAE68A95C}"/>
              </a:ext>
            </a:extLst>
          </p:cNvPr>
          <p:cNvSpPr/>
          <p:nvPr/>
        </p:nvSpPr>
        <p:spPr>
          <a:xfrm>
            <a:off x="1064660" y="3706805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80;g3dad5127776_0_483">
            <a:extLst>
              <a:ext uri="{FF2B5EF4-FFF2-40B4-BE49-F238E27FC236}">
                <a16:creationId xmlns:a16="http://schemas.microsoft.com/office/drawing/2014/main" id="{A918F4EC-7FCA-7CD3-6243-A885AD8E9230}"/>
              </a:ext>
            </a:extLst>
          </p:cNvPr>
          <p:cNvSpPr/>
          <p:nvPr/>
        </p:nvSpPr>
        <p:spPr>
          <a:xfrm>
            <a:off x="1556722" y="3706805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85;g3dad5127776_0_483">
            <a:extLst>
              <a:ext uri="{FF2B5EF4-FFF2-40B4-BE49-F238E27FC236}">
                <a16:creationId xmlns:a16="http://schemas.microsoft.com/office/drawing/2014/main" id="{DA14A16B-1407-CF86-E64D-45502CC47453}"/>
              </a:ext>
            </a:extLst>
          </p:cNvPr>
          <p:cNvSpPr/>
          <p:nvPr/>
        </p:nvSpPr>
        <p:spPr>
          <a:xfrm>
            <a:off x="578593" y="3706805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78;g3dad5127776_0_483">
            <a:extLst>
              <a:ext uri="{FF2B5EF4-FFF2-40B4-BE49-F238E27FC236}">
                <a16:creationId xmlns:a16="http://schemas.microsoft.com/office/drawing/2014/main" id="{ECFA934A-6D91-AC4F-75C8-E371079B6ABE}"/>
              </a:ext>
            </a:extLst>
          </p:cNvPr>
          <p:cNvSpPr/>
          <p:nvPr/>
        </p:nvSpPr>
        <p:spPr>
          <a:xfrm>
            <a:off x="2974435" y="3702740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80;g3dad5127776_0_483">
            <a:extLst>
              <a:ext uri="{FF2B5EF4-FFF2-40B4-BE49-F238E27FC236}">
                <a16:creationId xmlns:a16="http://schemas.microsoft.com/office/drawing/2014/main" id="{2E84321D-9833-BE45-7D7B-C13FE71264FA}"/>
              </a:ext>
            </a:extLst>
          </p:cNvPr>
          <p:cNvSpPr/>
          <p:nvPr/>
        </p:nvSpPr>
        <p:spPr>
          <a:xfrm>
            <a:off x="3463494" y="3693575"/>
            <a:ext cx="375000" cy="365400"/>
          </a:xfrm>
          <a:prstGeom prst="rect">
            <a:avLst/>
          </a:prstGeom>
          <a:solidFill>
            <a:srgbClr val="FFFF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85;g3dad5127776_0_483">
            <a:extLst>
              <a:ext uri="{FF2B5EF4-FFF2-40B4-BE49-F238E27FC236}">
                <a16:creationId xmlns:a16="http://schemas.microsoft.com/office/drawing/2014/main" id="{7FC98FD4-49FC-1925-839C-0FCB87878BA9}"/>
              </a:ext>
            </a:extLst>
          </p:cNvPr>
          <p:cNvSpPr/>
          <p:nvPr/>
        </p:nvSpPr>
        <p:spPr>
          <a:xfrm>
            <a:off x="2488368" y="3702740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78;g3dad5127776_0_483">
            <a:extLst>
              <a:ext uri="{FF2B5EF4-FFF2-40B4-BE49-F238E27FC236}">
                <a16:creationId xmlns:a16="http://schemas.microsoft.com/office/drawing/2014/main" id="{444ACA84-CA05-6DED-0C32-075E8B888873}"/>
              </a:ext>
            </a:extLst>
          </p:cNvPr>
          <p:cNvSpPr/>
          <p:nvPr/>
        </p:nvSpPr>
        <p:spPr>
          <a:xfrm>
            <a:off x="5490916" y="3228341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79;g3dad5127776_0_483">
            <a:extLst>
              <a:ext uri="{FF2B5EF4-FFF2-40B4-BE49-F238E27FC236}">
                <a16:creationId xmlns:a16="http://schemas.microsoft.com/office/drawing/2014/main" id="{81B13E36-531F-C756-0A44-775CD2E9788E}"/>
              </a:ext>
            </a:extLst>
          </p:cNvPr>
          <p:cNvSpPr/>
          <p:nvPr/>
        </p:nvSpPr>
        <p:spPr>
          <a:xfrm>
            <a:off x="5497049" y="2749500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80;g3dad5127776_0_483">
            <a:extLst>
              <a:ext uri="{FF2B5EF4-FFF2-40B4-BE49-F238E27FC236}">
                <a16:creationId xmlns:a16="http://schemas.microsoft.com/office/drawing/2014/main" id="{B5D2D626-A4F7-3E7F-A45B-D945F86D70B0}"/>
              </a:ext>
            </a:extLst>
          </p:cNvPr>
          <p:cNvSpPr/>
          <p:nvPr/>
        </p:nvSpPr>
        <p:spPr>
          <a:xfrm>
            <a:off x="5986108" y="3228341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81;g3dad5127776_0_483">
            <a:extLst>
              <a:ext uri="{FF2B5EF4-FFF2-40B4-BE49-F238E27FC236}">
                <a16:creationId xmlns:a16="http://schemas.microsoft.com/office/drawing/2014/main" id="{046B8789-E3EC-9CED-B6B5-73EC800AB269}"/>
              </a:ext>
            </a:extLst>
          </p:cNvPr>
          <p:cNvSpPr/>
          <p:nvPr/>
        </p:nvSpPr>
        <p:spPr>
          <a:xfrm>
            <a:off x="5986108" y="2749500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85;g3dad5127776_0_483">
            <a:extLst>
              <a:ext uri="{FF2B5EF4-FFF2-40B4-BE49-F238E27FC236}">
                <a16:creationId xmlns:a16="http://schemas.microsoft.com/office/drawing/2014/main" id="{EDFF8D42-267E-5F17-61E2-CFFE7E8437EE}"/>
              </a:ext>
            </a:extLst>
          </p:cNvPr>
          <p:cNvSpPr/>
          <p:nvPr/>
        </p:nvSpPr>
        <p:spPr>
          <a:xfrm>
            <a:off x="5007979" y="3228341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86;g3dad5127776_0_483">
            <a:extLst>
              <a:ext uri="{FF2B5EF4-FFF2-40B4-BE49-F238E27FC236}">
                <a16:creationId xmlns:a16="http://schemas.microsoft.com/office/drawing/2014/main" id="{7D4C3779-564F-D3F0-0476-57EF129E0788}"/>
              </a:ext>
            </a:extLst>
          </p:cNvPr>
          <p:cNvSpPr/>
          <p:nvPr/>
        </p:nvSpPr>
        <p:spPr>
          <a:xfrm>
            <a:off x="5007979" y="2749500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79;g3dad5127776_0_483">
            <a:extLst>
              <a:ext uri="{FF2B5EF4-FFF2-40B4-BE49-F238E27FC236}">
                <a16:creationId xmlns:a16="http://schemas.microsoft.com/office/drawing/2014/main" id="{C2FFC686-66D0-5E4C-40C6-DEBF6429C267}"/>
              </a:ext>
            </a:extLst>
          </p:cNvPr>
          <p:cNvSpPr/>
          <p:nvPr/>
        </p:nvSpPr>
        <p:spPr>
          <a:xfrm>
            <a:off x="5490861" y="2265663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81;g3dad5127776_0_483">
            <a:extLst>
              <a:ext uri="{FF2B5EF4-FFF2-40B4-BE49-F238E27FC236}">
                <a16:creationId xmlns:a16="http://schemas.microsoft.com/office/drawing/2014/main" id="{403F44E2-713A-3421-ABFE-36D9AFA0D241}"/>
              </a:ext>
            </a:extLst>
          </p:cNvPr>
          <p:cNvSpPr/>
          <p:nvPr/>
        </p:nvSpPr>
        <p:spPr>
          <a:xfrm>
            <a:off x="5979920" y="2265663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86;g3dad5127776_0_483">
            <a:extLst>
              <a:ext uri="{FF2B5EF4-FFF2-40B4-BE49-F238E27FC236}">
                <a16:creationId xmlns:a16="http://schemas.microsoft.com/office/drawing/2014/main" id="{2F179BCB-5BC8-2E96-CE98-8B3F58E117FF}"/>
              </a:ext>
            </a:extLst>
          </p:cNvPr>
          <p:cNvSpPr/>
          <p:nvPr/>
        </p:nvSpPr>
        <p:spPr>
          <a:xfrm>
            <a:off x="5001791" y="2265663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78;g3dad5127776_0_483">
            <a:extLst>
              <a:ext uri="{FF2B5EF4-FFF2-40B4-BE49-F238E27FC236}">
                <a16:creationId xmlns:a16="http://schemas.microsoft.com/office/drawing/2014/main" id="{EC8C8601-D9FE-B946-4814-ED16377569DA}"/>
              </a:ext>
            </a:extLst>
          </p:cNvPr>
          <p:cNvSpPr/>
          <p:nvPr/>
        </p:nvSpPr>
        <p:spPr>
          <a:xfrm>
            <a:off x="7397688" y="3228341"/>
            <a:ext cx="375000" cy="365400"/>
          </a:xfrm>
          <a:prstGeom prst="rect">
            <a:avLst/>
          </a:prstGeom>
          <a:solidFill>
            <a:srgbClr val="FFFF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79;g3dad5127776_0_483">
            <a:extLst>
              <a:ext uri="{FF2B5EF4-FFF2-40B4-BE49-F238E27FC236}">
                <a16:creationId xmlns:a16="http://schemas.microsoft.com/office/drawing/2014/main" id="{6D47E668-092A-5715-2CE2-6473C554F88D}"/>
              </a:ext>
            </a:extLst>
          </p:cNvPr>
          <p:cNvSpPr/>
          <p:nvPr/>
        </p:nvSpPr>
        <p:spPr>
          <a:xfrm>
            <a:off x="7403821" y="2749500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81;g3dad5127776_0_483">
            <a:extLst>
              <a:ext uri="{FF2B5EF4-FFF2-40B4-BE49-F238E27FC236}">
                <a16:creationId xmlns:a16="http://schemas.microsoft.com/office/drawing/2014/main" id="{F46CDD7D-B199-F6D1-BE8E-204BD2E2EE45}"/>
              </a:ext>
            </a:extLst>
          </p:cNvPr>
          <p:cNvSpPr/>
          <p:nvPr/>
        </p:nvSpPr>
        <p:spPr>
          <a:xfrm>
            <a:off x="7892880" y="2749500"/>
            <a:ext cx="375000" cy="365400"/>
          </a:xfrm>
          <a:prstGeom prst="rect">
            <a:avLst/>
          </a:prstGeom>
          <a:solidFill>
            <a:srgbClr val="FFFF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85;g3dad5127776_0_483">
            <a:extLst>
              <a:ext uri="{FF2B5EF4-FFF2-40B4-BE49-F238E27FC236}">
                <a16:creationId xmlns:a16="http://schemas.microsoft.com/office/drawing/2014/main" id="{A69C03A1-5D5F-38B2-153D-E82A403A255C}"/>
              </a:ext>
            </a:extLst>
          </p:cNvPr>
          <p:cNvSpPr/>
          <p:nvPr/>
        </p:nvSpPr>
        <p:spPr>
          <a:xfrm>
            <a:off x="6914751" y="3228341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86;g3dad5127776_0_483">
            <a:extLst>
              <a:ext uri="{FF2B5EF4-FFF2-40B4-BE49-F238E27FC236}">
                <a16:creationId xmlns:a16="http://schemas.microsoft.com/office/drawing/2014/main" id="{A9E778E5-2BAA-1517-5A91-9B318A916CC4}"/>
              </a:ext>
            </a:extLst>
          </p:cNvPr>
          <p:cNvSpPr/>
          <p:nvPr/>
        </p:nvSpPr>
        <p:spPr>
          <a:xfrm>
            <a:off x="6914751" y="2749500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79;g3dad5127776_0_483">
            <a:extLst>
              <a:ext uri="{FF2B5EF4-FFF2-40B4-BE49-F238E27FC236}">
                <a16:creationId xmlns:a16="http://schemas.microsoft.com/office/drawing/2014/main" id="{8CE31B63-A5B3-74A0-E33F-B7DC5C5D7765}"/>
              </a:ext>
            </a:extLst>
          </p:cNvPr>
          <p:cNvSpPr/>
          <p:nvPr/>
        </p:nvSpPr>
        <p:spPr>
          <a:xfrm>
            <a:off x="7397633" y="2265663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81;g3dad5127776_0_483">
            <a:extLst>
              <a:ext uri="{FF2B5EF4-FFF2-40B4-BE49-F238E27FC236}">
                <a16:creationId xmlns:a16="http://schemas.microsoft.com/office/drawing/2014/main" id="{C8BC9955-7334-B445-21E8-65C1397BF62E}"/>
              </a:ext>
            </a:extLst>
          </p:cNvPr>
          <p:cNvSpPr/>
          <p:nvPr/>
        </p:nvSpPr>
        <p:spPr>
          <a:xfrm>
            <a:off x="7886692" y="2265663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86;g3dad5127776_0_483">
            <a:extLst>
              <a:ext uri="{FF2B5EF4-FFF2-40B4-BE49-F238E27FC236}">
                <a16:creationId xmlns:a16="http://schemas.microsoft.com/office/drawing/2014/main" id="{4CBC1FA5-622B-1F74-E50A-4F19D2971365}"/>
              </a:ext>
            </a:extLst>
          </p:cNvPr>
          <p:cNvSpPr/>
          <p:nvPr/>
        </p:nvSpPr>
        <p:spPr>
          <a:xfrm>
            <a:off x="6908563" y="2265663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" name="Google Shape;100;g3dad5127776_0_483">
            <a:extLst>
              <a:ext uri="{FF2B5EF4-FFF2-40B4-BE49-F238E27FC236}">
                <a16:creationId xmlns:a16="http://schemas.microsoft.com/office/drawing/2014/main" id="{C2570902-A884-B191-2244-9241BFA2462A}"/>
              </a:ext>
            </a:extLst>
          </p:cNvPr>
          <p:cNvCxnSpPr>
            <a:cxnSpLocks/>
          </p:cNvCxnSpPr>
          <p:nvPr/>
        </p:nvCxnSpPr>
        <p:spPr>
          <a:xfrm flipV="1">
            <a:off x="5382797" y="2464963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" name="Google Shape;100;g3dad5127776_0_483">
            <a:extLst>
              <a:ext uri="{FF2B5EF4-FFF2-40B4-BE49-F238E27FC236}">
                <a16:creationId xmlns:a16="http://schemas.microsoft.com/office/drawing/2014/main" id="{3EE4B852-3717-A837-EB2B-24C62DE994E7}"/>
              </a:ext>
            </a:extLst>
          </p:cNvPr>
          <p:cNvCxnSpPr>
            <a:cxnSpLocks/>
          </p:cNvCxnSpPr>
          <p:nvPr/>
        </p:nvCxnSpPr>
        <p:spPr>
          <a:xfrm>
            <a:off x="5370619" y="2625945"/>
            <a:ext cx="318104" cy="306255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" name="Google Shape;100;g3dad5127776_0_483">
            <a:extLst>
              <a:ext uri="{FF2B5EF4-FFF2-40B4-BE49-F238E27FC236}">
                <a16:creationId xmlns:a16="http://schemas.microsoft.com/office/drawing/2014/main" id="{23388128-D1FC-51ED-EFF4-1CB63AF3A723}"/>
              </a:ext>
            </a:extLst>
          </p:cNvPr>
          <p:cNvCxnSpPr>
            <a:cxnSpLocks/>
          </p:cNvCxnSpPr>
          <p:nvPr/>
        </p:nvCxnSpPr>
        <p:spPr>
          <a:xfrm flipV="1">
            <a:off x="5385982" y="3418155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2" name="Google Shape;100;g3dad5127776_0_483">
            <a:extLst>
              <a:ext uri="{FF2B5EF4-FFF2-40B4-BE49-F238E27FC236}">
                <a16:creationId xmlns:a16="http://schemas.microsoft.com/office/drawing/2014/main" id="{02136B2D-97D8-6D9C-C204-BEC26E91726E}"/>
              </a:ext>
            </a:extLst>
          </p:cNvPr>
          <p:cNvCxnSpPr>
            <a:cxnSpLocks/>
          </p:cNvCxnSpPr>
          <p:nvPr/>
        </p:nvCxnSpPr>
        <p:spPr>
          <a:xfrm flipV="1">
            <a:off x="5382979" y="2969614"/>
            <a:ext cx="301570" cy="27092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9" name="Google Shape;78;g3dad5127776_0_483">
            <a:extLst>
              <a:ext uri="{FF2B5EF4-FFF2-40B4-BE49-F238E27FC236}">
                <a16:creationId xmlns:a16="http://schemas.microsoft.com/office/drawing/2014/main" id="{0C790AAA-8FDF-2E1B-A6F2-0959C15B8E8F}"/>
              </a:ext>
            </a:extLst>
          </p:cNvPr>
          <p:cNvSpPr/>
          <p:nvPr/>
        </p:nvSpPr>
        <p:spPr>
          <a:xfrm>
            <a:off x="5487858" y="3706805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80;g3dad5127776_0_483">
            <a:extLst>
              <a:ext uri="{FF2B5EF4-FFF2-40B4-BE49-F238E27FC236}">
                <a16:creationId xmlns:a16="http://schemas.microsoft.com/office/drawing/2014/main" id="{8E85250E-6513-C79C-FA95-A1FFC5039340}"/>
              </a:ext>
            </a:extLst>
          </p:cNvPr>
          <p:cNvSpPr/>
          <p:nvPr/>
        </p:nvSpPr>
        <p:spPr>
          <a:xfrm>
            <a:off x="5979920" y="3706805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85;g3dad5127776_0_483">
            <a:extLst>
              <a:ext uri="{FF2B5EF4-FFF2-40B4-BE49-F238E27FC236}">
                <a16:creationId xmlns:a16="http://schemas.microsoft.com/office/drawing/2014/main" id="{D41FEED3-864E-BEBE-8259-D4300C31E092}"/>
              </a:ext>
            </a:extLst>
          </p:cNvPr>
          <p:cNvSpPr/>
          <p:nvPr/>
        </p:nvSpPr>
        <p:spPr>
          <a:xfrm>
            <a:off x="5001791" y="3706805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78;g3dad5127776_0_483">
            <a:extLst>
              <a:ext uri="{FF2B5EF4-FFF2-40B4-BE49-F238E27FC236}">
                <a16:creationId xmlns:a16="http://schemas.microsoft.com/office/drawing/2014/main" id="{CE37A5DE-CB70-2481-95E7-39C1793D3A4F}"/>
              </a:ext>
            </a:extLst>
          </p:cNvPr>
          <p:cNvSpPr/>
          <p:nvPr/>
        </p:nvSpPr>
        <p:spPr>
          <a:xfrm>
            <a:off x="7397633" y="3702740"/>
            <a:ext cx="375000" cy="365400"/>
          </a:xfrm>
          <a:prstGeom prst="rect">
            <a:avLst/>
          </a:prstGeom>
          <a:solidFill>
            <a:srgbClr val="FFFF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85;g3dad5127776_0_483">
            <a:extLst>
              <a:ext uri="{FF2B5EF4-FFF2-40B4-BE49-F238E27FC236}">
                <a16:creationId xmlns:a16="http://schemas.microsoft.com/office/drawing/2014/main" id="{2FF9A70D-5DBC-313B-7508-7F3ECA70B9CA}"/>
              </a:ext>
            </a:extLst>
          </p:cNvPr>
          <p:cNvSpPr/>
          <p:nvPr/>
        </p:nvSpPr>
        <p:spPr>
          <a:xfrm>
            <a:off x="6911566" y="3702740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00;g3dad5127776_0_483">
            <a:extLst>
              <a:ext uri="{FF2B5EF4-FFF2-40B4-BE49-F238E27FC236}">
                <a16:creationId xmlns:a16="http://schemas.microsoft.com/office/drawing/2014/main" id="{85788A37-82E1-4876-60EB-EBD382145A39}"/>
              </a:ext>
            </a:extLst>
          </p:cNvPr>
          <p:cNvCxnSpPr>
            <a:cxnSpLocks/>
          </p:cNvCxnSpPr>
          <p:nvPr/>
        </p:nvCxnSpPr>
        <p:spPr>
          <a:xfrm>
            <a:off x="5385455" y="3585460"/>
            <a:ext cx="318104" cy="306255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6" name="Google Shape;80;g3dad5127776_0_483">
            <a:extLst>
              <a:ext uri="{FF2B5EF4-FFF2-40B4-BE49-F238E27FC236}">
                <a16:creationId xmlns:a16="http://schemas.microsoft.com/office/drawing/2014/main" id="{7BBA8C83-8E06-B99F-7BE6-A4DF7658FB0C}"/>
              </a:ext>
            </a:extLst>
          </p:cNvPr>
          <p:cNvSpPr/>
          <p:nvPr/>
        </p:nvSpPr>
        <p:spPr>
          <a:xfrm>
            <a:off x="7892880" y="3232989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80;g3dad5127776_0_483">
            <a:extLst>
              <a:ext uri="{FF2B5EF4-FFF2-40B4-BE49-F238E27FC236}">
                <a16:creationId xmlns:a16="http://schemas.microsoft.com/office/drawing/2014/main" id="{D733282A-29E9-7B13-B056-AB505BEBFC8B}"/>
              </a:ext>
            </a:extLst>
          </p:cNvPr>
          <p:cNvSpPr/>
          <p:nvPr/>
        </p:nvSpPr>
        <p:spPr>
          <a:xfrm>
            <a:off x="7886692" y="3711453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00;g3dad5127776_0_483">
            <a:extLst>
              <a:ext uri="{FF2B5EF4-FFF2-40B4-BE49-F238E27FC236}">
                <a16:creationId xmlns:a16="http://schemas.microsoft.com/office/drawing/2014/main" id="{E2A9031C-1980-6393-FACA-F3544713B696}"/>
              </a:ext>
            </a:extLst>
          </p:cNvPr>
          <p:cNvCxnSpPr>
            <a:cxnSpLocks/>
          </p:cNvCxnSpPr>
          <p:nvPr/>
        </p:nvCxnSpPr>
        <p:spPr>
          <a:xfrm flipV="1">
            <a:off x="7777419" y="2455576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9" name="Google Shape;100;g3dad5127776_0_483">
            <a:extLst>
              <a:ext uri="{FF2B5EF4-FFF2-40B4-BE49-F238E27FC236}">
                <a16:creationId xmlns:a16="http://schemas.microsoft.com/office/drawing/2014/main" id="{5B933E49-EA87-31E1-39A8-C9DF77DACA57}"/>
              </a:ext>
            </a:extLst>
          </p:cNvPr>
          <p:cNvCxnSpPr>
            <a:cxnSpLocks/>
          </p:cNvCxnSpPr>
          <p:nvPr/>
        </p:nvCxnSpPr>
        <p:spPr>
          <a:xfrm>
            <a:off x="7765241" y="2616558"/>
            <a:ext cx="318104" cy="306255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0" name="Google Shape;100;g3dad5127776_0_483">
            <a:extLst>
              <a:ext uri="{FF2B5EF4-FFF2-40B4-BE49-F238E27FC236}">
                <a16:creationId xmlns:a16="http://schemas.microsoft.com/office/drawing/2014/main" id="{C1234C2D-D4A5-7095-55CF-86519CF766B0}"/>
              </a:ext>
            </a:extLst>
          </p:cNvPr>
          <p:cNvCxnSpPr>
            <a:cxnSpLocks/>
          </p:cNvCxnSpPr>
          <p:nvPr/>
        </p:nvCxnSpPr>
        <p:spPr>
          <a:xfrm flipV="1">
            <a:off x="7780604" y="3408768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1" name="Google Shape;100;g3dad5127776_0_483">
            <a:extLst>
              <a:ext uri="{FF2B5EF4-FFF2-40B4-BE49-F238E27FC236}">
                <a16:creationId xmlns:a16="http://schemas.microsoft.com/office/drawing/2014/main" id="{D05ED215-E760-BB25-DBCE-FFCC893DAD17}"/>
              </a:ext>
            </a:extLst>
          </p:cNvPr>
          <p:cNvCxnSpPr>
            <a:cxnSpLocks/>
          </p:cNvCxnSpPr>
          <p:nvPr/>
        </p:nvCxnSpPr>
        <p:spPr>
          <a:xfrm flipV="1">
            <a:off x="7777601" y="2960227"/>
            <a:ext cx="301570" cy="27092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2" name="Google Shape;100;g3dad5127776_0_483">
            <a:extLst>
              <a:ext uri="{FF2B5EF4-FFF2-40B4-BE49-F238E27FC236}">
                <a16:creationId xmlns:a16="http://schemas.microsoft.com/office/drawing/2014/main" id="{969EAD9E-224C-76B3-7261-EC3FE952916D}"/>
              </a:ext>
            </a:extLst>
          </p:cNvPr>
          <p:cNvCxnSpPr>
            <a:cxnSpLocks/>
          </p:cNvCxnSpPr>
          <p:nvPr/>
        </p:nvCxnSpPr>
        <p:spPr>
          <a:xfrm>
            <a:off x="7780077" y="3576073"/>
            <a:ext cx="318104" cy="306255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5C88BA7D-E32D-0D65-5261-EB322E4B65DD}"/>
              </a:ext>
            </a:extLst>
          </p:cNvPr>
          <p:cNvSpPr txBox="1"/>
          <p:nvPr/>
        </p:nvSpPr>
        <p:spPr>
          <a:xfrm>
            <a:off x="963350" y="4306486"/>
            <a:ext cx="27234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Favors Cresent Wavefront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0823D947-1CA8-A312-E3EE-74B56A284076}"/>
              </a:ext>
            </a:extLst>
          </p:cNvPr>
          <p:cNvSpPr txBox="1"/>
          <p:nvPr/>
        </p:nvSpPr>
        <p:spPr>
          <a:xfrm>
            <a:off x="5189291" y="4302824"/>
            <a:ext cx="5635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Favors Inverse Cresent Wavefront</a:t>
            </a:r>
          </a:p>
        </p:txBody>
      </p:sp>
      <p:pic>
        <p:nvPicPr>
          <p:cNvPr id="136" name="video_cardinal4_face_mirror">
            <a:hlinkClick r:id="" action="ppaction://media"/>
            <a:extLst>
              <a:ext uri="{FF2B5EF4-FFF2-40B4-BE49-F238E27FC236}">
                <a16:creationId xmlns:a16="http://schemas.microsoft.com/office/drawing/2014/main" id="{4C7972A4-4059-E3C4-ECFB-1413564A878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665251" y="4873852"/>
            <a:ext cx="2635040" cy="1671010"/>
          </a:xfrm>
          <a:prstGeom prst="rect">
            <a:avLst/>
          </a:prstGeom>
        </p:spPr>
      </p:pic>
      <p:pic>
        <p:nvPicPr>
          <p:cNvPr id="137" name="video_moore8_uniform_face_mirror">
            <a:hlinkClick r:id="" action="ppaction://media"/>
            <a:extLst>
              <a:ext uri="{FF2B5EF4-FFF2-40B4-BE49-F238E27FC236}">
                <a16:creationId xmlns:a16="http://schemas.microsoft.com/office/drawing/2014/main" id="{65177332-C358-BAB0-C601-443B4AF7B7AC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929381" y="4880871"/>
            <a:ext cx="2655752" cy="1671010"/>
          </a:xfrm>
          <a:prstGeom prst="rect">
            <a:avLst/>
          </a:prstGeom>
        </p:spPr>
      </p:pic>
      <p:sp>
        <p:nvSpPr>
          <p:cNvPr id="138" name="TextBox 137">
            <a:extLst>
              <a:ext uri="{FF2B5EF4-FFF2-40B4-BE49-F238E27FC236}">
                <a16:creationId xmlns:a16="http://schemas.microsoft.com/office/drawing/2014/main" id="{5EED75B2-F48E-AA1C-61E9-4A3E330EE0E5}"/>
              </a:ext>
            </a:extLst>
          </p:cNvPr>
          <p:cNvSpPr txBox="1"/>
          <p:nvPr/>
        </p:nvSpPr>
        <p:spPr>
          <a:xfrm>
            <a:off x="1931722" y="6571476"/>
            <a:ext cx="18845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/>
              <a:t>Cardinal</a:t>
            </a:r>
            <a:endParaRPr 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B3BC8843-96C7-3B40-6BF1-760E5B3D15C8}"/>
              </a:ext>
            </a:extLst>
          </p:cNvPr>
          <p:cNvSpPr txBox="1"/>
          <p:nvPr/>
        </p:nvSpPr>
        <p:spPr>
          <a:xfrm>
            <a:off x="5828759" y="6584641"/>
            <a:ext cx="5635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dk1"/>
                </a:solidFill>
              </a:rPr>
              <a:t>Moore</a:t>
            </a:r>
            <a:endParaRPr 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0D1EC3D0-8534-2A7F-753F-D4E399EF8553}"/>
              </a:ext>
            </a:extLst>
          </p:cNvPr>
          <p:cNvSpPr txBox="1"/>
          <p:nvPr/>
        </p:nvSpPr>
        <p:spPr>
          <a:xfrm>
            <a:off x="291484" y="4562168"/>
            <a:ext cx="81613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Can we control which effect wins? Does Moore connection have a bias towards effect 1?</a:t>
            </a:r>
          </a:p>
        </p:txBody>
      </p:sp>
    </p:spTree>
    <p:extLst>
      <p:ext uri="{BB962C8B-B14F-4D97-AF65-F5344CB8AC3E}">
        <p14:creationId xmlns:p14="http://schemas.microsoft.com/office/powerpoint/2010/main" val="3238615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1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000" fill="hold"/>
                                        <p:tgtEl>
                                          <p:spTgt spid="1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1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6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1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7"/>
                  </p:tgtEl>
                </p:cond>
              </p:nextCondLst>
            </p:seq>
            <p:video>
              <p:cMediaNode>
                <p:cTn id="21" fill="hold" display="0">
                  <p:stCondLst>
                    <p:cond delay="indefinite"/>
                  </p:stCondLst>
                </p:cTn>
                <p:tgtEl>
                  <p:spTgt spid="136"/>
                </p:tgtEl>
              </p:cMediaNode>
            </p:video>
            <p:video>
              <p:cMediaNode>
                <p:cTn id="22" fill="hold" display="0">
                  <p:stCondLst>
                    <p:cond delay="indefinite"/>
                  </p:stCondLst>
                </p:cTn>
                <p:tgtEl>
                  <p:spTgt spid="137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C30BA83F-E24F-8E8B-723F-1AF7ABA5E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ad5127776_0_483">
            <a:extLst>
              <a:ext uri="{FF2B5EF4-FFF2-40B4-BE49-F238E27FC236}">
                <a16:creationId xmlns:a16="http://schemas.microsoft.com/office/drawing/2014/main" id="{2D9226BC-2204-9D1C-DE52-82E0B1C931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80526" y="6571476"/>
            <a:ext cx="17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73" name="Google Shape;73;g3dad5127776_0_483">
            <a:extLst>
              <a:ext uri="{FF2B5EF4-FFF2-40B4-BE49-F238E27FC236}">
                <a16:creationId xmlns:a16="http://schemas.microsoft.com/office/drawing/2014/main" id="{6A37D400-2F18-B1AB-4FFB-938A8C0B9FDE}"/>
              </a:ext>
            </a:extLst>
          </p:cNvPr>
          <p:cNvSpPr txBox="1"/>
          <p:nvPr/>
        </p:nvSpPr>
        <p:spPr>
          <a:xfrm>
            <a:off x="223663" y="149075"/>
            <a:ext cx="86967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</a:rPr>
              <a:t>Streaming vs Receiving Cont. </a:t>
            </a:r>
            <a:endParaRPr sz="2800" b="1">
              <a:solidFill>
                <a:schemeClr val="lt1"/>
              </a:solidFill>
            </a:endParaRPr>
          </a:p>
        </p:txBody>
      </p:sp>
      <p:sp>
        <p:nvSpPr>
          <p:cNvPr id="74" name="Google Shape;74;g3dad5127776_0_483">
            <a:extLst>
              <a:ext uri="{FF2B5EF4-FFF2-40B4-BE49-F238E27FC236}">
                <a16:creationId xmlns:a16="http://schemas.microsoft.com/office/drawing/2014/main" id="{D376B5FC-A23B-354C-6F15-66306F61C4BC}"/>
              </a:ext>
            </a:extLst>
          </p:cNvPr>
          <p:cNvSpPr txBox="1"/>
          <p:nvPr/>
        </p:nvSpPr>
        <p:spPr>
          <a:xfrm>
            <a:off x="9665825" y="3876275"/>
            <a:ext cx="16026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5" name="Google Shape;75;g3dad5127776_0_483">
            <a:extLst>
              <a:ext uri="{FF2B5EF4-FFF2-40B4-BE49-F238E27FC236}">
                <a16:creationId xmlns:a16="http://schemas.microsoft.com/office/drawing/2014/main" id="{E0E3DEDD-C058-F74F-8514-50DBE6E35FB7}"/>
              </a:ext>
            </a:extLst>
          </p:cNvPr>
          <p:cNvSpPr txBox="1"/>
          <p:nvPr/>
        </p:nvSpPr>
        <p:spPr>
          <a:xfrm>
            <a:off x="223662" y="1119884"/>
            <a:ext cx="8556863" cy="455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We can control which effects dominate by focusing on how boundary conditions are enforced.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In cardiac simulation, we usually impose a no-flux boundary (but only to the normal direction).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77" name="Google Shape;77;g3dad5127776_0_483">
            <a:extLst>
              <a:ext uri="{FF2B5EF4-FFF2-40B4-BE49-F238E27FC236}">
                <a16:creationId xmlns:a16="http://schemas.microsoft.com/office/drawing/2014/main" id="{2E287D02-27FF-C65A-52CC-1136ED74100D}"/>
              </a:ext>
            </a:extLst>
          </p:cNvPr>
          <p:cNvSpPr txBox="1"/>
          <p:nvPr/>
        </p:nvSpPr>
        <p:spPr>
          <a:xfrm>
            <a:off x="804016" y="1812713"/>
            <a:ext cx="5058300" cy="3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Iso padding the ghost cells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10" name="Google Shape;110;g3dad5127776_0_483">
            <a:extLst>
              <a:ext uri="{FF2B5EF4-FFF2-40B4-BE49-F238E27FC236}">
                <a16:creationId xmlns:a16="http://schemas.microsoft.com/office/drawing/2014/main" id="{AC6E7C5B-CEF8-F5A1-293B-95797DCE6A31}"/>
              </a:ext>
            </a:extLst>
          </p:cNvPr>
          <p:cNvSpPr txBox="1"/>
          <p:nvPr/>
        </p:nvSpPr>
        <p:spPr>
          <a:xfrm>
            <a:off x="4833614" y="1813462"/>
            <a:ext cx="3946912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Face mirror padding the ghost cells</a:t>
            </a:r>
            <a:endParaRPr/>
          </a:p>
        </p:txBody>
      </p:sp>
      <p:sp>
        <p:nvSpPr>
          <p:cNvPr id="5" name="Google Shape;78;g3dad5127776_0_483">
            <a:extLst>
              <a:ext uri="{FF2B5EF4-FFF2-40B4-BE49-F238E27FC236}">
                <a16:creationId xmlns:a16="http://schemas.microsoft.com/office/drawing/2014/main" id="{E033F8AF-2AF0-6581-5018-CBAD9E379FC6}"/>
              </a:ext>
            </a:extLst>
          </p:cNvPr>
          <p:cNvSpPr/>
          <p:nvPr/>
        </p:nvSpPr>
        <p:spPr>
          <a:xfrm>
            <a:off x="1446287" y="3451033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79;g3dad5127776_0_483">
            <a:extLst>
              <a:ext uri="{FF2B5EF4-FFF2-40B4-BE49-F238E27FC236}">
                <a16:creationId xmlns:a16="http://schemas.microsoft.com/office/drawing/2014/main" id="{16A94E65-DAC2-B9B9-C658-2993A5BF13A8}"/>
              </a:ext>
            </a:extLst>
          </p:cNvPr>
          <p:cNvSpPr/>
          <p:nvPr/>
        </p:nvSpPr>
        <p:spPr>
          <a:xfrm>
            <a:off x="1452409" y="2970517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c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80;g3dad5127776_0_483">
            <a:extLst>
              <a:ext uri="{FF2B5EF4-FFF2-40B4-BE49-F238E27FC236}">
                <a16:creationId xmlns:a16="http://schemas.microsoft.com/office/drawing/2014/main" id="{F9F5AA61-2E49-4BB2-05C4-344B6F0381E3}"/>
              </a:ext>
            </a:extLst>
          </p:cNvPr>
          <p:cNvSpPr/>
          <p:nvPr/>
        </p:nvSpPr>
        <p:spPr>
          <a:xfrm>
            <a:off x="1941479" y="3451033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1;g3dad5127776_0_483">
            <a:extLst>
              <a:ext uri="{FF2B5EF4-FFF2-40B4-BE49-F238E27FC236}">
                <a16:creationId xmlns:a16="http://schemas.microsoft.com/office/drawing/2014/main" id="{26837035-0E79-98D1-371C-338C7355463E}"/>
              </a:ext>
            </a:extLst>
          </p:cNvPr>
          <p:cNvSpPr/>
          <p:nvPr/>
        </p:nvSpPr>
        <p:spPr>
          <a:xfrm>
            <a:off x="1941479" y="2972192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85;g3dad5127776_0_483">
            <a:extLst>
              <a:ext uri="{FF2B5EF4-FFF2-40B4-BE49-F238E27FC236}">
                <a16:creationId xmlns:a16="http://schemas.microsoft.com/office/drawing/2014/main" id="{C55BA0A7-1191-4DB2-6C3D-21CBFA2F74E6}"/>
              </a:ext>
            </a:extLst>
          </p:cNvPr>
          <p:cNvSpPr/>
          <p:nvPr/>
        </p:nvSpPr>
        <p:spPr>
          <a:xfrm>
            <a:off x="963350" y="3451033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86;g3dad5127776_0_483">
            <a:extLst>
              <a:ext uri="{FF2B5EF4-FFF2-40B4-BE49-F238E27FC236}">
                <a16:creationId xmlns:a16="http://schemas.microsoft.com/office/drawing/2014/main" id="{BFAB3BF7-DA82-91E2-0E36-BC263FFC9C5D}"/>
              </a:ext>
            </a:extLst>
          </p:cNvPr>
          <p:cNvSpPr/>
          <p:nvPr/>
        </p:nvSpPr>
        <p:spPr>
          <a:xfrm>
            <a:off x="963350" y="2972192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79;g3dad5127776_0_483">
            <a:extLst>
              <a:ext uri="{FF2B5EF4-FFF2-40B4-BE49-F238E27FC236}">
                <a16:creationId xmlns:a16="http://schemas.microsoft.com/office/drawing/2014/main" id="{AC93345D-F7C5-DC79-3127-45D92A7FF654}"/>
              </a:ext>
            </a:extLst>
          </p:cNvPr>
          <p:cNvSpPr/>
          <p:nvPr/>
        </p:nvSpPr>
        <p:spPr>
          <a:xfrm>
            <a:off x="1452420" y="2360537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81;g3dad5127776_0_483">
            <a:extLst>
              <a:ext uri="{FF2B5EF4-FFF2-40B4-BE49-F238E27FC236}">
                <a16:creationId xmlns:a16="http://schemas.microsoft.com/office/drawing/2014/main" id="{E4851158-632B-F304-9A2A-947ED41E8BA0}"/>
              </a:ext>
            </a:extLst>
          </p:cNvPr>
          <p:cNvSpPr/>
          <p:nvPr/>
        </p:nvSpPr>
        <p:spPr>
          <a:xfrm>
            <a:off x="1941479" y="2360537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86;g3dad5127776_0_483">
            <a:extLst>
              <a:ext uri="{FF2B5EF4-FFF2-40B4-BE49-F238E27FC236}">
                <a16:creationId xmlns:a16="http://schemas.microsoft.com/office/drawing/2014/main" id="{4D5B6551-506C-B1AC-4201-CCF602AD7364}"/>
              </a:ext>
            </a:extLst>
          </p:cNvPr>
          <p:cNvSpPr/>
          <p:nvPr/>
        </p:nvSpPr>
        <p:spPr>
          <a:xfrm>
            <a:off x="963350" y="2360537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2D1E3E20-E595-8F5D-99AD-5C2549FCB014}"/>
              </a:ext>
            </a:extLst>
          </p:cNvPr>
          <p:cNvSpPr txBox="1"/>
          <p:nvPr/>
        </p:nvSpPr>
        <p:spPr>
          <a:xfrm>
            <a:off x="1124853" y="3995047"/>
            <a:ext cx="27234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Favours Uniform Wavefront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C7DC00C-73DF-C22D-089A-2BEA58B51C84}"/>
              </a:ext>
            </a:extLst>
          </p:cNvPr>
          <p:cNvSpPr txBox="1"/>
          <p:nvPr/>
        </p:nvSpPr>
        <p:spPr>
          <a:xfrm>
            <a:off x="5175511" y="3978669"/>
            <a:ext cx="5635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Favors Cresent Wavefront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21F9FF25-42D6-0DC9-2BC3-31C82D674E0D}"/>
              </a:ext>
            </a:extLst>
          </p:cNvPr>
          <p:cNvSpPr txBox="1"/>
          <p:nvPr/>
        </p:nvSpPr>
        <p:spPr>
          <a:xfrm>
            <a:off x="296122" y="6219986"/>
            <a:ext cx="88139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There must be a boundary condition formulation that favors steady state inverse cresent wavefront 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6C2516D-26D6-0E47-0108-2A0EE9F8505B}"/>
              </a:ext>
            </a:extLst>
          </p:cNvPr>
          <p:cNvCxnSpPr/>
          <p:nvPr/>
        </p:nvCxnSpPr>
        <p:spPr>
          <a:xfrm>
            <a:off x="785391" y="2852080"/>
            <a:ext cx="17012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Google Shape;78;g3dad5127776_0_483">
            <a:extLst>
              <a:ext uri="{FF2B5EF4-FFF2-40B4-BE49-F238E27FC236}">
                <a16:creationId xmlns:a16="http://schemas.microsoft.com/office/drawing/2014/main" id="{42346051-4634-3DEF-AA85-C76545F092BC}"/>
              </a:ext>
            </a:extLst>
          </p:cNvPr>
          <p:cNvSpPr/>
          <p:nvPr/>
        </p:nvSpPr>
        <p:spPr>
          <a:xfrm>
            <a:off x="3289264" y="3451806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79;g3dad5127776_0_483">
            <a:extLst>
              <a:ext uri="{FF2B5EF4-FFF2-40B4-BE49-F238E27FC236}">
                <a16:creationId xmlns:a16="http://schemas.microsoft.com/office/drawing/2014/main" id="{47133AB1-62AF-F697-4482-55E66C98AC3C}"/>
              </a:ext>
            </a:extLst>
          </p:cNvPr>
          <p:cNvSpPr/>
          <p:nvPr/>
        </p:nvSpPr>
        <p:spPr>
          <a:xfrm>
            <a:off x="3295386" y="2971290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c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80;g3dad5127776_0_483">
            <a:extLst>
              <a:ext uri="{FF2B5EF4-FFF2-40B4-BE49-F238E27FC236}">
                <a16:creationId xmlns:a16="http://schemas.microsoft.com/office/drawing/2014/main" id="{F0D71888-B703-1CEC-9D5E-7285DE4831C1}"/>
              </a:ext>
            </a:extLst>
          </p:cNvPr>
          <p:cNvSpPr/>
          <p:nvPr/>
        </p:nvSpPr>
        <p:spPr>
          <a:xfrm>
            <a:off x="3784456" y="3451806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81;g3dad5127776_0_483">
            <a:extLst>
              <a:ext uri="{FF2B5EF4-FFF2-40B4-BE49-F238E27FC236}">
                <a16:creationId xmlns:a16="http://schemas.microsoft.com/office/drawing/2014/main" id="{84F3B86E-C3C3-E3F0-D8D7-092B5F0CF185}"/>
              </a:ext>
            </a:extLst>
          </p:cNvPr>
          <p:cNvSpPr/>
          <p:nvPr/>
        </p:nvSpPr>
        <p:spPr>
          <a:xfrm>
            <a:off x="3784456" y="2972965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85;g3dad5127776_0_483">
            <a:extLst>
              <a:ext uri="{FF2B5EF4-FFF2-40B4-BE49-F238E27FC236}">
                <a16:creationId xmlns:a16="http://schemas.microsoft.com/office/drawing/2014/main" id="{6F29D115-C8DB-6B8C-A2E5-65FD8DC393E6}"/>
              </a:ext>
            </a:extLst>
          </p:cNvPr>
          <p:cNvSpPr/>
          <p:nvPr/>
        </p:nvSpPr>
        <p:spPr>
          <a:xfrm>
            <a:off x="2806327" y="3451806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86;g3dad5127776_0_483">
            <a:extLst>
              <a:ext uri="{FF2B5EF4-FFF2-40B4-BE49-F238E27FC236}">
                <a16:creationId xmlns:a16="http://schemas.microsoft.com/office/drawing/2014/main" id="{D64DD951-1174-F867-1E48-7FC740DD0F35}"/>
              </a:ext>
            </a:extLst>
          </p:cNvPr>
          <p:cNvSpPr/>
          <p:nvPr/>
        </p:nvSpPr>
        <p:spPr>
          <a:xfrm>
            <a:off x="2806327" y="2972965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79;g3dad5127776_0_483">
            <a:extLst>
              <a:ext uri="{FF2B5EF4-FFF2-40B4-BE49-F238E27FC236}">
                <a16:creationId xmlns:a16="http://schemas.microsoft.com/office/drawing/2014/main" id="{F04054B2-B43B-706D-82BA-07ADFFB4B766}"/>
              </a:ext>
            </a:extLst>
          </p:cNvPr>
          <p:cNvSpPr/>
          <p:nvPr/>
        </p:nvSpPr>
        <p:spPr>
          <a:xfrm>
            <a:off x="3295397" y="2361310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81;g3dad5127776_0_483">
            <a:extLst>
              <a:ext uri="{FF2B5EF4-FFF2-40B4-BE49-F238E27FC236}">
                <a16:creationId xmlns:a16="http://schemas.microsoft.com/office/drawing/2014/main" id="{ADD12B21-C084-E355-F9D9-E01B4E5E8F7E}"/>
              </a:ext>
            </a:extLst>
          </p:cNvPr>
          <p:cNvSpPr/>
          <p:nvPr/>
        </p:nvSpPr>
        <p:spPr>
          <a:xfrm>
            <a:off x="3784456" y="2361310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86;g3dad5127776_0_483">
            <a:extLst>
              <a:ext uri="{FF2B5EF4-FFF2-40B4-BE49-F238E27FC236}">
                <a16:creationId xmlns:a16="http://schemas.microsoft.com/office/drawing/2014/main" id="{09942F3A-81D1-9D20-C9DB-B01585A6BDFE}"/>
              </a:ext>
            </a:extLst>
          </p:cNvPr>
          <p:cNvSpPr/>
          <p:nvPr/>
        </p:nvSpPr>
        <p:spPr>
          <a:xfrm>
            <a:off x="2806327" y="2361310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4B2D7F9-9A99-D452-6CA8-5BD86BE0DFF2}"/>
              </a:ext>
            </a:extLst>
          </p:cNvPr>
          <p:cNvCxnSpPr/>
          <p:nvPr/>
        </p:nvCxnSpPr>
        <p:spPr>
          <a:xfrm>
            <a:off x="2628368" y="2852853"/>
            <a:ext cx="17012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Google Shape;78;g3dad5127776_0_483">
            <a:extLst>
              <a:ext uri="{FF2B5EF4-FFF2-40B4-BE49-F238E27FC236}">
                <a16:creationId xmlns:a16="http://schemas.microsoft.com/office/drawing/2014/main" id="{D2A7BE85-CEFA-07FA-DE2B-E41952FB5AD5}"/>
              </a:ext>
            </a:extLst>
          </p:cNvPr>
          <p:cNvSpPr/>
          <p:nvPr/>
        </p:nvSpPr>
        <p:spPr>
          <a:xfrm>
            <a:off x="5467470" y="3444012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9;g3dad5127776_0_483">
            <a:extLst>
              <a:ext uri="{FF2B5EF4-FFF2-40B4-BE49-F238E27FC236}">
                <a16:creationId xmlns:a16="http://schemas.microsoft.com/office/drawing/2014/main" id="{341E0B32-BA0D-9793-BBC3-20272790E64E}"/>
              </a:ext>
            </a:extLst>
          </p:cNvPr>
          <p:cNvSpPr/>
          <p:nvPr/>
        </p:nvSpPr>
        <p:spPr>
          <a:xfrm>
            <a:off x="5473592" y="2963496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c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80;g3dad5127776_0_483">
            <a:extLst>
              <a:ext uri="{FF2B5EF4-FFF2-40B4-BE49-F238E27FC236}">
                <a16:creationId xmlns:a16="http://schemas.microsoft.com/office/drawing/2014/main" id="{3EB37B07-7D9B-8BA4-955F-124992AEE7A5}"/>
              </a:ext>
            </a:extLst>
          </p:cNvPr>
          <p:cNvSpPr/>
          <p:nvPr/>
        </p:nvSpPr>
        <p:spPr>
          <a:xfrm>
            <a:off x="5962662" y="3444012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1;g3dad5127776_0_483">
            <a:extLst>
              <a:ext uri="{FF2B5EF4-FFF2-40B4-BE49-F238E27FC236}">
                <a16:creationId xmlns:a16="http://schemas.microsoft.com/office/drawing/2014/main" id="{D552DA66-15FB-0F09-1FA4-D21284A1F259}"/>
              </a:ext>
            </a:extLst>
          </p:cNvPr>
          <p:cNvSpPr/>
          <p:nvPr/>
        </p:nvSpPr>
        <p:spPr>
          <a:xfrm>
            <a:off x="5962662" y="2965171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5;g3dad5127776_0_483">
            <a:extLst>
              <a:ext uri="{FF2B5EF4-FFF2-40B4-BE49-F238E27FC236}">
                <a16:creationId xmlns:a16="http://schemas.microsoft.com/office/drawing/2014/main" id="{C1112661-FD31-D684-74CD-5420571FC1A6}"/>
              </a:ext>
            </a:extLst>
          </p:cNvPr>
          <p:cNvSpPr/>
          <p:nvPr/>
        </p:nvSpPr>
        <p:spPr>
          <a:xfrm>
            <a:off x="4984533" y="3444012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6;g3dad5127776_0_483">
            <a:extLst>
              <a:ext uri="{FF2B5EF4-FFF2-40B4-BE49-F238E27FC236}">
                <a16:creationId xmlns:a16="http://schemas.microsoft.com/office/drawing/2014/main" id="{F8418C69-5DCB-6A1A-E1AA-7F54C185DF15}"/>
              </a:ext>
            </a:extLst>
          </p:cNvPr>
          <p:cNvSpPr/>
          <p:nvPr/>
        </p:nvSpPr>
        <p:spPr>
          <a:xfrm>
            <a:off x="4984533" y="2965171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79;g3dad5127776_0_483">
            <a:extLst>
              <a:ext uri="{FF2B5EF4-FFF2-40B4-BE49-F238E27FC236}">
                <a16:creationId xmlns:a16="http://schemas.microsoft.com/office/drawing/2014/main" id="{99B20552-0ECE-F22B-8087-95D1C6ECC55F}"/>
              </a:ext>
            </a:extLst>
          </p:cNvPr>
          <p:cNvSpPr/>
          <p:nvPr/>
        </p:nvSpPr>
        <p:spPr>
          <a:xfrm>
            <a:off x="5473603" y="2353516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1;g3dad5127776_0_483">
            <a:extLst>
              <a:ext uri="{FF2B5EF4-FFF2-40B4-BE49-F238E27FC236}">
                <a16:creationId xmlns:a16="http://schemas.microsoft.com/office/drawing/2014/main" id="{3B540183-9736-C693-FC2D-7A8FB21AA8B4}"/>
              </a:ext>
            </a:extLst>
          </p:cNvPr>
          <p:cNvSpPr/>
          <p:nvPr/>
        </p:nvSpPr>
        <p:spPr>
          <a:xfrm>
            <a:off x="5962662" y="2353516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6;g3dad5127776_0_483">
            <a:extLst>
              <a:ext uri="{FF2B5EF4-FFF2-40B4-BE49-F238E27FC236}">
                <a16:creationId xmlns:a16="http://schemas.microsoft.com/office/drawing/2014/main" id="{B7051340-340B-E9AF-AAF8-489A8A09E446}"/>
              </a:ext>
            </a:extLst>
          </p:cNvPr>
          <p:cNvSpPr/>
          <p:nvPr/>
        </p:nvSpPr>
        <p:spPr>
          <a:xfrm>
            <a:off x="4984533" y="2353516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D58254FC-3C96-78DA-4BB6-C1B5B209C057}"/>
              </a:ext>
            </a:extLst>
          </p:cNvPr>
          <p:cNvCxnSpPr/>
          <p:nvPr/>
        </p:nvCxnSpPr>
        <p:spPr>
          <a:xfrm>
            <a:off x="4806574" y="2845059"/>
            <a:ext cx="17012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Google Shape;78;g3dad5127776_0_483">
            <a:extLst>
              <a:ext uri="{FF2B5EF4-FFF2-40B4-BE49-F238E27FC236}">
                <a16:creationId xmlns:a16="http://schemas.microsoft.com/office/drawing/2014/main" id="{7B95A48D-BCFB-22E9-E061-A671D7D98DCA}"/>
              </a:ext>
            </a:extLst>
          </p:cNvPr>
          <p:cNvSpPr/>
          <p:nvPr/>
        </p:nvSpPr>
        <p:spPr>
          <a:xfrm>
            <a:off x="7310447" y="3444785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79;g3dad5127776_0_483">
            <a:extLst>
              <a:ext uri="{FF2B5EF4-FFF2-40B4-BE49-F238E27FC236}">
                <a16:creationId xmlns:a16="http://schemas.microsoft.com/office/drawing/2014/main" id="{1CF38FA0-32BE-4EBB-215B-C726C5B01B87}"/>
              </a:ext>
            </a:extLst>
          </p:cNvPr>
          <p:cNvSpPr/>
          <p:nvPr/>
        </p:nvSpPr>
        <p:spPr>
          <a:xfrm>
            <a:off x="7316569" y="2964269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c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0;g3dad5127776_0_483">
            <a:extLst>
              <a:ext uri="{FF2B5EF4-FFF2-40B4-BE49-F238E27FC236}">
                <a16:creationId xmlns:a16="http://schemas.microsoft.com/office/drawing/2014/main" id="{FD965C93-675B-C040-796A-16AADB8BB0A1}"/>
              </a:ext>
            </a:extLst>
          </p:cNvPr>
          <p:cNvSpPr/>
          <p:nvPr/>
        </p:nvSpPr>
        <p:spPr>
          <a:xfrm>
            <a:off x="7805639" y="3444785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81;g3dad5127776_0_483">
            <a:extLst>
              <a:ext uri="{FF2B5EF4-FFF2-40B4-BE49-F238E27FC236}">
                <a16:creationId xmlns:a16="http://schemas.microsoft.com/office/drawing/2014/main" id="{51161CB8-8F7A-324F-9366-77280DD8DEE5}"/>
              </a:ext>
            </a:extLst>
          </p:cNvPr>
          <p:cNvSpPr/>
          <p:nvPr/>
        </p:nvSpPr>
        <p:spPr>
          <a:xfrm>
            <a:off x="7805639" y="2965944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85;g3dad5127776_0_483">
            <a:extLst>
              <a:ext uri="{FF2B5EF4-FFF2-40B4-BE49-F238E27FC236}">
                <a16:creationId xmlns:a16="http://schemas.microsoft.com/office/drawing/2014/main" id="{D802C3BB-1953-6487-6997-692ECE0F4EB5}"/>
              </a:ext>
            </a:extLst>
          </p:cNvPr>
          <p:cNvSpPr/>
          <p:nvPr/>
        </p:nvSpPr>
        <p:spPr>
          <a:xfrm>
            <a:off x="6827510" y="3444785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86;g3dad5127776_0_483">
            <a:extLst>
              <a:ext uri="{FF2B5EF4-FFF2-40B4-BE49-F238E27FC236}">
                <a16:creationId xmlns:a16="http://schemas.microsoft.com/office/drawing/2014/main" id="{083BFF99-2603-F223-4BD1-0FE6E1BA96A2}"/>
              </a:ext>
            </a:extLst>
          </p:cNvPr>
          <p:cNvSpPr/>
          <p:nvPr/>
        </p:nvSpPr>
        <p:spPr>
          <a:xfrm>
            <a:off x="6827510" y="2965944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79;g3dad5127776_0_483">
            <a:extLst>
              <a:ext uri="{FF2B5EF4-FFF2-40B4-BE49-F238E27FC236}">
                <a16:creationId xmlns:a16="http://schemas.microsoft.com/office/drawing/2014/main" id="{409F4BA0-24A2-2CE3-B853-75AC01B41D63}"/>
              </a:ext>
            </a:extLst>
          </p:cNvPr>
          <p:cNvSpPr/>
          <p:nvPr/>
        </p:nvSpPr>
        <p:spPr>
          <a:xfrm>
            <a:off x="7316580" y="2354289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81;g3dad5127776_0_483">
            <a:extLst>
              <a:ext uri="{FF2B5EF4-FFF2-40B4-BE49-F238E27FC236}">
                <a16:creationId xmlns:a16="http://schemas.microsoft.com/office/drawing/2014/main" id="{B5172512-58F8-7EE0-BFE5-8BA52C6AEAFF}"/>
              </a:ext>
            </a:extLst>
          </p:cNvPr>
          <p:cNvSpPr/>
          <p:nvPr/>
        </p:nvSpPr>
        <p:spPr>
          <a:xfrm>
            <a:off x="7805639" y="2354289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86;g3dad5127776_0_483">
            <a:extLst>
              <a:ext uri="{FF2B5EF4-FFF2-40B4-BE49-F238E27FC236}">
                <a16:creationId xmlns:a16="http://schemas.microsoft.com/office/drawing/2014/main" id="{C914E898-F078-91BA-881D-FFD81ACBD1F8}"/>
              </a:ext>
            </a:extLst>
          </p:cNvPr>
          <p:cNvSpPr/>
          <p:nvPr/>
        </p:nvSpPr>
        <p:spPr>
          <a:xfrm>
            <a:off x="6827510" y="2354289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292E52E2-DDCE-9385-B43C-C59FC8F6C19B}"/>
              </a:ext>
            </a:extLst>
          </p:cNvPr>
          <p:cNvCxnSpPr/>
          <p:nvPr/>
        </p:nvCxnSpPr>
        <p:spPr>
          <a:xfrm>
            <a:off x="6649551" y="2845832"/>
            <a:ext cx="17012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Google Shape;100;g3dad5127776_0_483">
            <a:extLst>
              <a:ext uri="{FF2B5EF4-FFF2-40B4-BE49-F238E27FC236}">
                <a16:creationId xmlns:a16="http://schemas.microsoft.com/office/drawing/2014/main" id="{707BC688-3C84-6BDA-D46C-1C2606EBBF9E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3676386" y="3154358"/>
            <a:ext cx="108070" cy="1307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9" name="Google Shape;100;g3dad5127776_0_483">
            <a:extLst>
              <a:ext uri="{FF2B5EF4-FFF2-40B4-BE49-F238E27FC236}">
                <a16:creationId xmlns:a16="http://schemas.microsoft.com/office/drawing/2014/main" id="{3D64DEFE-A1D5-A6A3-7DB2-1029BD12B440}"/>
              </a:ext>
            </a:extLst>
          </p:cNvPr>
          <p:cNvCxnSpPr>
            <a:cxnSpLocks/>
          </p:cNvCxnSpPr>
          <p:nvPr/>
        </p:nvCxnSpPr>
        <p:spPr>
          <a:xfrm flipV="1">
            <a:off x="3658257" y="2859524"/>
            <a:ext cx="120199" cy="116088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4" name="Google Shape;100;g3dad5127776_0_483">
            <a:extLst>
              <a:ext uri="{FF2B5EF4-FFF2-40B4-BE49-F238E27FC236}">
                <a16:creationId xmlns:a16="http://schemas.microsoft.com/office/drawing/2014/main" id="{6A78918E-A55B-ED61-FFD9-1F26CDCD8210}"/>
              </a:ext>
            </a:extLst>
          </p:cNvPr>
          <p:cNvCxnSpPr>
            <a:cxnSpLocks/>
          </p:cNvCxnSpPr>
          <p:nvPr/>
        </p:nvCxnSpPr>
        <p:spPr>
          <a:xfrm>
            <a:off x="3659441" y="3329136"/>
            <a:ext cx="112760" cy="114876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8" name="Google Shape;100;g3dad5127776_0_483">
            <a:extLst>
              <a:ext uri="{FF2B5EF4-FFF2-40B4-BE49-F238E27FC236}">
                <a16:creationId xmlns:a16="http://schemas.microsoft.com/office/drawing/2014/main" id="{26AE5541-ACAB-BB34-F8E0-855A149EE7AB}"/>
              </a:ext>
            </a:extLst>
          </p:cNvPr>
          <p:cNvCxnSpPr>
            <a:cxnSpLocks/>
          </p:cNvCxnSpPr>
          <p:nvPr/>
        </p:nvCxnSpPr>
        <p:spPr>
          <a:xfrm>
            <a:off x="3172864" y="2726950"/>
            <a:ext cx="112760" cy="114876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1" name="Google Shape;100;g3dad5127776_0_483">
            <a:extLst>
              <a:ext uri="{FF2B5EF4-FFF2-40B4-BE49-F238E27FC236}">
                <a16:creationId xmlns:a16="http://schemas.microsoft.com/office/drawing/2014/main" id="{D6829A44-91F0-9B25-BFB5-7D10F1E2A750}"/>
              </a:ext>
            </a:extLst>
          </p:cNvPr>
          <p:cNvCxnSpPr>
            <a:cxnSpLocks/>
            <a:endCxn id="34" idx="1"/>
          </p:cNvCxnSpPr>
          <p:nvPr/>
        </p:nvCxnSpPr>
        <p:spPr>
          <a:xfrm flipV="1">
            <a:off x="3181327" y="3153990"/>
            <a:ext cx="114059" cy="368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5" name="Google Shape;100;g3dad5127776_0_483">
            <a:extLst>
              <a:ext uri="{FF2B5EF4-FFF2-40B4-BE49-F238E27FC236}">
                <a16:creationId xmlns:a16="http://schemas.microsoft.com/office/drawing/2014/main" id="{061652B2-F975-B3A6-4FA9-585C1653ED26}"/>
              </a:ext>
            </a:extLst>
          </p:cNvPr>
          <p:cNvCxnSpPr>
            <a:cxnSpLocks/>
          </p:cNvCxnSpPr>
          <p:nvPr/>
        </p:nvCxnSpPr>
        <p:spPr>
          <a:xfrm flipV="1">
            <a:off x="3181320" y="3328530"/>
            <a:ext cx="120199" cy="116088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6" name="Google Shape;100;g3dad5127776_0_483">
            <a:extLst>
              <a:ext uri="{FF2B5EF4-FFF2-40B4-BE49-F238E27FC236}">
                <a16:creationId xmlns:a16="http://schemas.microsoft.com/office/drawing/2014/main" id="{2CCFD075-4A78-1049-D013-E1F8B3F6B793}"/>
              </a:ext>
            </a:extLst>
          </p:cNvPr>
          <p:cNvCxnSpPr>
            <a:cxnSpLocks/>
          </p:cNvCxnSpPr>
          <p:nvPr/>
        </p:nvCxnSpPr>
        <p:spPr>
          <a:xfrm>
            <a:off x="7689158" y="3161139"/>
            <a:ext cx="108070" cy="1307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7" name="Google Shape;100;g3dad5127776_0_483">
            <a:extLst>
              <a:ext uri="{FF2B5EF4-FFF2-40B4-BE49-F238E27FC236}">
                <a16:creationId xmlns:a16="http://schemas.microsoft.com/office/drawing/2014/main" id="{B268F982-DE6A-5CD8-800B-86A38C79E95C}"/>
              </a:ext>
            </a:extLst>
          </p:cNvPr>
          <p:cNvCxnSpPr>
            <a:cxnSpLocks/>
          </p:cNvCxnSpPr>
          <p:nvPr/>
        </p:nvCxnSpPr>
        <p:spPr>
          <a:xfrm>
            <a:off x="7672213" y="3335917"/>
            <a:ext cx="128056" cy="115116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8" name="Google Shape;100;g3dad5127776_0_483">
            <a:extLst>
              <a:ext uri="{FF2B5EF4-FFF2-40B4-BE49-F238E27FC236}">
                <a16:creationId xmlns:a16="http://schemas.microsoft.com/office/drawing/2014/main" id="{F012DA9C-76C3-BFB9-BF52-C6FD49C81F8A}"/>
              </a:ext>
            </a:extLst>
          </p:cNvPr>
          <p:cNvCxnSpPr>
            <a:cxnSpLocks/>
          </p:cNvCxnSpPr>
          <p:nvPr/>
        </p:nvCxnSpPr>
        <p:spPr>
          <a:xfrm flipV="1">
            <a:off x="7194099" y="3160771"/>
            <a:ext cx="114059" cy="368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9" name="Google Shape;100;g3dad5127776_0_483">
            <a:extLst>
              <a:ext uri="{FF2B5EF4-FFF2-40B4-BE49-F238E27FC236}">
                <a16:creationId xmlns:a16="http://schemas.microsoft.com/office/drawing/2014/main" id="{261626FA-6531-0F6F-A605-24C2CE10FC78}"/>
              </a:ext>
            </a:extLst>
          </p:cNvPr>
          <p:cNvCxnSpPr>
            <a:cxnSpLocks/>
          </p:cNvCxnSpPr>
          <p:nvPr/>
        </p:nvCxnSpPr>
        <p:spPr>
          <a:xfrm flipV="1">
            <a:off x="7194092" y="3335311"/>
            <a:ext cx="120199" cy="116088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58" name="video_bc_fm.mp4">
            <a:hlinkClick r:id="" action="ppaction://media"/>
            <a:extLst>
              <a:ext uri="{FF2B5EF4-FFF2-40B4-BE49-F238E27FC236}">
                <a16:creationId xmlns:a16="http://schemas.microsoft.com/office/drawing/2014/main" id="{8115C3F3-FDEC-3052-21F4-8CA2FBD73DC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800210" y="4342640"/>
            <a:ext cx="3679182" cy="1839591"/>
          </a:xfrm>
          <a:prstGeom prst="rect">
            <a:avLst/>
          </a:prstGeom>
        </p:spPr>
      </p:pic>
      <p:pic>
        <p:nvPicPr>
          <p:cNvPr id="159" name="video_bc_fmi.mp4">
            <a:hlinkClick r:id="" action="ppaction://media"/>
            <a:extLst>
              <a:ext uri="{FF2B5EF4-FFF2-40B4-BE49-F238E27FC236}">
                <a16:creationId xmlns:a16="http://schemas.microsoft.com/office/drawing/2014/main" id="{E13D3902-F174-1425-6BA9-3FEE4B42E03B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80274" y="4336681"/>
            <a:ext cx="3679182" cy="1839591"/>
          </a:xfrm>
          <a:prstGeom prst="rect">
            <a:avLst/>
          </a:prstGeom>
        </p:spPr>
      </p:pic>
      <p:sp>
        <p:nvSpPr>
          <p:cNvPr id="161" name="TextBox 160">
            <a:extLst>
              <a:ext uri="{FF2B5EF4-FFF2-40B4-BE49-F238E27FC236}">
                <a16:creationId xmlns:a16="http://schemas.microsoft.com/office/drawing/2014/main" id="{8AB45775-58A0-8E27-8688-1A5BA1DEDC36}"/>
              </a:ext>
            </a:extLst>
          </p:cNvPr>
          <p:cNvSpPr txBox="1"/>
          <p:nvPr/>
        </p:nvSpPr>
        <p:spPr>
          <a:xfrm>
            <a:off x="-399564" y="6448499"/>
            <a:ext cx="98033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Issue: Monodomain simulation has limitations regarding different combo of boundary conditions</a:t>
            </a:r>
          </a:p>
        </p:txBody>
      </p:sp>
    </p:spTree>
    <p:extLst>
      <p:ext uri="{BB962C8B-B14F-4D97-AF65-F5344CB8AC3E}">
        <p14:creationId xmlns:p14="http://schemas.microsoft.com/office/powerpoint/2010/main" val="1529414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15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5000" fill="hold"/>
                                        <p:tgtEl>
                                          <p:spTgt spid="15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repeatCount="indefinite" fill="remove" display="0">
                  <p:stCondLst>
                    <p:cond delay="indefinite"/>
                  </p:stCondLst>
                </p:cTn>
                <p:tgtEl>
                  <p:spTgt spid="159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15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"/>
                  </p:tgtEl>
                </p:cond>
              </p:nextCondLst>
            </p:seq>
            <p:video>
              <p:cMediaNode vol="80000">
                <p:cTn id="16" repeatCount="indefinite" fill="remove" display="0">
                  <p:stCondLst>
                    <p:cond delay="indefinite"/>
                  </p:stCondLst>
                </p:cTn>
                <p:tgtEl>
                  <p:spTgt spid="158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15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ad5127776_0_499"/>
          <p:cNvSpPr txBox="1">
            <a:spLocks noGrp="1"/>
          </p:cNvSpPr>
          <p:nvPr>
            <p:ph type="sldNum" idx="12"/>
          </p:nvPr>
        </p:nvSpPr>
        <p:spPr>
          <a:xfrm>
            <a:off x="8780526" y="6571476"/>
            <a:ext cx="17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38" name="Google Shape;138;g3dad5127776_0_499"/>
          <p:cNvSpPr txBox="1"/>
          <p:nvPr/>
        </p:nvSpPr>
        <p:spPr>
          <a:xfrm>
            <a:off x="217817" y="216547"/>
            <a:ext cx="86967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lt1"/>
                </a:solidFill>
              </a:rPr>
              <a:t>LBM Engine Allows Control Over Directional Streaming </a:t>
            </a:r>
            <a:endParaRPr sz="2200">
              <a:solidFill>
                <a:schemeClr val="lt1"/>
              </a:solidFill>
            </a:endParaRPr>
          </a:p>
        </p:txBody>
      </p:sp>
      <p:sp>
        <p:nvSpPr>
          <p:cNvPr id="139" name="Google Shape;139;g3dad5127776_0_499"/>
          <p:cNvSpPr txBox="1"/>
          <p:nvPr/>
        </p:nvSpPr>
        <p:spPr>
          <a:xfrm>
            <a:off x="9665825" y="3876275"/>
            <a:ext cx="16026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42EEED-0520-9CF1-0D1F-62C08E847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1916" y="1645093"/>
            <a:ext cx="5708502" cy="35678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9E98CB-E9BA-3DBC-5016-8DE214D6C6C9}"/>
              </a:ext>
            </a:extLst>
          </p:cNvPr>
          <p:cNvSpPr txBox="1"/>
          <p:nvPr/>
        </p:nvSpPr>
        <p:spPr>
          <a:xfrm>
            <a:off x="329608" y="1197818"/>
            <a:ext cx="78524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We need LBM: A simulation that tracks phase space instead of positional space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DF9B4D-3A61-9AA9-6915-9C0AD862F252}"/>
                  </a:ext>
                </a:extLst>
              </p:cNvPr>
              <p:cNvSpPr txBox="1"/>
              <p:nvPr/>
            </p:nvSpPr>
            <p:spPr>
              <a:xfrm>
                <a:off x="2300591" y="5902818"/>
                <a:ext cx="55842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DF9B4D-3A61-9AA9-6915-9C0AD862F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0591" y="5902818"/>
                <a:ext cx="558423" cy="215444"/>
              </a:xfrm>
              <a:prstGeom prst="rect">
                <a:avLst/>
              </a:prstGeom>
              <a:blipFill>
                <a:blip r:embed="rId4"/>
                <a:stretch>
                  <a:fillRect l="-4348" r="-8696" b="-3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F0F6BD-237D-1E1F-1A18-E42632C8EED7}"/>
                  </a:ext>
                </a:extLst>
              </p:cNvPr>
              <p:cNvSpPr txBox="1"/>
              <p:nvPr/>
            </p:nvSpPr>
            <p:spPr>
              <a:xfrm>
                <a:off x="3277339" y="5856652"/>
                <a:ext cx="563717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F0F6BD-237D-1E1F-1A18-E42632C8E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339" y="5856652"/>
                <a:ext cx="5637178" cy="307777"/>
              </a:xfrm>
              <a:prstGeom prst="rect">
                <a:avLst/>
              </a:prstGeom>
              <a:blipFill>
                <a:blip r:embed="rId5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C5A87B0-66F4-A891-E952-3DFA095EFAEA}"/>
              </a:ext>
            </a:extLst>
          </p:cNvPr>
          <p:cNvSpPr txBox="1"/>
          <p:nvPr/>
        </p:nvSpPr>
        <p:spPr>
          <a:xfrm>
            <a:off x="995381" y="5586316"/>
            <a:ext cx="31688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Positional Encoding (Monodomain)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016482-FC30-53B0-4EDB-815A3A933444}"/>
              </a:ext>
            </a:extLst>
          </p:cNvPr>
          <p:cNvSpPr txBox="1"/>
          <p:nvPr/>
        </p:nvSpPr>
        <p:spPr>
          <a:xfrm>
            <a:off x="4984227" y="5586317"/>
            <a:ext cx="56371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Phase Encoding (LBM)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E68F37-07E0-C355-3690-D0E01F66D03B}"/>
              </a:ext>
            </a:extLst>
          </p:cNvPr>
          <p:cNvSpPr txBox="1"/>
          <p:nvPr/>
        </p:nvSpPr>
        <p:spPr>
          <a:xfrm>
            <a:off x="1548594" y="6233056"/>
            <a:ext cx="20624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/>
              <a:t>What is the voltage at location x at time 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DFDD8A-0BB5-BDE9-ACC0-1673A8553065}"/>
              </a:ext>
            </a:extLst>
          </p:cNvPr>
          <p:cNvSpPr txBox="1"/>
          <p:nvPr/>
        </p:nvSpPr>
        <p:spPr>
          <a:xfrm>
            <a:off x="4546023" y="6240226"/>
            <a:ext cx="30998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/>
              <a:t>What is the voltage density at location x with a velocity of c and at time 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4E01D-4E99-2696-3378-95C8C7F264A2}"/>
              </a:ext>
            </a:extLst>
          </p:cNvPr>
          <p:cNvSpPr txBox="1"/>
          <p:nvPr/>
        </p:nvSpPr>
        <p:spPr>
          <a:xfrm>
            <a:off x="6848405" y="5212907"/>
            <a:ext cx="5634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Medium</a:t>
            </a:r>
            <a:r>
              <a:rPr lang="en-US" sz="1400"/>
              <a:t> 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ad5127776_0_652"/>
          <p:cNvSpPr txBox="1">
            <a:spLocks noGrp="1"/>
          </p:cNvSpPr>
          <p:nvPr>
            <p:ph type="sldNum" idx="12"/>
          </p:nvPr>
        </p:nvSpPr>
        <p:spPr>
          <a:xfrm>
            <a:off x="8780524" y="6543275"/>
            <a:ext cx="363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53" name="Google Shape;153;g3dad5127776_0_652"/>
          <p:cNvSpPr txBox="1"/>
          <p:nvPr/>
        </p:nvSpPr>
        <p:spPr>
          <a:xfrm>
            <a:off x="223663" y="149075"/>
            <a:ext cx="8696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chemeClr val="lt1"/>
                </a:solidFill>
              </a:rPr>
              <a:t>Inverse Crescent Formation Supplemental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154" name="Google Shape;154;g3dad5127776_0_652"/>
          <p:cNvSpPr txBox="1"/>
          <p:nvPr/>
        </p:nvSpPr>
        <p:spPr>
          <a:xfrm>
            <a:off x="9665825" y="3876275"/>
            <a:ext cx="16026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55" name="Google Shape;155;g3dad5127776_0_652"/>
          <p:cNvSpPr txBox="1"/>
          <p:nvPr/>
        </p:nvSpPr>
        <p:spPr>
          <a:xfrm>
            <a:off x="130500" y="6142763"/>
            <a:ext cx="88830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highlight>
                <a:srgbClr val="FFFF00"/>
              </a:highlight>
            </a:endParaRPr>
          </a:p>
        </p:txBody>
      </p:sp>
      <p:sp>
        <p:nvSpPr>
          <p:cNvPr id="160" name="Google Shape;160;g3dad5127776_0_652"/>
          <p:cNvSpPr txBox="1"/>
          <p:nvPr/>
        </p:nvSpPr>
        <p:spPr>
          <a:xfrm>
            <a:off x="407850" y="5927375"/>
            <a:ext cx="8328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dad5127776_0_652"/>
          <p:cNvSpPr txBox="1"/>
          <p:nvPr/>
        </p:nvSpPr>
        <p:spPr>
          <a:xfrm>
            <a:off x="407875" y="1285650"/>
            <a:ext cx="83283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b="1">
                <a:solidFill>
                  <a:schemeClr val="dk1"/>
                </a:solidFill>
              </a:rPr>
              <a:t>In LBM, you have direct control over the reflected direction and target of the ghost cell </a:t>
            </a:r>
            <a:endParaRPr b="1" dirty="0">
              <a:solidFill>
                <a:schemeClr val="dk1"/>
              </a:solidFill>
            </a:endParaRPr>
          </a:p>
        </p:txBody>
      </p:sp>
      <p:sp>
        <p:nvSpPr>
          <p:cNvPr id="2" name="Google Shape;78;g3dad5127776_0_483">
            <a:extLst>
              <a:ext uri="{FF2B5EF4-FFF2-40B4-BE49-F238E27FC236}">
                <a16:creationId xmlns:a16="http://schemas.microsoft.com/office/drawing/2014/main" id="{3193D20D-493F-D6CA-D323-30539DBB092C}"/>
              </a:ext>
            </a:extLst>
          </p:cNvPr>
          <p:cNvSpPr/>
          <p:nvPr/>
        </p:nvSpPr>
        <p:spPr>
          <a:xfrm>
            <a:off x="1446287" y="3451033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79;g3dad5127776_0_483">
            <a:extLst>
              <a:ext uri="{FF2B5EF4-FFF2-40B4-BE49-F238E27FC236}">
                <a16:creationId xmlns:a16="http://schemas.microsoft.com/office/drawing/2014/main" id="{60BE66F1-C705-A4C7-3935-A40F1E468749}"/>
              </a:ext>
            </a:extLst>
          </p:cNvPr>
          <p:cNvSpPr/>
          <p:nvPr/>
        </p:nvSpPr>
        <p:spPr>
          <a:xfrm>
            <a:off x="1452409" y="2970517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c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80;g3dad5127776_0_483">
            <a:extLst>
              <a:ext uri="{FF2B5EF4-FFF2-40B4-BE49-F238E27FC236}">
                <a16:creationId xmlns:a16="http://schemas.microsoft.com/office/drawing/2014/main" id="{BC719E3C-36CB-68BE-13A5-E149B4C83E05}"/>
              </a:ext>
            </a:extLst>
          </p:cNvPr>
          <p:cNvSpPr/>
          <p:nvPr/>
        </p:nvSpPr>
        <p:spPr>
          <a:xfrm>
            <a:off x="1941479" y="3451033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81;g3dad5127776_0_483">
            <a:extLst>
              <a:ext uri="{FF2B5EF4-FFF2-40B4-BE49-F238E27FC236}">
                <a16:creationId xmlns:a16="http://schemas.microsoft.com/office/drawing/2014/main" id="{F1229436-78E6-005B-6FF7-39593B947124}"/>
              </a:ext>
            </a:extLst>
          </p:cNvPr>
          <p:cNvSpPr/>
          <p:nvPr/>
        </p:nvSpPr>
        <p:spPr>
          <a:xfrm>
            <a:off x="1941479" y="2972192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5;g3dad5127776_0_483">
            <a:extLst>
              <a:ext uri="{FF2B5EF4-FFF2-40B4-BE49-F238E27FC236}">
                <a16:creationId xmlns:a16="http://schemas.microsoft.com/office/drawing/2014/main" id="{F8AA8475-C24D-10BC-AAD4-4A11487F7208}"/>
              </a:ext>
            </a:extLst>
          </p:cNvPr>
          <p:cNvSpPr/>
          <p:nvPr/>
        </p:nvSpPr>
        <p:spPr>
          <a:xfrm>
            <a:off x="963350" y="3451033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86;g3dad5127776_0_483">
            <a:extLst>
              <a:ext uri="{FF2B5EF4-FFF2-40B4-BE49-F238E27FC236}">
                <a16:creationId xmlns:a16="http://schemas.microsoft.com/office/drawing/2014/main" id="{E3477124-CAD9-BF9B-8D2C-9742E4BCABE0}"/>
              </a:ext>
            </a:extLst>
          </p:cNvPr>
          <p:cNvSpPr/>
          <p:nvPr/>
        </p:nvSpPr>
        <p:spPr>
          <a:xfrm>
            <a:off x="963350" y="2972192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79;g3dad5127776_0_483">
            <a:extLst>
              <a:ext uri="{FF2B5EF4-FFF2-40B4-BE49-F238E27FC236}">
                <a16:creationId xmlns:a16="http://schemas.microsoft.com/office/drawing/2014/main" id="{AA7FC8CE-9B4A-D83D-0944-A8FDC83A9152}"/>
              </a:ext>
            </a:extLst>
          </p:cNvPr>
          <p:cNvSpPr/>
          <p:nvPr/>
        </p:nvSpPr>
        <p:spPr>
          <a:xfrm>
            <a:off x="1452420" y="2360537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81;g3dad5127776_0_483">
            <a:extLst>
              <a:ext uri="{FF2B5EF4-FFF2-40B4-BE49-F238E27FC236}">
                <a16:creationId xmlns:a16="http://schemas.microsoft.com/office/drawing/2014/main" id="{440F70D6-B1A5-39B5-90AB-B6CB35748148}"/>
              </a:ext>
            </a:extLst>
          </p:cNvPr>
          <p:cNvSpPr/>
          <p:nvPr/>
        </p:nvSpPr>
        <p:spPr>
          <a:xfrm>
            <a:off x="1941479" y="2360537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86;g3dad5127776_0_483">
            <a:extLst>
              <a:ext uri="{FF2B5EF4-FFF2-40B4-BE49-F238E27FC236}">
                <a16:creationId xmlns:a16="http://schemas.microsoft.com/office/drawing/2014/main" id="{2DF44839-FC12-CB00-1A8A-491102F75021}"/>
              </a:ext>
            </a:extLst>
          </p:cNvPr>
          <p:cNvSpPr/>
          <p:nvPr/>
        </p:nvSpPr>
        <p:spPr>
          <a:xfrm>
            <a:off x="963350" y="2360537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C0C401B-EBF5-66B6-9DA7-7DAA1945EFA4}"/>
              </a:ext>
            </a:extLst>
          </p:cNvPr>
          <p:cNvCxnSpPr/>
          <p:nvPr/>
        </p:nvCxnSpPr>
        <p:spPr>
          <a:xfrm>
            <a:off x="785391" y="2852080"/>
            <a:ext cx="17012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Google Shape;78;g3dad5127776_0_483">
            <a:extLst>
              <a:ext uri="{FF2B5EF4-FFF2-40B4-BE49-F238E27FC236}">
                <a16:creationId xmlns:a16="http://schemas.microsoft.com/office/drawing/2014/main" id="{1A2C93EA-12B2-F62A-438B-7611C14405FC}"/>
              </a:ext>
            </a:extLst>
          </p:cNvPr>
          <p:cNvSpPr/>
          <p:nvPr/>
        </p:nvSpPr>
        <p:spPr>
          <a:xfrm>
            <a:off x="3289264" y="3451806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79;g3dad5127776_0_483">
            <a:extLst>
              <a:ext uri="{FF2B5EF4-FFF2-40B4-BE49-F238E27FC236}">
                <a16:creationId xmlns:a16="http://schemas.microsoft.com/office/drawing/2014/main" id="{DB30B444-2BB1-45C4-4354-642A986F2026}"/>
              </a:ext>
            </a:extLst>
          </p:cNvPr>
          <p:cNvSpPr/>
          <p:nvPr/>
        </p:nvSpPr>
        <p:spPr>
          <a:xfrm>
            <a:off x="3295386" y="2971290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c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0;g3dad5127776_0_483">
            <a:extLst>
              <a:ext uri="{FF2B5EF4-FFF2-40B4-BE49-F238E27FC236}">
                <a16:creationId xmlns:a16="http://schemas.microsoft.com/office/drawing/2014/main" id="{39FDBF0C-292B-89C9-1DE6-A5B93AAB3AC5}"/>
              </a:ext>
            </a:extLst>
          </p:cNvPr>
          <p:cNvSpPr/>
          <p:nvPr/>
        </p:nvSpPr>
        <p:spPr>
          <a:xfrm>
            <a:off x="3784456" y="3451806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81;g3dad5127776_0_483">
            <a:extLst>
              <a:ext uri="{FF2B5EF4-FFF2-40B4-BE49-F238E27FC236}">
                <a16:creationId xmlns:a16="http://schemas.microsoft.com/office/drawing/2014/main" id="{EF37F6B9-1729-1F18-96FC-1C0B03D6C6F9}"/>
              </a:ext>
            </a:extLst>
          </p:cNvPr>
          <p:cNvSpPr/>
          <p:nvPr/>
        </p:nvSpPr>
        <p:spPr>
          <a:xfrm>
            <a:off x="3784456" y="2972965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85;g3dad5127776_0_483">
            <a:extLst>
              <a:ext uri="{FF2B5EF4-FFF2-40B4-BE49-F238E27FC236}">
                <a16:creationId xmlns:a16="http://schemas.microsoft.com/office/drawing/2014/main" id="{50F53179-DE54-C097-EFF4-A69EF3747A58}"/>
              </a:ext>
            </a:extLst>
          </p:cNvPr>
          <p:cNvSpPr/>
          <p:nvPr/>
        </p:nvSpPr>
        <p:spPr>
          <a:xfrm>
            <a:off x="2806327" y="3451806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86;g3dad5127776_0_483">
            <a:extLst>
              <a:ext uri="{FF2B5EF4-FFF2-40B4-BE49-F238E27FC236}">
                <a16:creationId xmlns:a16="http://schemas.microsoft.com/office/drawing/2014/main" id="{4158FA6F-9873-B570-FB0C-C0C839F1D65D}"/>
              </a:ext>
            </a:extLst>
          </p:cNvPr>
          <p:cNvSpPr/>
          <p:nvPr/>
        </p:nvSpPr>
        <p:spPr>
          <a:xfrm>
            <a:off x="2806327" y="2972965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79;g3dad5127776_0_483">
            <a:extLst>
              <a:ext uri="{FF2B5EF4-FFF2-40B4-BE49-F238E27FC236}">
                <a16:creationId xmlns:a16="http://schemas.microsoft.com/office/drawing/2014/main" id="{CC9439C9-3BE2-D4D7-A46F-6CB5FEC0903B}"/>
              </a:ext>
            </a:extLst>
          </p:cNvPr>
          <p:cNvSpPr/>
          <p:nvPr/>
        </p:nvSpPr>
        <p:spPr>
          <a:xfrm>
            <a:off x="3295397" y="2361310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81;g3dad5127776_0_483">
            <a:extLst>
              <a:ext uri="{FF2B5EF4-FFF2-40B4-BE49-F238E27FC236}">
                <a16:creationId xmlns:a16="http://schemas.microsoft.com/office/drawing/2014/main" id="{36469A2F-3967-72D2-4460-27DD2362243F}"/>
              </a:ext>
            </a:extLst>
          </p:cNvPr>
          <p:cNvSpPr/>
          <p:nvPr/>
        </p:nvSpPr>
        <p:spPr>
          <a:xfrm>
            <a:off x="3784456" y="2361310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86;g3dad5127776_0_483">
            <a:extLst>
              <a:ext uri="{FF2B5EF4-FFF2-40B4-BE49-F238E27FC236}">
                <a16:creationId xmlns:a16="http://schemas.microsoft.com/office/drawing/2014/main" id="{CBEC2F04-828E-8D36-3026-9D95C4451ECC}"/>
              </a:ext>
            </a:extLst>
          </p:cNvPr>
          <p:cNvSpPr/>
          <p:nvPr/>
        </p:nvSpPr>
        <p:spPr>
          <a:xfrm>
            <a:off x="2806327" y="2361310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81342AB-E877-2BB3-C323-33CB169ED9F3}"/>
              </a:ext>
            </a:extLst>
          </p:cNvPr>
          <p:cNvCxnSpPr/>
          <p:nvPr/>
        </p:nvCxnSpPr>
        <p:spPr>
          <a:xfrm>
            <a:off x="2628368" y="2852853"/>
            <a:ext cx="17012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oogle Shape;100;g3dad5127776_0_483">
            <a:extLst>
              <a:ext uri="{FF2B5EF4-FFF2-40B4-BE49-F238E27FC236}">
                <a16:creationId xmlns:a16="http://schemas.microsoft.com/office/drawing/2014/main" id="{582314EA-979E-7C3C-B615-F09F4B61E8D8}"/>
              </a:ext>
            </a:extLst>
          </p:cNvPr>
          <p:cNvCxnSpPr>
            <a:cxnSpLocks/>
          </p:cNvCxnSpPr>
          <p:nvPr/>
        </p:nvCxnSpPr>
        <p:spPr>
          <a:xfrm flipH="1" flipV="1">
            <a:off x="1297009" y="2826996"/>
            <a:ext cx="152400" cy="157495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" name="Google Shape;100;g3dad5127776_0_483">
            <a:extLst>
              <a:ext uri="{FF2B5EF4-FFF2-40B4-BE49-F238E27FC236}">
                <a16:creationId xmlns:a16="http://schemas.microsoft.com/office/drawing/2014/main" id="{04144894-BE47-2F04-B7F6-D50685DE422C}"/>
              </a:ext>
            </a:extLst>
          </p:cNvPr>
          <p:cNvCxnSpPr>
            <a:cxnSpLocks/>
          </p:cNvCxnSpPr>
          <p:nvPr/>
        </p:nvCxnSpPr>
        <p:spPr>
          <a:xfrm flipV="1">
            <a:off x="1821287" y="2826996"/>
            <a:ext cx="147890" cy="160101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" name="Google Shape;100;g3dad5127776_0_483">
            <a:extLst>
              <a:ext uri="{FF2B5EF4-FFF2-40B4-BE49-F238E27FC236}">
                <a16:creationId xmlns:a16="http://schemas.microsoft.com/office/drawing/2014/main" id="{B4BE34D3-B92E-4DEC-C44C-244AFF726F91}"/>
              </a:ext>
            </a:extLst>
          </p:cNvPr>
          <p:cNvCxnSpPr>
            <a:cxnSpLocks/>
          </p:cNvCxnSpPr>
          <p:nvPr/>
        </p:nvCxnSpPr>
        <p:spPr>
          <a:xfrm flipV="1">
            <a:off x="1639909" y="2763737"/>
            <a:ext cx="3620" cy="198172"/>
          </a:xfrm>
          <a:prstGeom prst="straightConnector1">
            <a:avLst/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" name="Google Shape;100;g3dad5127776_0_483">
            <a:extLst>
              <a:ext uri="{FF2B5EF4-FFF2-40B4-BE49-F238E27FC236}">
                <a16:creationId xmlns:a16="http://schemas.microsoft.com/office/drawing/2014/main" id="{8A26FA96-AC49-E23D-72A3-FB968F879F7D}"/>
              </a:ext>
            </a:extLst>
          </p:cNvPr>
          <p:cNvCxnSpPr>
            <a:cxnSpLocks/>
          </p:cNvCxnSpPr>
          <p:nvPr/>
        </p:nvCxnSpPr>
        <p:spPr>
          <a:xfrm>
            <a:off x="3476764" y="2725937"/>
            <a:ext cx="0" cy="230570"/>
          </a:xfrm>
          <a:prstGeom prst="straightConnector1">
            <a:avLst/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" name="Google Shape;100;g3dad5127776_0_483">
            <a:extLst>
              <a:ext uri="{FF2B5EF4-FFF2-40B4-BE49-F238E27FC236}">
                <a16:creationId xmlns:a16="http://schemas.microsoft.com/office/drawing/2014/main" id="{6136D437-F90A-0A51-7C06-51321C3CC5B8}"/>
              </a:ext>
            </a:extLst>
          </p:cNvPr>
          <p:cNvCxnSpPr>
            <a:cxnSpLocks/>
          </p:cNvCxnSpPr>
          <p:nvPr/>
        </p:nvCxnSpPr>
        <p:spPr>
          <a:xfrm>
            <a:off x="3164875" y="2716033"/>
            <a:ext cx="141768" cy="18971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" name="Google Shape;100;g3dad5127776_0_483">
            <a:extLst>
              <a:ext uri="{FF2B5EF4-FFF2-40B4-BE49-F238E27FC236}">
                <a16:creationId xmlns:a16="http://schemas.microsoft.com/office/drawing/2014/main" id="{E22D1B6E-620E-0652-B154-C49ABEC52573}"/>
              </a:ext>
            </a:extLst>
          </p:cNvPr>
          <p:cNvCxnSpPr>
            <a:cxnSpLocks/>
          </p:cNvCxnSpPr>
          <p:nvPr/>
        </p:nvCxnSpPr>
        <p:spPr>
          <a:xfrm flipH="1">
            <a:off x="3642688" y="2725937"/>
            <a:ext cx="141768" cy="179806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7" name="Google Shape;78;g3dad5127776_0_483">
            <a:extLst>
              <a:ext uri="{FF2B5EF4-FFF2-40B4-BE49-F238E27FC236}">
                <a16:creationId xmlns:a16="http://schemas.microsoft.com/office/drawing/2014/main" id="{18D595D7-5874-DFB5-A4BD-62CF93D3DB95}"/>
              </a:ext>
            </a:extLst>
          </p:cNvPr>
          <p:cNvSpPr/>
          <p:nvPr/>
        </p:nvSpPr>
        <p:spPr>
          <a:xfrm>
            <a:off x="5250016" y="3465157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79;g3dad5127776_0_483">
            <a:extLst>
              <a:ext uri="{FF2B5EF4-FFF2-40B4-BE49-F238E27FC236}">
                <a16:creationId xmlns:a16="http://schemas.microsoft.com/office/drawing/2014/main" id="{085EEB7F-CAA5-DFD2-78E0-B1EBBDA76E4A}"/>
              </a:ext>
            </a:extLst>
          </p:cNvPr>
          <p:cNvSpPr/>
          <p:nvPr/>
        </p:nvSpPr>
        <p:spPr>
          <a:xfrm>
            <a:off x="5256138" y="2984641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c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80;g3dad5127776_0_483">
            <a:extLst>
              <a:ext uri="{FF2B5EF4-FFF2-40B4-BE49-F238E27FC236}">
                <a16:creationId xmlns:a16="http://schemas.microsoft.com/office/drawing/2014/main" id="{66C927E8-4E82-1431-C2D9-7CCA8724D21A}"/>
              </a:ext>
            </a:extLst>
          </p:cNvPr>
          <p:cNvSpPr/>
          <p:nvPr/>
        </p:nvSpPr>
        <p:spPr>
          <a:xfrm>
            <a:off x="5745208" y="3465157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81;g3dad5127776_0_483">
            <a:extLst>
              <a:ext uri="{FF2B5EF4-FFF2-40B4-BE49-F238E27FC236}">
                <a16:creationId xmlns:a16="http://schemas.microsoft.com/office/drawing/2014/main" id="{B737915C-06C9-6158-333F-338ED3B9A0DD}"/>
              </a:ext>
            </a:extLst>
          </p:cNvPr>
          <p:cNvSpPr/>
          <p:nvPr/>
        </p:nvSpPr>
        <p:spPr>
          <a:xfrm>
            <a:off x="5745208" y="2986316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85;g3dad5127776_0_483">
            <a:extLst>
              <a:ext uri="{FF2B5EF4-FFF2-40B4-BE49-F238E27FC236}">
                <a16:creationId xmlns:a16="http://schemas.microsoft.com/office/drawing/2014/main" id="{DE977F80-131C-77E4-90A4-864C578CEEFE}"/>
              </a:ext>
            </a:extLst>
          </p:cNvPr>
          <p:cNvSpPr/>
          <p:nvPr/>
        </p:nvSpPr>
        <p:spPr>
          <a:xfrm>
            <a:off x="4767079" y="3465157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86;g3dad5127776_0_483">
            <a:extLst>
              <a:ext uri="{FF2B5EF4-FFF2-40B4-BE49-F238E27FC236}">
                <a16:creationId xmlns:a16="http://schemas.microsoft.com/office/drawing/2014/main" id="{2995A55D-D63A-1F62-09EE-8BF92938A877}"/>
              </a:ext>
            </a:extLst>
          </p:cNvPr>
          <p:cNvSpPr/>
          <p:nvPr/>
        </p:nvSpPr>
        <p:spPr>
          <a:xfrm>
            <a:off x="4767079" y="2986316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79;g3dad5127776_0_483">
            <a:extLst>
              <a:ext uri="{FF2B5EF4-FFF2-40B4-BE49-F238E27FC236}">
                <a16:creationId xmlns:a16="http://schemas.microsoft.com/office/drawing/2014/main" id="{E3082760-63D5-6233-47A3-0D4FCF10E491}"/>
              </a:ext>
            </a:extLst>
          </p:cNvPr>
          <p:cNvSpPr/>
          <p:nvPr/>
        </p:nvSpPr>
        <p:spPr>
          <a:xfrm>
            <a:off x="5256149" y="2374661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81;g3dad5127776_0_483">
            <a:extLst>
              <a:ext uri="{FF2B5EF4-FFF2-40B4-BE49-F238E27FC236}">
                <a16:creationId xmlns:a16="http://schemas.microsoft.com/office/drawing/2014/main" id="{D3DD10C9-60E0-533D-476D-37215150EA12}"/>
              </a:ext>
            </a:extLst>
          </p:cNvPr>
          <p:cNvSpPr/>
          <p:nvPr/>
        </p:nvSpPr>
        <p:spPr>
          <a:xfrm>
            <a:off x="5745208" y="2374661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86;g3dad5127776_0_483">
            <a:extLst>
              <a:ext uri="{FF2B5EF4-FFF2-40B4-BE49-F238E27FC236}">
                <a16:creationId xmlns:a16="http://schemas.microsoft.com/office/drawing/2014/main" id="{B197C3DD-3AA5-5A19-1364-045DFF0B8769}"/>
              </a:ext>
            </a:extLst>
          </p:cNvPr>
          <p:cNvSpPr/>
          <p:nvPr/>
        </p:nvSpPr>
        <p:spPr>
          <a:xfrm>
            <a:off x="4767079" y="2374661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B1C7972-6DB9-B637-4B85-D194D5B4D79E}"/>
              </a:ext>
            </a:extLst>
          </p:cNvPr>
          <p:cNvCxnSpPr/>
          <p:nvPr/>
        </p:nvCxnSpPr>
        <p:spPr>
          <a:xfrm>
            <a:off x="4589120" y="2866204"/>
            <a:ext cx="17012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Google Shape;78;g3dad5127776_0_483">
            <a:extLst>
              <a:ext uri="{FF2B5EF4-FFF2-40B4-BE49-F238E27FC236}">
                <a16:creationId xmlns:a16="http://schemas.microsoft.com/office/drawing/2014/main" id="{EE232EB5-2158-CEC1-1F64-DF3EC8E8019B}"/>
              </a:ext>
            </a:extLst>
          </p:cNvPr>
          <p:cNvSpPr/>
          <p:nvPr/>
        </p:nvSpPr>
        <p:spPr>
          <a:xfrm>
            <a:off x="7092993" y="3465930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79;g3dad5127776_0_483">
            <a:extLst>
              <a:ext uri="{FF2B5EF4-FFF2-40B4-BE49-F238E27FC236}">
                <a16:creationId xmlns:a16="http://schemas.microsoft.com/office/drawing/2014/main" id="{D0CC242D-9A3C-19AF-1C4D-D8B7F825BF1F}"/>
              </a:ext>
            </a:extLst>
          </p:cNvPr>
          <p:cNvSpPr/>
          <p:nvPr/>
        </p:nvSpPr>
        <p:spPr>
          <a:xfrm>
            <a:off x="7099115" y="2985414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c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80;g3dad5127776_0_483">
            <a:extLst>
              <a:ext uri="{FF2B5EF4-FFF2-40B4-BE49-F238E27FC236}">
                <a16:creationId xmlns:a16="http://schemas.microsoft.com/office/drawing/2014/main" id="{D6C62809-A0AD-7925-C065-0D5907505C43}"/>
              </a:ext>
            </a:extLst>
          </p:cNvPr>
          <p:cNvSpPr/>
          <p:nvPr/>
        </p:nvSpPr>
        <p:spPr>
          <a:xfrm>
            <a:off x="7588185" y="3465930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81;g3dad5127776_0_483">
            <a:extLst>
              <a:ext uri="{FF2B5EF4-FFF2-40B4-BE49-F238E27FC236}">
                <a16:creationId xmlns:a16="http://schemas.microsoft.com/office/drawing/2014/main" id="{8FDD3CFE-4B1B-9169-29AD-62949B174FA2}"/>
              </a:ext>
            </a:extLst>
          </p:cNvPr>
          <p:cNvSpPr/>
          <p:nvPr/>
        </p:nvSpPr>
        <p:spPr>
          <a:xfrm>
            <a:off x="7588185" y="2987089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85;g3dad5127776_0_483">
            <a:extLst>
              <a:ext uri="{FF2B5EF4-FFF2-40B4-BE49-F238E27FC236}">
                <a16:creationId xmlns:a16="http://schemas.microsoft.com/office/drawing/2014/main" id="{F4C5171B-C52C-DC5C-7B54-1FE53FCEF474}"/>
              </a:ext>
            </a:extLst>
          </p:cNvPr>
          <p:cNvSpPr/>
          <p:nvPr/>
        </p:nvSpPr>
        <p:spPr>
          <a:xfrm>
            <a:off x="6610056" y="3465930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86;g3dad5127776_0_483">
            <a:extLst>
              <a:ext uri="{FF2B5EF4-FFF2-40B4-BE49-F238E27FC236}">
                <a16:creationId xmlns:a16="http://schemas.microsoft.com/office/drawing/2014/main" id="{46C6541F-7ED2-CCCC-631A-1195327F71DC}"/>
              </a:ext>
            </a:extLst>
          </p:cNvPr>
          <p:cNvSpPr/>
          <p:nvPr/>
        </p:nvSpPr>
        <p:spPr>
          <a:xfrm>
            <a:off x="6610056" y="2987089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79;g3dad5127776_0_483">
            <a:extLst>
              <a:ext uri="{FF2B5EF4-FFF2-40B4-BE49-F238E27FC236}">
                <a16:creationId xmlns:a16="http://schemas.microsoft.com/office/drawing/2014/main" id="{8E812926-5BB7-E280-F80B-54D8CB9A689F}"/>
              </a:ext>
            </a:extLst>
          </p:cNvPr>
          <p:cNvSpPr/>
          <p:nvPr/>
        </p:nvSpPr>
        <p:spPr>
          <a:xfrm>
            <a:off x="7099126" y="2375434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81;g3dad5127776_0_483">
            <a:extLst>
              <a:ext uri="{FF2B5EF4-FFF2-40B4-BE49-F238E27FC236}">
                <a16:creationId xmlns:a16="http://schemas.microsoft.com/office/drawing/2014/main" id="{0FF669F1-3A66-6B96-DF1A-8BFD9D682485}"/>
              </a:ext>
            </a:extLst>
          </p:cNvPr>
          <p:cNvSpPr/>
          <p:nvPr/>
        </p:nvSpPr>
        <p:spPr>
          <a:xfrm>
            <a:off x="7588185" y="2375434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86;g3dad5127776_0_483">
            <a:extLst>
              <a:ext uri="{FF2B5EF4-FFF2-40B4-BE49-F238E27FC236}">
                <a16:creationId xmlns:a16="http://schemas.microsoft.com/office/drawing/2014/main" id="{97A26FF5-B549-BBC8-8397-6B39896A7C12}"/>
              </a:ext>
            </a:extLst>
          </p:cNvPr>
          <p:cNvSpPr/>
          <p:nvPr/>
        </p:nvSpPr>
        <p:spPr>
          <a:xfrm>
            <a:off x="6610056" y="2375434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79A2077B-D016-E126-EFA3-5A8599356944}"/>
              </a:ext>
            </a:extLst>
          </p:cNvPr>
          <p:cNvCxnSpPr/>
          <p:nvPr/>
        </p:nvCxnSpPr>
        <p:spPr>
          <a:xfrm>
            <a:off x="6432097" y="2866977"/>
            <a:ext cx="17012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Google Shape;100;g3dad5127776_0_483">
            <a:extLst>
              <a:ext uri="{FF2B5EF4-FFF2-40B4-BE49-F238E27FC236}">
                <a16:creationId xmlns:a16="http://schemas.microsoft.com/office/drawing/2014/main" id="{E7269A52-2CFB-3FB8-4C25-07298784FB82}"/>
              </a:ext>
            </a:extLst>
          </p:cNvPr>
          <p:cNvCxnSpPr>
            <a:cxnSpLocks/>
          </p:cNvCxnSpPr>
          <p:nvPr/>
        </p:nvCxnSpPr>
        <p:spPr>
          <a:xfrm flipV="1">
            <a:off x="5625016" y="2841120"/>
            <a:ext cx="147890" cy="160101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4" name="Google Shape;100;g3dad5127776_0_483">
            <a:extLst>
              <a:ext uri="{FF2B5EF4-FFF2-40B4-BE49-F238E27FC236}">
                <a16:creationId xmlns:a16="http://schemas.microsoft.com/office/drawing/2014/main" id="{48AE751D-FC89-6C9D-B694-6F52148F6CF7}"/>
              </a:ext>
            </a:extLst>
          </p:cNvPr>
          <p:cNvCxnSpPr>
            <a:cxnSpLocks/>
          </p:cNvCxnSpPr>
          <p:nvPr/>
        </p:nvCxnSpPr>
        <p:spPr>
          <a:xfrm>
            <a:off x="7280493" y="2740061"/>
            <a:ext cx="0" cy="230570"/>
          </a:xfrm>
          <a:prstGeom prst="straightConnector1">
            <a:avLst/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6" name="Google Shape;100;g3dad5127776_0_483">
            <a:extLst>
              <a:ext uri="{FF2B5EF4-FFF2-40B4-BE49-F238E27FC236}">
                <a16:creationId xmlns:a16="http://schemas.microsoft.com/office/drawing/2014/main" id="{E132DA42-A8AA-AC04-E7B7-59277A6B4D27}"/>
              </a:ext>
            </a:extLst>
          </p:cNvPr>
          <p:cNvCxnSpPr>
            <a:cxnSpLocks/>
          </p:cNvCxnSpPr>
          <p:nvPr/>
        </p:nvCxnSpPr>
        <p:spPr>
          <a:xfrm flipH="1">
            <a:off x="6968593" y="2815840"/>
            <a:ext cx="141768" cy="179806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5A9962A4-1EE1-5ED2-904A-C3FA0BA27079}"/>
              </a:ext>
            </a:extLst>
          </p:cNvPr>
          <p:cNvSpPr txBox="1"/>
          <p:nvPr/>
        </p:nvSpPr>
        <p:spPr>
          <a:xfrm>
            <a:off x="776884" y="1923287"/>
            <a:ext cx="5635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Half-Way Bounce Back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6BFB15FA-4D62-4327-FA16-F2E2AAD1D5B7}"/>
              </a:ext>
            </a:extLst>
          </p:cNvPr>
          <p:cNvSpPr txBox="1"/>
          <p:nvPr/>
        </p:nvSpPr>
        <p:spPr>
          <a:xfrm>
            <a:off x="4699673" y="1924688"/>
            <a:ext cx="5635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Specular Bounce Back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C69081F6-F629-B522-0F86-DD327A2EEF2A}"/>
              </a:ext>
            </a:extLst>
          </p:cNvPr>
          <p:cNvSpPr txBox="1"/>
          <p:nvPr/>
        </p:nvSpPr>
        <p:spPr>
          <a:xfrm>
            <a:off x="5094872" y="4053967"/>
            <a:ext cx="5635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Favours Uniform Wavefront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88C0A558-590A-D062-5CA5-8BD51CEDA064}"/>
              </a:ext>
            </a:extLst>
          </p:cNvPr>
          <p:cNvSpPr txBox="1"/>
          <p:nvPr/>
        </p:nvSpPr>
        <p:spPr>
          <a:xfrm>
            <a:off x="1162300" y="4064293"/>
            <a:ext cx="5635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Favours Cresent Wavefront</a:t>
            </a:r>
          </a:p>
        </p:txBody>
      </p:sp>
      <p:cxnSp>
        <p:nvCxnSpPr>
          <p:cNvPr id="145" name="Google Shape;100;g3dad5127776_0_483">
            <a:extLst>
              <a:ext uri="{FF2B5EF4-FFF2-40B4-BE49-F238E27FC236}">
                <a16:creationId xmlns:a16="http://schemas.microsoft.com/office/drawing/2014/main" id="{C275FCF8-53EF-A35A-62FF-3760A314A097}"/>
              </a:ext>
            </a:extLst>
          </p:cNvPr>
          <p:cNvCxnSpPr>
            <a:cxnSpLocks/>
          </p:cNvCxnSpPr>
          <p:nvPr/>
        </p:nvCxnSpPr>
        <p:spPr>
          <a:xfrm>
            <a:off x="7446417" y="2804685"/>
            <a:ext cx="141768" cy="18971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47" name="video_bc_specular.mp4">
            <a:hlinkClick r:id="" action="ppaction://media"/>
            <a:extLst>
              <a:ext uri="{FF2B5EF4-FFF2-40B4-BE49-F238E27FC236}">
                <a16:creationId xmlns:a16="http://schemas.microsoft.com/office/drawing/2014/main" id="{BA8F023E-A119-79AA-8F53-AB9D6F066BC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507423" y="4435130"/>
            <a:ext cx="3809433" cy="1904717"/>
          </a:xfrm>
          <a:prstGeom prst="rect">
            <a:avLst/>
          </a:prstGeom>
        </p:spPr>
      </p:pic>
      <p:cxnSp>
        <p:nvCxnSpPr>
          <p:cNvPr id="149" name="Google Shape;100;g3dad5127776_0_483">
            <a:extLst>
              <a:ext uri="{FF2B5EF4-FFF2-40B4-BE49-F238E27FC236}">
                <a16:creationId xmlns:a16="http://schemas.microsoft.com/office/drawing/2014/main" id="{71C25BA1-5586-4B46-0087-59454AF40354}"/>
              </a:ext>
            </a:extLst>
          </p:cNvPr>
          <p:cNvCxnSpPr>
            <a:cxnSpLocks/>
          </p:cNvCxnSpPr>
          <p:nvPr/>
        </p:nvCxnSpPr>
        <p:spPr>
          <a:xfrm flipV="1">
            <a:off x="5450334" y="2810216"/>
            <a:ext cx="3620" cy="198172"/>
          </a:xfrm>
          <a:prstGeom prst="straightConnector1">
            <a:avLst/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0" name="Google Shape;100;g3dad5127776_0_483">
            <a:extLst>
              <a:ext uri="{FF2B5EF4-FFF2-40B4-BE49-F238E27FC236}">
                <a16:creationId xmlns:a16="http://schemas.microsoft.com/office/drawing/2014/main" id="{173F1687-A453-1DFC-DDDE-75D907839242}"/>
              </a:ext>
            </a:extLst>
          </p:cNvPr>
          <p:cNvCxnSpPr>
            <a:cxnSpLocks/>
          </p:cNvCxnSpPr>
          <p:nvPr/>
        </p:nvCxnSpPr>
        <p:spPr>
          <a:xfrm flipH="1" flipV="1">
            <a:off x="5094872" y="2843726"/>
            <a:ext cx="152400" cy="157495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51" name="video_bc_hbb_amplified.mp4">
            <a:hlinkClick r:id="" action="ppaction://media"/>
            <a:extLst>
              <a:ext uri="{FF2B5EF4-FFF2-40B4-BE49-F238E27FC236}">
                <a16:creationId xmlns:a16="http://schemas.microsoft.com/office/drawing/2014/main" id="{7564C423-7815-B17B-730C-55F94BBFEBC4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20146" y="4443971"/>
            <a:ext cx="3809431" cy="19047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14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5000" fill="hold"/>
                                        <p:tgtEl>
                                          <p:spTgt spid="15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repeatCount="indefinite" fill="remove" display="0">
                  <p:stCondLst>
                    <p:cond delay="indefinite"/>
                  </p:stCondLst>
                </p:cTn>
                <p:tgtEl>
                  <p:spTgt spid="147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14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video>
              <p:cMediaNode vol="80000">
                <p:cTn id="16" repeatCount="indefinite" fill="remove" display="0">
                  <p:stCondLst>
                    <p:cond delay="indefinite"/>
                  </p:stCondLst>
                </p:cTn>
                <p:tgtEl>
                  <p:spTgt spid="151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15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D7D44B42-3279-8A04-FDB3-A645E76B8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ad5127776_0_652">
            <a:extLst>
              <a:ext uri="{FF2B5EF4-FFF2-40B4-BE49-F238E27FC236}">
                <a16:creationId xmlns:a16="http://schemas.microsoft.com/office/drawing/2014/main" id="{C12DB54C-7284-5A75-54E7-A7EE782E6F7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80524" y="6543275"/>
            <a:ext cx="363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53" name="Google Shape;153;g3dad5127776_0_652">
            <a:extLst>
              <a:ext uri="{FF2B5EF4-FFF2-40B4-BE49-F238E27FC236}">
                <a16:creationId xmlns:a16="http://schemas.microsoft.com/office/drawing/2014/main" id="{996DF577-3131-382F-CB03-251A9462CEBE}"/>
              </a:ext>
            </a:extLst>
          </p:cNvPr>
          <p:cNvSpPr txBox="1"/>
          <p:nvPr/>
        </p:nvSpPr>
        <p:spPr>
          <a:xfrm>
            <a:off x="223663" y="149075"/>
            <a:ext cx="8696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chemeClr val="lt1"/>
                </a:solidFill>
              </a:rPr>
              <a:t>Inverse Crescent Formation Supplemental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154" name="Google Shape;154;g3dad5127776_0_652">
            <a:extLst>
              <a:ext uri="{FF2B5EF4-FFF2-40B4-BE49-F238E27FC236}">
                <a16:creationId xmlns:a16="http://schemas.microsoft.com/office/drawing/2014/main" id="{B63D498F-F657-E299-FCE7-F3107DE57AF4}"/>
              </a:ext>
            </a:extLst>
          </p:cNvPr>
          <p:cNvSpPr txBox="1"/>
          <p:nvPr/>
        </p:nvSpPr>
        <p:spPr>
          <a:xfrm>
            <a:off x="9665825" y="3876275"/>
            <a:ext cx="16026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55" name="Google Shape;155;g3dad5127776_0_652">
            <a:extLst>
              <a:ext uri="{FF2B5EF4-FFF2-40B4-BE49-F238E27FC236}">
                <a16:creationId xmlns:a16="http://schemas.microsoft.com/office/drawing/2014/main" id="{C713DE83-76FE-F510-CCA0-77421536B36D}"/>
              </a:ext>
            </a:extLst>
          </p:cNvPr>
          <p:cNvSpPr txBox="1"/>
          <p:nvPr/>
        </p:nvSpPr>
        <p:spPr>
          <a:xfrm>
            <a:off x="130500" y="6142763"/>
            <a:ext cx="88830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highlight>
                <a:srgbClr val="FFFF00"/>
              </a:highlight>
            </a:endParaRPr>
          </a:p>
        </p:txBody>
      </p:sp>
      <p:sp>
        <p:nvSpPr>
          <p:cNvPr id="160" name="Google Shape;160;g3dad5127776_0_652">
            <a:extLst>
              <a:ext uri="{FF2B5EF4-FFF2-40B4-BE49-F238E27FC236}">
                <a16:creationId xmlns:a16="http://schemas.microsoft.com/office/drawing/2014/main" id="{0B3B2491-3584-C2AC-7BC6-FEB5B2CE8D02}"/>
              </a:ext>
            </a:extLst>
          </p:cNvPr>
          <p:cNvSpPr txBox="1"/>
          <p:nvPr/>
        </p:nvSpPr>
        <p:spPr>
          <a:xfrm>
            <a:off x="407850" y="5927375"/>
            <a:ext cx="8328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dad5127776_0_652">
            <a:extLst>
              <a:ext uri="{FF2B5EF4-FFF2-40B4-BE49-F238E27FC236}">
                <a16:creationId xmlns:a16="http://schemas.microsoft.com/office/drawing/2014/main" id="{3F756B18-EF1C-4022-C266-762661C698C9}"/>
              </a:ext>
            </a:extLst>
          </p:cNvPr>
          <p:cNvSpPr txBox="1"/>
          <p:nvPr/>
        </p:nvSpPr>
        <p:spPr>
          <a:xfrm>
            <a:off x="407875" y="1285650"/>
            <a:ext cx="83283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b="1">
                <a:solidFill>
                  <a:schemeClr val="dk1"/>
                </a:solidFill>
              </a:rPr>
              <a:t>What if we horizontally stream back the bounce to the neighbor cells</a:t>
            </a:r>
            <a:endParaRPr b="1" dirty="0">
              <a:solidFill>
                <a:schemeClr val="dk1"/>
              </a:solidFill>
            </a:endParaRPr>
          </a:p>
        </p:txBody>
      </p:sp>
      <p:sp>
        <p:nvSpPr>
          <p:cNvPr id="47" name="Google Shape;78;g3dad5127776_0_483">
            <a:extLst>
              <a:ext uri="{FF2B5EF4-FFF2-40B4-BE49-F238E27FC236}">
                <a16:creationId xmlns:a16="http://schemas.microsoft.com/office/drawing/2014/main" id="{DD20F477-F1A5-E6AC-94DA-7B65FF924E2D}"/>
              </a:ext>
            </a:extLst>
          </p:cNvPr>
          <p:cNvSpPr/>
          <p:nvPr/>
        </p:nvSpPr>
        <p:spPr>
          <a:xfrm>
            <a:off x="1337234" y="3510102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79;g3dad5127776_0_483">
            <a:extLst>
              <a:ext uri="{FF2B5EF4-FFF2-40B4-BE49-F238E27FC236}">
                <a16:creationId xmlns:a16="http://schemas.microsoft.com/office/drawing/2014/main" id="{97104B9B-5D97-2046-B969-79F960A02BB9}"/>
              </a:ext>
            </a:extLst>
          </p:cNvPr>
          <p:cNvSpPr/>
          <p:nvPr/>
        </p:nvSpPr>
        <p:spPr>
          <a:xfrm>
            <a:off x="1343356" y="3029586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c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80;g3dad5127776_0_483">
            <a:extLst>
              <a:ext uri="{FF2B5EF4-FFF2-40B4-BE49-F238E27FC236}">
                <a16:creationId xmlns:a16="http://schemas.microsoft.com/office/drawing/2014/main" id="{039CF384-16EA-5FE6-41C6-793934380272}"/>
              </a:ext>
            </a:extLst>
          </p:cNvPr>
          <p:cNvSpPr/>
          <p:nvPr/>
        </p:nvSpPr>
        <p:spPr>
          <a:xfrm>
            <a:off x="1832426" y="3510102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81;g3dad5127776_0_483">
            <a:extLst>
              <a:ext uri="{FF2B5EF4-FFF2-40B4-BE49-F238E27FC236}">
                <a16:creationId xmlns:a16="http://schemas.microsoft.com/office/drawing/2014/main" id="{78F0C55D-9E0D-11B7-37EF-6519AD27C912}"/>
              </a:ext>
            </a:extLst>
          </p:cNvPr>
          <p:cNvSpPr/>
          <p:nvPr/>
        </p:nvSpPr>
        <p:spPr>
          <a:xfrm>
            <a:off x="1832426" y="3031261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85;g3dad5127776_0_483">
            <a:extLst>
              <a:ext uri="{FF2B5EF4-FFF2-40B4-BE49-F238E27FC236}">
                <a16:creationId xmlns:a16="http://schemas.microsoft.com/office/drawing/2014/main" id="{4923E229-0D07-7FC8-7C8C-C9835D4B2CB8}"/>
              </a:ext>
            </a:extLst>
          </p:cNvPr>
          <p:cNvSpPr/>
          <p:nvPr/>
        </p:nvSpPr>
        <p:spPr>
          <a:xfrm>
            <a:off x="854297" y="3510102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86;g3dad5127776_0_483">
            <a:extLst>
              <a:ext uri="{FF2B5EF4-FFF2-40B4-BE49-F238E27FC236}">
                <a16:creationId xmlns:a16="http://schemas.microsoft.com/office/drawing/2014/main" id="{31401526-E629-78BE-B1F8-455C057AB05D}"/>
              </a:ext>
            </a:extLst>
          </p:cNvPr>
          <p:cNvSpPr/>
          <p:nvPr/>
        </p:nvSpPr>
        <p:spPr>
          <a:xfrm>
            <a:off x="854297" y="3031261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79;g3dad5127776_0_483">
            <a:extLst>
              <a:ext uri="{FF2B5EF4-FFF2-40B4-BE49-F238E27FC236}">
                <a16:creationId xmlns:a16="http://schemas.microsoft.com/office/drawing/2014/main" id="{C4EE3EC9-7CDF-1A7F-5185-4E90F176B2F2}"/>
              </a:ext>
            </a:extLst>
          </p:cNvPr>
          <p:cNvSpPr/>
          <p:nvPr/>
        </p:nvSpPr>
        <p:spPr>
          <a:xfrm>
            <a:off x="1343367" y="2419606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81;g3dad5127776_0_483">
            <a:extLst>
              <a:ext uri="{FF2B5EF4-FFF2-40B4-BE49-F238E27FC236}">
                <a16:creationId xmlns:a16="http://schemas.microsoft.com/office/drawing/2014/main" id="{7518CE0E-78FE-C9C4-B5B0-5B2D8609771A}"/>
              </a:ext>
            </a:extLst>
          </p:cNvPr>
          <p:cNvSpPr/>
          <p:nvPr/>
        </p:nvSpPr>
        <p:spPr>
          <a:xfrm>
            <a:off x="1832426" y="2419606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86;g3dad5127776_0_483">
            <a:extLst>
              <a:ext uri="{FF2B5EF4-FFF2-40B4-BE49-F238E27FC236}">
                <a16:creationId xmlns:a16="http://schemas.microsoft.com/office/drawing/2014/main" id="{79A5ED71-1CFD-31A9-82DD-841DFA07F04C}"/>
              </a:ext>
            </a:extLst>
          </p:cNvPr>
          <p:cNvSpPr/>
          <p:nvPr/>
        </p:nvSpPr>
        <p:spPr>
          <a:xfrm>
            <a:off x="854297" y="2419606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A20BA57-956C-5814-DB39-3DE140F014A8}"/>
              </a:ext>
            </a:extLst>
          </p:cNvPr>
          <p:cNvCxnSpPr/>
          <p:nvPr/>
        </p:nvCxnSpPr>
        <p:spPr>
          <a:xfrm>
            <a:off x="676338" y="2911149"/>
            <a:ext cx="17012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Google Shape;78;g3dad5127776_0_483">
            <a:extLst>
              <a:ext uri="{FF2B5EF4-FFF2-40B4-BE49-F238E27FC236}">
                <a16:creationId xmlns:a16="http://schemas.microsoft.com/office/drawing/2014/main" id="{47DB5285-1F40-AB1B-2C48-E81157EE91A7}"/>
              </a:ext>
            </a:extLst>
          </p:cNvPr>
          <p:cNvSpPr/>
          <p:nvPr/>
        </p:nvSpPr>
        <p:spPr>
          <a:xfrm>
            <a:off x="3180211" y="3510875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79;g3dad5127776_0_483">
            <a:extLst>
              <a:ext uri="{FF2B5EF4-FFF2-40B4-BE49-F238E27FC236}">
                <a16:creationId xmlns:a16="http://schemas.microsoft.com/office/drawing/2014/main" id="{51734071-2C40-4ADC-59DA-C48D0A175E64}"/>
              </a:ext>
            </a:extLst>
          </p:cNvPr>
          <p:cNvSpPr/>
          <p:nvPr/>
        </p:nvSpPr>
        <p:spPr>
          <a:xfrm>
            <a:off x="3186333" y="3030359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c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80;g3dad5127776_0_483">
            <a:extLst>
              <a:ext uri="{FF2B5EF4-FFF2-40B4-BE49-F238E27FC236}">
                <a16:creationId xmlns:a16="http://schemas.microsoft.com/office/drawing/2014/main" id="{816598DE-941C-B301-B7F5-CA67D8E3FD8B}"/>
              </a:ext>
            </a:extLst>
          </p:cNvPr>
          <p:cNvSpPr/>
          <p:nvPr/>
        </p:nvSpPr>
        <p:spPr>
          <a:xfrm>
            <a:off x="3675403" y="3510875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81;g3dad5127776_0_483">
            <a:extLst>
              <a:ext uri="{FF2B5EF4-FFF2-40B4-BE49-F238E27FC236}">
                <a16:creationId xmlns:a16="http://schemas.microsoft.com/office/drawing/2014/main" id="{D10A975E-5B4B-88D8-E0F1-1B142ECF56F5}"/>
              </a:ext>
            </a:extLst>
          </p:cNvPr>
          <p:cNvSpPr/>
          <p:nvPr/>
        </p:nvSpPr>
        <p:spPr>
          <a:xfrm>
            <a:off x="3675403" y="3032034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85;g3dad5127776_0_483">
            <a:extLst>
              <a:ext uri="{FF2B5EF4-FFF2-40B4-BE49-F238E27FC236}">
                <a16:creationId xmlns:a16="http://schemas.microsoft.com/office/drawing/2014/main" id="{4FE2C133-0983-7CFC-884C-41702C8E2A22}"/>
              </a:ext>
            </a:extLst>
          </p:cNvPr>
          <p:cNvSpPr/>
          <p:nvPr/>
        </p:nvSpPr>
        <p:spPr>
          <a:xfrm>
            <a:off x="2697274" y="3510875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86;g3dad5127776_0_483">
            <a:extLst>
              <a:ext uri="{FF2B5EF4-FFF2-40B4-BE49-F238E27FC236}">
                <a16:creationId xmlns:a16="http://schemas.microsoft.com/office/drawing/2014/main" id="{F6EF92BB-A05D-E96C-9A00-1D1074EE892E}"/>
              </a:ext>
            </a:extLst>
          </p:cNvPr>
          <p:cNvSpPr/>
          <p:nvPr/>
        </p:nvSpPr>
        <p:spPr>
          <a:xfrm>
            <a:off x="2697274" y="3032034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79;g3dad5127776_0_483">
            <a:extLst>
              <a:ext uri="{FF2B5EF4-FFF2-40B4-BE49-F238E27FC236}">
                <a16:creationId xmlns:a16="http://schemas.microsoft.com/office/drawing/2014/main" id="{38B6A1F7-9568-02F8-4CC5-E173D78A42B1}"/>
              </a:ext>
            </a:extLst>
          </p:cNvPr>
          <p:cNvSpPr/>
          <p:nvPr/>
        </p:nvSpPr>
        <p:spPr>
          <a:xfrm>
            <a:off x="3186344" y="2420379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81;g3dad5127776_0_483">
            <a:extLst>
              <a:ext uri="{FF2B5EF4-FFF2-40B4-BE49-F238E27FC236}">
                <a16:creationId xmlns:a16="http://schemas.microsoft.com/office/drawing/2014/main" id="{88ED0A11-C22F-E264-39B7-C1916367E534}"/>
              </a:ext>
            </a:extLst>
          </p:cNvPr>
          <p:cNvSpPr/>
          <p:nvPr/>
        </p:nvSpPr>
        <p:spPr>
          <a:xfrm>
            <a:off x="3675403" y="2420379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86;g3dad5127776_0_483">
            <a:extLst>
              <a:ext uri="{FF2B5EF4-FFF2-40B4-BE49-F238E27FC236}">
                <a16:creationId xmlns:a16="http://schemas.microsoft.com/office/drawing/2014/main" id="{C3F24189-CCC2-D216-F91D-A6218617B981}"/>
              </a:ext>
            </a:extLst>
          </p:cNvPr>
          <p:cNvSpPr/>
          <p:nvPr/>
        </p:nvSpPr>
        <p:spPr>
          <a:xfrm>
            <a:off x="2697274" y="2420379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2FDDAD4B-F112-66E1-21A8-8DF84D939E2D}"/>
              </a:ext>
            </a:extLst>
          </p:cNvPr>
          <p:cNvCxnSpPr/>
          <p:nvPr/>
        </p:nvCxnSpPr>
        <p:spPr>
          <a:xfrm>
            <a:off x="2519315" y="2911922"/>
            <a:ext cx="17012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Google Shape;100;g3dad5127776_0_483">
            <a:extLst>
              <a:ext uri="{FF2B5EF4-FFF2-40B4-BE49-F238E27FC236}">
                <a16:creationId xmlns:a16="http://schemas.microsoft.com/office/drawing/2014/main" id="{02FCB95D-3A2C-63AE-E272-2BE03AC786B0}"/>
              </a:ext>
            </a:extLst>
          </p:cNvPr>
          <p:cNvCxnSpPr>
            <a:cxnSpLocks/>
          </p:cNvCxnSpPr>
          <p:nvPr/>
        </p:nvCxnSpPr>
        <p:spPr>
          <a:xfrm flipH="1" flipV="1">
            <a:off x="1187956" y="2886065"/>
            <a:ext cx="152400" cy="157495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2" name="Google Shape;100;g3dad5127776_0_483">
            <a:extLst>
              <a:ext uri="{FF2B5EF4-FFF2-40B4-BE49-F238E27FC236}">
                <a16:creationId xmlns:a16="http://schemas.microsoft.com/office/drawing/2014/main" id="{038A510D-6A87-D317-03C6-4BFF63AEC176}"/>
              </a:ext>
            </a:extLst>
          </p:cNvPr>
          <p:cNvCxnSpPr>
            <a:cxnSpLocks/>
          </p:cNvCxnSpPr>
          <p:nvPr/>
        </p:nvCxnSpPr>
        <p:spPr>
          <a:xfrm flipV="1">
            <a:off x="1712234" y="2886065"/>
            <a:ext cx="147890" cy="160101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" name="Google Shape;100;g3dad5127776_0_483">
            <a:extLst>
              <a:ext uri="{FF2B5EF4-FFF2-40B4-BE49-F238E27FC236}">
                <a16:creationId xmlns:a16="http://schemas.microsoft.com/office/drawing/2014/main" id="{ECBD8F7B-F3AD-6F37-0163-24E584558920}"/>
              </a:ext>
            </a:extLst>
          </p:cNvPr>
          <p:cNvCxnSpPr>
            <a:cxnSpLocks/>
          </p:cNvCxnSpPr>
          <p:nvPr/>
        </p:nvCxnSpPr>
        <p:spPr>
          <a:xfrm flipV="1">
            <a:off x="1530856" y="2822806"/>
            <a:ext cx="3620" cy="198172"/>
          </a:xfrm>
          <a:prstGeom prst="straightConnector1">
            <a:avLst/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4" name="Google Shape;100;g3dad5127776_0_483">
            <a:extLst>
              <a:ext uri="{FF2B5EF4-FFF2-40B4-BE49-F238E27FC236}">
                <a16:creationId xmlns:a16="http://schemas.microsoft.com/office/drawing/2014/main" id="{91226E64-F0B7-35E2-2BDD-444747232665}"/>
              </a:ext>
            </a:extLst>
          </p:cNvPr>
          <p:cNvCxnSpPr>
            <a:cxnSpLocks/>
          </p:cNvCxnSpPr>
          <p:nvPr/>
        </p:nvCxnSpPr>
        <p:spPr>
          <a:xfrm>
            <a:off x="3367711" y="2785006"/>
            <a:ext cx="0" cy="230570"/>
          </a:xfrm>
          <a:prstGeom prst="straightConnector1">
            <a:avLst/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5" name="Google Shape;100;g3dad5127776_0_483">
            <a:extLst>
              <a:ext uri="{FF2B5EF4-FFF2-40B4-BE49-F238E27FC236}">
                <a16:creationId xmlns:a16="http://schemas.microsoft.com/office/drawing/2014/main" id="{0F07B620-A984-E3B2-0D46-843D347AA0D6}"/>
              </a:ext>
            </a:extLst>
          </p:cNvPr>
          <p:cNvCxnSpPr>
            <a:cxnSpLocks/>
          </p:cNvCxnSpPr>
          <p:nvPr/>
        </p:nvCxnSpPr>
        <p:spPr>
          <a:xfrm>
            <a:off x="3555211" y="3212286"/>
            <a:ext cx="223598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6" name="Google Shape;100;g3dad5127776_0_483">
            <a:extLst>
              <a:ext uri="{FF2B5EF4-FFF2-40B4-BE49-F238E27FC236}">
                <a16:creationId xmlns:a16="http://schemas.microsoft.com/office/drawing/2014/main" id="{2F149499-9CC2-98F8-EF2E-2C9E2C9CFE2B}"/>
              </a:ext>
            </a:extLst>
          </p:cNvPr>
          <p:cNvCxnSpPr>
            <a:cxnSpLocks/>
          </p:cNvCxnSpPr>
          <p:nvPr/>
        </p:nvCxnSpPr>
        <p:spPr>
          <a:xfrm flipH="1">
            <a:off x="3019483" y="3212286"/>
            <a:ext cx="160728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7D77BD67-A5B8-F59A-CD13-808976CDCE31}"/>
              </a:ext>
            </a:extLst>
          </p:cNvPr>
          <p:cNvSpPr txBox="1"/>
          <p:nvPr/>
        </p:nvSpPr>
        <p:spPr>
          <a:xfrm>
            <a:off x="763809" y="4481320"/>
            <a:ext cx="5635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Favours Inverse Cresent Wavefront</a:t>
            </a:r>
          </a:p>
        </p:txBody>
      </p:sp>
      <p:sp>
        <p:nvSpPr>
          <p:cNvPr id="29" name="Google Shape;78;g3dad5127776_0_483">
            <a:extLst>
              <a:ext uri="{FF2B5EF4-FFF2-40B4-BE49-F238E27FC236}">
                <a16:creationId xmlns:a16="http://schemas.microsoft.com/office/drawing/2014/main" id="{C4C403B8-D15F-16A2-CEA4-D233E71185F9}"/>
              </a:ext>
            </a:extLst>
          </p:cNvPr>
          <p:cNvSpPr/>
          <p:nvPr/>
        </p:nvSpPr>
        <p:spPr>
          <a:xfrm>
            <a:off x="5582656" y="3509329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79;g3dad5127776_0_483">
            <a:extLst>
              <a:ext uri="{FF2B5EF4-FFF2-40B4-BE49-F238E27FC236}">
                <a16:creationId xmlns:a16="http://schemas.microsoft.com/office/drawing/2014/main" id="{ADF1E883-40EB-183C-FDC5-B87F2977E149}"/>
              </a:ext>
            </a:extLst>
          </p:cNvPr>
          <p:cNvSpPr/>
          <p:nvPr/>
        </p:nvSpPr>
        <p:spPr>
          <a:xfrm>
            <a:off x="5588778" y="3028813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c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80;g3dad5127776_0_483">
            <a:extLst>
              <a:ext uri="{FF2B5EF4-FFF2-40B4-BE49-F238E27FC236}">
                <a16:creationId xmlns:a16="http://schemas.microsoft.com/office/drawing/2014/main" id="{191923E4-DD55-03DD-75B4-8810837E8A4F}"/>
              </a:ext>
            </a:extLst>
          </p:cNvPr>
          <p:cNvSpPr/>
          <p:nvPr/>
        </p:nvSpPr>
        <p:spPr>
          <a:xfrm>
            <a:off x="6077848" y="3509329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81;g3dad5127776_0_483">
            <a:extLst>
              <a:ext uri="{FF2B5EF4-FFF2-40B4-BE49-F238E27FC236}">
                <a16:creationId xmlns:a16="http://schemas.microsoft.com/office/drawing/2014/main" id="{949706C2-849D-3793-9F73-2EC928CA5035}"/>
              </a:ext>
            </a:extLst>
          </p:cNvPr>
          <p:cNvSpPr/>
          <p:nvPr/>
        </p:nvSpPr>
        <p:spPr>
          <a:xfrm>
            <a:off x="6077848" y="3030488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85;g3dad5127776_0_483">
            <a:extLst>
              <a:ext uri="{FF2B5EF4-FFF2-40B4-BE49-F238E27FC236}">
                <a16:creationId xmlns:a16="http://schemas.microsoft.com/office/drawing/2014/main" id="{7F3AD7F6-7E5C-FA62-EDE1-219624DF63C9}"/>
              </a:ext>
            </a:extLst>
          </p:cNvPr>
          <p:cNvSpPr/>
          <p:nvPr/>
        </p:nvSpPr>
        <p:spPr>
          <a:xfrm>
            <a:off x="5099719" y="3509329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86;g3dad5127776_0_483">
            <a:extLst>
              <a:ext uri="{FF2B5EF4-FFF2-40B4-BE49-F238E27FC236}">
                <a16:creationId xmlns:a16="http://schemas.microsoft.com/office/drawing/2014/main" id="{97C21F7A-8C76-F57B-C57F-B698B81B9825}"/>
              </a:ext>
            </a:extLst>
          </p:cNvPr>
          <p:cNvSpPr/>
          <p:nvPr/>
        </p:nvSpPr>
        <p:spPr>
          <a:xfrm>
            <a:off x="5099719" y="3030488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79;g3dad5127776_0_483">
            <a:extLst>
              <a:ext uri="{FF2B5EF4-FFF2-40B4-BE49-F238E27FC236}">
                <a16:creationId xmlns:a16="http://schemas.microsoft.com/office/drawing/2014/main" id="{FF20ECD0-EC53-3B98-99DE-C0F46DE87BE2}"/>
              </a:ext>
            </a:extLst>
          </p:cNvPr>
          <p:cNvSpPr/>
          <p:nvPr/>
        </p:nvSpPr>
        <p:spPr>
          <a:xfrm>
            <a:off x="5588789" y="2418833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81;g3dad5127776_0_483">
            <a:extLst>
              <a:ext uri="{FF2B5EF4-FFF2-40B4-BE49-F238E27FC236}">
                <a16:creationId xmlns:a16="http://schemas.microsoft.com/office/drawing/2014/main" id="{4FABF490-6621-E82B-DB7E-5BC7A0CEE682}"/>
              </a:ext>
            </a:extLst>
          </p:cNvPr>
          <p:cNvSpPr/>
          <p:nvPr/>
        </p:nvSpPr>
        <p:spPr>
          <a:xfrm>
            <a:off x="6077848" y="2418833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86;g3dad5127776_0_483">
            <a:extLst>
              <a:ext uri="{FF2B5EF4-FFF2-40B4-BE49-F238E27FC236}">
                <a16:creationId xmlns:a16="http://schemas.microsoft.com/office/drawing/2014/main" id="{33BDA1C8-0A1A-200C-49E3-CE8CFDECF8DF}"/>
              </a:ext>
            </a:extLst>
          </p:cNvPr>
          <p:cNvSpPr/>
          <p:nvPr/>
        </p:nvSpPr>
        <p:spPr>
          <a:xfrm>
            <a:off x="5099719" y="2418833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1FD7A07-AD16-4FE0-DB05-03A3BF19E505}"/>
              </a:ext>
            </a:extLst>
          </p:cNvPr>
          <p:cNvCxnSpPr/>
          <p:nvPr/>
        </p:nvCxnSpPr>
        <p:spPr>
          <a:xfrm>
            <a:off x="4921760" y="2910376"/>
            <a:ext cx="17012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Google Shape;78;g3dad5127776_0_483">
            <a:extLst>
              <a:ext uri="{FF2B5EF4-FFF2-40B4-BE49-F238E27FC236}">
                <a16:creationId xmlns:a16="http://schemas.microsoft.com/office/drawing/2014/main" id="{358C3E4B-6539-D224-686B-397773259993}"/>
              </a:ext>
            </a:extLst>
          </p:cNvPr>
          <p:cNvSpPr/>
          <p:nvPr/>
        </p:nvSpPr>
        <p:spPr>
          <a:xfrm>
            <a:off x="7425633" y="3510102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79;g3dad5127776_0_483">
            <a:extLst>
              <a:ext uri="{FF2B5EF4-FFF2-40B4-BE49-F238E27FC236}">
                <a16:creationId xmlns:a16="http://schemas.microsoft.com/office/drawing/2014/main" id="{37CB3BC6-5149-6245-50EC-05365128F22E}"/>
              </a:ext>
            </a:extLst>
          </p:cNvPr>
          <p:cNvSpPr/>
          <p:nvPr/>
        </p:nvSpPr>
        <p:spPr>
          <a:xfrm>
            <a:off x="7431755" y="3029586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c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80;g3dad5127776_0_483">
            <a:extLst>
              <a:ext uri="{FF2B5EF4-FFF2-40B4-BE49-F238E27FC236}">
                <a16:creationId xmlns:a16="http://schemas.microsoft.com/office/drawing/2014/main" id="{F44B8657-E4D4-C1A0-2EBF-0BA703370E49}"/>
              </a:ext>
            </a:extLst>
          </p:cNvPr>
          <p:cNvSpPr/>
          <p:nvPr/>
        </p:nvSpPr>
        <p:spPr>
          <a:xfrm>
            <a:off x="7920825" y="3510102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81;g3dad5127776_0_483">
            <a:extLst>
              <a:ext uri="{FF2B5EF4-FFF2-40B4-BE49-F238E27FC236}">
                <a16:creationId xmlns:a16="http://schemas.microsoft.com/office/drawing/2014/main" id="{826EC6DB-4A6A-09B7-1149-28AACC1DD21F}"/>
              </a:ext>
            </a:extLst>
          </p:cNvPr>
          <p:cNvSpPr/>
          <p:nvPr/>
        </p:nvSpPr>
        <p:spPr>
          <a:xfrm>
            <a:off x="7920825" y="3031261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85;g3dad5127776_0_483">
            <a:extLst>
              <a:ext uri="{FF2B5EF4-FFF2-40B4-BE49-F238E27FC236}">
                <a16:creationId xmlns:a16="http://schemas.microsoft.com/office/drawing/2014/main" id="{7E366E73-404E-B538-7CED-04315937399A}"/>
              </a:ext>
            </a:extLst>
          </p:cNvPr>
          <p:cNvSpPr/>
          <p:nvPr/>
        </p:nvSpPr>
        <p:spPr>
          <a:xfrm>
            <a:off x="6942696" y="3510102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86;g3dad5127776_0_483">
            <a:extLst>
              <a:ext uri="{FF2B5EF4-FFF2-40B4-BE49-F238E27FC236}">
                <a16:creationId xmlns:a16="http://schemas.microsoft.com/office/drawing/2014/main" id="{C551AA31-CC64-0558-34CE-F10A041F5675}"/>
              </a:ext>
            </a:extLst>
          </p:cNvPr>
          <p:cNvSpPr/>
          <p:nvPr/>
        </p:nvSpPr>
        <p:spPr>
          <a:xfrm>
            <a:off x="6942696" y="3031261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79;g3dad5127776_0_483">
            <a:extLst>
              <a:ext uri="{FF2B5EF4-FFF2-40B4-BE49-F238E27FC236}">
                <a16:creationId xmlns:a16="http://schemas.microsoft.com/office/drawing/2014/main" id="{4E552D0C-E208-C986-AC00-EAF2A601DE82}"/>
              </a:ext>
            </a:extLst>
          </p:cNvPr>
          <p:cNvSpPr/>
          <p:nvPr/>
        </p:nvSpPr>
        <p:spPr>
          <a:xfrm>
            <a:off x="7431766" y="2419606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81;g3dad5127776_0_483">
            <a:extLst>
              <a:ext uri="{FF2B5EF4-FFF2-40B4-BE49-F238E27FC236}">
                <a16:creationId xmlns:a16="http://schemas.microsoft.com/office/drawing/2014/main" id="{04B8701C-2867-CE1F-750F-B4FFF599BF57}"/>
              </a:ext>
            </a:extLst>
          </p:cNvPr>
          <p:cNvSpPr/>
          <p:nvPr/>
        </p:nvSpPr>
        <p:spPr>
          <a:xfrm>
            <a:off x="7920825" y="2419606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86;g3dad5127776_0_483">
            <a:extLst>
              <a:ext uri="{FF2B5EF4-FFF2-40B4-BE49-F238E27FC236}">
                <a16:creationId xmlns:a16="http://schemas.microsoft.com/office/drawing/2014/main" id="{30BE49EF-EA7F-6FC0-66F8-A3A7237C1D2E}"/>
              </a:ext>
            </a:extLst>
          </p:cNvPr>
          <p:cNvSpPr/>
          <p:nvPr/>
        </p:nvSpPr>
        <p:spPr>
          <a:xfrm>
            <a:off x="6942696" y="2419606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E2E5BDFA-F0E3-2EF0-A1DD-C6CCF6273BA4}"/>
              </a:ext>
            </a:extLst>
          </p:cNvPr>
          <p:cNvCxnSpPr/>
          <p:nvPr/>
        </p:nvCxnSpPr>
        <p:spPr>
          <a:xfrm>
            <a:off x="6764737" y="2911149"/>
            <a:ext cx="17012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Google Shape;100;g3dad5127776_0_483">
            <a:extLst>
              <a:ext uri="{FF2B5EF4-FFF2-40B4-BE49-F238E27FC236}">
                <a16:creationId xmlns:a16="http://schemas.microsoft.com/office/drawing/2014/main" id="{4665322A-B8D6-C805-452B-8F30C3A2380D}"/>
              </a:ext>
            </a:extLst>
          </p:cNvPr>
          <p:cNvCxnSpPr>
            <a:cxnSpLocks/>
          </p:cNvCxnSpPr>
          <p:nvPr/>
        </p:nvCxnSpPr>
        <p:spPr>
          <a:xfrm flipV="1">
            <a:off x="5957656" y="2885292"/>
            <a:ext cx="147890" cy="160101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7" name="Google Shape;100;g3dad5127776_0_483">
            <a:extLst>
              <a:ext uri="{FF2B5EF4-FFF2-40B4-BE49-F238E27FC236}">
                <a16:creationId xmlns:a16="http://schemas.microsoft.com/office/drawing/2014/main" id="{B65082D5-3E35-1078-80D0-0865AA79232C}"/>
              </a:ext>
            </a:extLst>
          </p:cNvPr>
          <p:cNvCxnSpPr>
            <a:cxnSpLocks/>
          </p:cNvCxnSpPr>
          <p:nvPr/>
        </p:nvCxnSpPr>
        <p:spPr>
          <a:xfrm>
            <a:off x="7800633" y="3211513"/>
            <a:ext cx="223598" cy="0"/>
          </a:xfrm>
          <a:prstGeom prst="straightConnector1">
            <a:avLst/>
          </a:prstGeom>
          <a:noFill/>
          <a:ln w="28575" cap="flat" cmpd="sng">
            <a:solidFill>
              <a:srgbClr val="7030A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0D1F4CF9-0ADD-C136-67B9-9557ADC37F38}"/>
              </a:ext>
            </a:extLst>
          </p:cNvPr>
          <p:cNvSpPr txBox="1"/>
          <p:nvPr/>
        </p:nvSpPr>
        <p:spPr>
          <a:xfrm>
            <a:off x="743705" y="1989502"/>
            <a:ext cx="5635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Horizontal Bounce Forward </a:t>
            </a:r>
            <a:endParaRPr lang="en-US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3E685FEE-152F-69C6-F196-A991EFB4E54F}"/>
              </a:ext>
            </a:extLst>
          </p:cNvPr>
          <p:cNvSpPr txBox="1"/>
          <p:nvPr/>
        </p:nvSpPr>
        <p:spPr>
          <a:xfrm>
            <a:off x="4921760" y="1989501"/>
            <a:ext cx="5635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Combined Bounce Back</a:t>
            </a:r>
          </a:p>
        </p:txBody>
      </p:sp>
      <p:cxnSp>
        <p:nvCxnSpPr>
          <p:cNvPr id="165" name="Google Shape;100;g3dad5127776_0_483">
            <a:extLst>
              <a:ext uri="{FF2B5EF4-FFF2-40B4-BE49-F238E27FC236}">
                <a16:creationId xmlns:a16="http://schemas.microsoft.com/office/drawing/2014/main" id="{4E7C366C-B617-53AA-37E6-965B4DB5C84F}"/>
              </a:ext>
            </a:extLst>
          </p:cNvPr>
          <p:cNvCxnSpPr>
            <a:cxnSpLocks/>
          </p:cNvCxnSpPr>
          <p:nvPr/>
        </p:nvCxnSpPr>
        <p:spPr>
          <a:xfrm>
            <a:off x="7776544" y="2835985"/>
            <a:ext cx="141768" cy="189710"/>
          </a:xfrm>
          <a:prstGeom prst="straightConnector1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7" name="Google Shape;100;g3dad5127776_0_483">
            <a:extLst>
              <a:ext uri="{FF2B5EF4-FFF2-40B4-BE49-F238E27FC236}">
                <a16:creationId xmlns:a16="http://schemas.microsoft.com/office/drawing/2014/main" id="{F7C3B2F2-842E-A344-DF8F-3B74E397400D}"/>
              </a:ext>
            </a:extLst>
          </p:cNvPr>
          <p:cNvCxnSpPr>
            <a:cxnSpLocks/>
          </p:cNvCxnSpPr>
          <p:nvPr/>
        </p:nvCxnSpPr>
        <p:spPr>
          <a:xfrm flipH="1">
            <a:off x="7774031" y="2835985"/>
            <a:ext cx="138401" cy="191543"/>
          </a:xfrm>
          <a:prstGeom prst="straightConnector1">
            <a:avLst/>
          </a:prstGeom>
          <a:noFill/>
          <a:ln w="28575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2" name="Google Shape;100;g3dad5127776_0_483">
            <a:extLst>
              <a:ext uri="{FF2B5EF4-FFF2-40B4-BE49-F238E27FC236}">
                <a16:creationId xmlns:a16="http://schemas.microsoft.com/office/drawing/2014/main" id="{E5B43D53-ACB5-A956-4E27-4C4D98E73966}"/>
              </a:ext>
            </a:extLst>
          </p:cNvPr>
          <p:cNvCxnSpPr>
            <a:cxnSpLocks/>
          </p:cNvCxnSpPr>
          <p:nvPr/>
        </p:nvCxnSpPr>
        <p:spPr>
          <a:xfrm flipH="1">
            <a:off x="5788735" y="4101188"/>
            <a:ext cx="138401" cy="191543"/>
          </a:xfrm>
          <a:prstGeom prst="straightConnector1">
            <a:avLst/>
          </a:prstGeom>
          <a:noFill/>
          <a:ln w="28575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3" name="Google Shape;100;g3dad5127776_0_483">
            <a:extLst>
              <a:ext uri="{FF2B5EF4-FFF2-40B4-BE49-F238E27FC236}">
                <a16:creationId xmlns:a16="http://schemas.microsoft.com/office/drawing/2014/main" id="{961D1026-F7FE-0E45-C431-36310DD047EF}"/>
              </a:ext>
            </a:extLst>
          </p:cNvPr>
          <p:cNvCxnSpPr>
            <a:cxnSpLocks/>
          </p:cNvCxnSpPr>
          <p:nvPr/>
        </p:nvCxnSpPr>
        <p:spPr>
          <a:xfrm>
            <a:off x="6335871" y="4094172"/>
            <a:ext cx="141768" cy="189710"/>
          </a:xfrm>
          <a:prstGeom prst="straightConnector1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4" name="Google Shape;100;g3dad5127776_0_483">
            <a:extLst>
              <a:ext uri="{FF2B5EF4-FFF2-40B4-BE49-F238E27FC236}">
                <a16:creationId xmlns:a16="http://schemas.microsoft.com/office/drawing/2014/main" id="{DA45F6E5-37E6-BC06-8D09-620EB2287BC2}"/>
              </a:ext>
            </a:extLst>
          </p:cNvPr>
          <p:cNvCxnSpPr>
            <a:cxnSpLocks/>
          </p:cNvCxnSpPr>
          <p:nvPr/>
        </p:nvCxnSpPr>
        <p:spPr>
          <a:xfrm>
            <a:off x="6942696" y="4187450"/>
            <a:ext cx="223598" cy="0"/>
          </a:xfrm>
          <a:prstGeom prst="straightConnector1">
            <a:avLst/>
          </a:prstGeom>
          <a:noFill/>
          <a:ln w="28575" cap="flat" cmpd="sng">
            <a:solidFill>
              <a:srgbClr val="7030A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5" name="Google Shape;100;g3dad5127776_0_483">
            <a:extLst>
              <a:ext uri="{FF2B5EF4-FFF2-40B4-BE49-F238E27FC236}">
                <a16:creationId xmlns:a16="http://schemas.microsoft.com/office/drawing/2014/main" id="{5CC590A2-BCC3-E62B-8BE7-CF6CB81BB19E}"/>
              </a:ext>
            </a:extLst>
          </p:cNvPr>
          <p:cNvCxnSpPr>
            <a:cxnSpLocks/>
          </p:cNvCxnSpPr>
          <p:nvPr/>
        </p:nvCxnSpPr>
        <p:spPr>
          <a:xfrm flipV="1">
            <a:off x="7578867" y="4090890"/>
            <a:ext cx="147890" cy="160101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6" name="Plus 175">
            <a:extLst>
              <a:ext uri="{FF2B5EF4-FFF2-40B4-BE49-F238E27FC236}">
                <a16:creationId xmlns:a16="http://schemas.microsoft.com/office/drawing/2014/main" id="{F7F5A1E8-491A-E1B2-9CB4-35BD81FFBB5E}"/>
              </a:ext>
            </a:extLst>
          </p:cNvPr>
          <p:cNvSpPr/>
          <p:nvPr/>
        </p:nvSpPr>
        <p:spPr>
          <a:xfrm>
            <a:off x="6617602" y="4100946"/>
            <a:ext cx="164176" cy="180754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Plus 176">
            <a:extLst>
              <a:ext uri="{FF2B5EF4-FFF2-40B4-BE49-F238E27FC236}">
                <a16:creationId xmlns:a16="http://schemas.microsoft.com/office/drawing/2014/main" id="{A060B8EF-46AF-8299-7CF0-9301E64F1697}"/>
              </a:ext>
            </a:extLst>
          </p:cNvPr>
          <p:cNvSpPr/>
          <p:nvPr/>
        </p:nvSpPr>
        <p:spPr>
          <a:xfrm>
            <a:off x="6044691" y="4097073"/>
            <a:ext cx="164176" cy="180754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Equal 177">
            <a:extLst>
              <a:ext uri="{FF2B5EF4-FFF2-40B4-BE49-F238E27FC236}">
                <a16:creationId xmlns:a16="http://schemas.microsoft.com/office/drawing/2014/main" id="{55E6016E-6091-180D-4687-E3BA06765F0A}"/>
              </a:ext>
            </a:extLst>
          </p:cNvPr>
          <p:cNvSpPr/>
          <p:nvPr/>
        </p:nvSpPr>
        <p:spPr>
          <a:xfrm>
            <a:off x="7245124" y="4074684"/>
            <a:ext cx="164176" cy="244549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CEC07A25-528F-123F-2745-05FE04CC0FA3}"/>
              </a:ext>
            </a:extLst>
          </p:cNvPr>
          <p:cNvSpPr txBox="1"/>
          <p:nvPr/>
        </p:nvSpPr>
        <p:spPr>
          <a:xfrm>
            <a:off x="4921760" y="4487171"/>
            <a:ext cx="5635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Full Control Over Steady State Wavefront </a:t>
            </a:r>
          </a:p>
        </p:txBody>
      </p:sp>
      <p:pic>
        <p:nvPicPr>
          <p:cNvPr id="181" name="video_bc_horizontal.mp4">
            <a:hlinkClick r:id="" action="ppaction://media"/>
            <a:extLst>
              <a:ext uri="{FF2B5EF4-FFF2-40B4-BE49-F238E27FC236}">
                <a16:creationId xmlns:a16="http://schemas.microsoft.com/office/drawing/2014/main" id="{9BEBFBAE-7C70-EC77-509B-18BC5BDC6A8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48380" y="4884663"/>
            <a:ext cx="3502023" cy="1751012"/>
          </a:xfrm>
          <a:prstGeom prst="rect">
            <a:avLst/>
          </a:prstGeom>
        </p:spPr>
      </p:pic>
      <p:pic>
        <p:nvPicPr>
          <p:cNvPr id="182" name="video_bc_equalmix.mp4">
            <a:hlinkClick r:id="" action="ppaction://media"/>
            <a:extLst>
              <a:ext uri="{FF2B5EF4-FFF2-40B4-BE49-F238E27FC236}">
                <a16:creationId xmlns:a16="http://schemas.microsoft.com/office/drawing/2014/main" id="{37F5994C-F2B4-B133-4EA1-CDA52FF81AC4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066051" y="4882872"/>
            <a:ext cx="3502023" cy="1751012"/>
          </a:xfrm>
          <a:prstGeom prst="rect">
            <a:avLst/>
          </a:prstGeom>
        </p:spPr>
      </p:pic>
      <p:sp>
        <p:nvSpPr>
          <p:cNvPr id="184" name="TextBox 183">
            <a:extLst>
              <a:ext uri="{FF2B5EF4-FFF2-40B4-BE49-F238E27FC236}">
                <a16:creationId xmlns:a16="http://schemas.microsoft.com/office/drawing/2014/main" id="{7233D513-E8C5-F693-55DE-823F1B3837C4}"/>
              </a:ext>
            </a:extLst>
          </p:cNvPr>
          <p:cNvSpPr txBox="1"/>
          <p:nvPr/>
        </p:nvSpPr>
        <p:spPr>
          <a:xfrm>
            <a:off x="4701764" y="4277839"/>
            <a:ext cx="56371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Weighted Combination fo HBB, Specular, and Horizontal </a:t>
            </a:r>
          </a:p>
        </p:txBody>
      </p:sp>
    </p:spTree>
    <p:extLst>
      <p:ext uri="{BB962C8B-B14F-4D97-AF65-F5344CB8AC3E}">
        <p14:creationId xmlns:p14="http://schemas.microsoft.com/office/powerpoint/2010/main" val="1734030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18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5000" fill="hold"/>
                                        <p:tgtEl>
                                          <p:spTgt spid="18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repeatCount="indefinite" fill="remove" display="0">
                  <p:stCondLst>
                    <p:cond delay="indefinite"/>
                  </p:stCondLst>
                </p:cTn>
                <p:tgtEl>
                  <p:spTgt spid="181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18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video>
              <p:cMediaNode vol="80000">
                <p:cTn id="16" repeatCount="indefinite" fill="remove" display="0">
                  <p:stCondLst>
                    <p:cond delay="indefinite"/>
                  </p:stCondLst>
                </p:cTn>
                <p:tgtEl>
                  <p:spTgt spid="182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18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dad5127776_0_728"/>
          <p:cNvSpPr txBox="1">
            <a:spLocks noGrp="1"/>
          </p:cNvSpPr>
          <p:nvPr>
            <p:ph type="sldNum" idx="12"/>
          </p:nvPr>
        </p:nvSpPr>
        <p:spPr>
          <a:xfrm>
            <a:off x="8780524" y="6571475"/>
            <a:ext cx="363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45" name="Google Shape;245;g3dad5127776_0_728"/>
          <p:cNvSpPr txBox="1"/>
          <p:nvPr/>
        </p:nvSpPr>
        <p:spPr>
          <a:xfrm>
            <a:off x="410000" y="1413628"/>
            <a:ext cx="8398500" cy="50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algn="l" rtl="0">
              <a:spcBef>
                <a:spcPts val="0"/>
              </a:spcBef>
              <a:spcAft>
                <a:spcPts val="0"/>
              </a:spcAft>
              <a:buSzPts val="1800"/>
            </a:pPr>
            <a:endParaRPr sz="1800" b="1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800" b="1"/>
              <a:t>Fourier Fransform Encoding of Geometric Infarct Shapes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sz="1800" b="1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800" b="1"/>
              <a:t>MLDO pipeline for worst geometry prediction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sz="1800" b="1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800" b="1"/>
              <a:t>Completion of handoff materials</a:t>
            </a:r>
          </a:p>
          <a:p>
            <a:pPr lvl="2"/>
            <a:r>
              <a:rPr lang="en-US" sz="1800" b="1"/>
              <a:t>	- Claude MCP for Monodomain, Bidomain, and LBM</a:t>
            </a:r>
          </a:p>
          <a:p>
            <a:pPr lvl="2"/>
            <a:r>
              <a:rPr lang="en-US" sz="1800" b="1"/>
              <a:t>	- Computational Cardiac-electrophysiology Textbook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sz="1800" b="1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</p:txBody>
      </p:sp>
      <p:sp>
        <p:nvSpPr>
          <p:cNvPr id="246" name="Google Shape;246;g3dad5127776_0_728"/>
          <p:cNvSpPr txBox="1"/>
          <p:nvPr/>
        </p:nvSpPr>
        <p:spPr>
          <a:xfrm>
            <a:off x="260900" y="136650"/>
            <a:ext cx="8696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chemeClr val="lt1"/>
                </a:solidFill>
              </a:rPr>
              <a:t>Future Goals</a:t>
            </a:r>
            <a:endParaRPr sz="3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9456" y="146304"/>
            <a:ext cx="8695944" cy="61264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Boundary Rules Set the Crescent</a:t>
            </a:r>
          </a:p>
        </p:txBody>
      </p:sp>
      <p:pic>
        <p:nvPicPr>
          <p:cNvPr id="3" name="Picture 2" descr="bc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1005840"/>
            <a:ext cx="8503920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852160"/>
            <a:ext cx="8412480" cy="841248"/>
          </a:xfrm>
          <a:prstGeom prst="rect">
            <a:avLst/>
          </a:prstGeom>
          <a:solidFill>
            <a:srgbClr val="ECECEC"/>
          </a:solidFill>
          <a:ln w="9525">
            <a:solidFill>
              <a:srgbClr val="CCCCCC"/>
            </a:solidFill>
          </a:ln>
        </p:spPr>
        <p:txBody>
          <a:bodyPr wrap="square" anchor="ctr" lIns="137160" rIns="137160">
            <a:spAutoFit/>
          </a:bodyPr>
          <a:lstStyle/>
          <a:p>
            <a:r>
              <a:rPr sz="1200" b="1">
                <a:solidFill>
                  <a:srgbClr val="222222"/>
                </a:solidFill>
                <a:latin typeface="Calibri"/>
              </a:rPr>
              <a:t>Takeaway:  </a:t>
            </a:r>
            <a:r>
              <a:rPr sz="1200">
                <a:solidFill>
                  <a:srgbClr val="222222"/>
                </a:solidFill>
                <a:latin typeface="Calibri"/>
              </a:rPr>
              <a:t>one source–sink imbalance, three wall rules — face-mirror / HBB starves the edge (forward crescent), specular is neutral, and the new horizontal-redirect over-feeds it (inverse crescent = boundary speed-up).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9456" y="146304"/>
            <a:ext cx="8695944" cy="61264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A Visual Cardiac-Modeling Textbook</a:t>
            </a:r>
          </a:p>
        </p:txBody>
      </p:sp>
      <p:pic>
        <p:nvPicPr>
          <p:cNvPr id="3" name="Picture 2" descr="textbook_coll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017" y="1005840"/>
            <a:ext cx="7725965" cy="4709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852160"/>
            <a:ext cx="8412480" cy="841248"/>
          </a:xfrm>
          <a:prstGeom prst="rect">
            <a:avLst/>
          </a:prstGeom>
          <a:solidFill>
            <a:srgbClr val="ECECEC"/>
          </a:solidFill>
          <a:ln w="9525">
            <a:solidFill>
              <a:srgbClr val="CCCCCC"/>
            </a:solidFill>
          </a:ln>
        </p:spPr>
        <p:txBody>
          <a:bodyPr wrap="square" anchor="ctr" lIns="137160" rIns="137160">
            <a:spAutoFit/>
          </a:bodyPr>
          <a:lstStyle/>
          <a:p>
            <a:r>
              <a:rPr sz="1200" b="1">
                <a:solidFill>
                  <a:srgbClr val="222222"/>
                </a:solidFill>
                <a:latin typeface="Calibri"/>
              </a:rPr>
              <a:t>Takeaway:  </a:t>
            </a:r>
            <a:r>
              <a:rPr sz="1200">
                <a:solidFill>
                  <a:srgbClr val="222222"/>
                </a:solidFill>
                <a:latin typeface="Calibri"/>
              </a:rPr>
              <a:t>a self-authored 139-page visual textbook (ion channels → bidomain solvers, equations verified against Engine V5.4) is the conceptual backbone behind the project's engines.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E9C76C1FA9E44A8873DD2DB8FCC519" ma:contentTypeVersion="12" ma:contentTypeDescription="Create a new document." ma:contentTypeScope="" ma:versionID="15770c4f2ae610bd619449ca14b3407a">
  <xsd:schema xmlns:xsd="http://www.w3.org/2001/XMLSchema" xmlns:xs="http://www.w3.org/2001/XMLSchema" xmlns:p="http://schemas.microsoft.com/office/2006/metadata/properties" xmlns:ns2="5ab5ef21-8787-485d-9480-0af83f742048" xmlns:ns3="b8066a38-73ea-4d3d-a3a9-4027cc4938aa" targetNamespace="http://schemas.microsoft.com/office/2006/metadata/properties" ma:root="true" ma:fieldsID="ea30bf41326ca71c5dc38a2c3cfc6927" ns2:_="" ns3:_="">
    <xsd:import namespace="5ab5ef21-8787-485d-9480-0af83f742048"/>
    <xsd:import namespace="b8066a38-73ea-4d3d-a3a9-4027cc4938a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b5ef21-8787-485d-9480-0af83f7420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28e4bf1-390e-4d69-b605-753bdc4c27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066a38-73ea-4d3d-a3a9-4027cc4938a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e52be0f-2776-4c8b-9cb2-f13d6067146b}" ma:internalName="TaxCatchAll" ma:showField="CatchAllData" ma:web="b8066a38-73ea-4d3d-a3a9-4027cc4938a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8066a38-73ea-4d3d-a3a9-4027cc4938aa" xsi:nil="true"/>
    <lcf76f155ced4ddcb4097134ff3c332f xmlns="5ab5ef21-8787-485d-9480-0af83f74204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7CF2D28-92B0-4071-9C0E-CA208A6063C5}">
  <ds:schemaRefs>
    <ds:schemaRef ds:uri="5ab5ef21-8787-485d-9480-0af83f742048"/>
    <ds:schemaRef ds:uri="b8066a38-73ea-4d3d-a3a9-4027cc4938a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D045603-D99D-4FDA-B87A-EBE90A635CA2}">
  <ds:schemaRefs>
    <ds:schemaRef ds:uri="http://schemas.openxmlformats.org/package/2006/metadata/core-properties"/>
    <ds:schemaRef ds:uri="http://purl.org/dc/dcmitype/"/>
    <ds:schemaRef ds:uri="5ab5ef21-8787-485d-9480-0af83f742048"/>
    <ds:schemaRef ds:uri="http://schemas.microsoft.com/office/2006/documentManagement/types"/>
    <ds:schemaRef ds:uri="http://purl.org/dc/elements/1.1/"/>
    <ds:schemaRef ds:uri="b8066a38-73ea-4d3d-a3a9-4027cc4938aa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69B7CF1-2124-48D4-B98D-5190C075E5F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4180</TotalTime>
  <Words>769</Words>
  <Application>Microsoft Macintosh PowerPoint</Application>
  <PresentationFormat>On-screen Show (4:3)</PresentationFormat>
  <Paragraphs>231</Paragraphs>
  <Slides>13</Slides>
  <Notes>13</Notes>
  <HiddenSlides>0</HiddenSlides>
  <MMClips>12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Charley C</cp:lastModifiedBy>
  <cp:revision>16</cp:revision>
  <dcterms:created xsi:type="dcterms:W3CDTF">2026-04-29T02:29:32Z</dcterms:created>
  <dcterms:modified xsi:type="dcterms:W3CDTF">2026-05-17T21:29:53Z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2026-04-28T00:00:00Z</vt:filetime>
  </property>
  <property fmtid="{D5CDD505-2E9C-101B-9397-08002B2CF9AE}" pid="3" name="LastSaved">
    <vt:filetime>2026-04-29T00:00:00Z</vt:filetime>
  </property>
  <property fmtid="{D5CDD505-2E9C-101B-9397-08002B2CF9AE}" pid="4" name="ContentTypeId">
    <vt:lpwstr>0x010100C2E9C76C1FA9E44A8873DD2DB8FCC519</vt:lpwstr>
  </property>
  <property fmtid="{D5CDD505-2E9C-101B-9397-08002B2CF9AE}" pid="5" name="MediaServiceImageTags">
    <vt:lpwstr/>
  </property>
</Properties>
</file>